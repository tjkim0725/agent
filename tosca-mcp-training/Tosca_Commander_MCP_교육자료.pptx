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오프닝" id="{dee6b258-5455-8f26-0a32-570f61b25c47}">
          <p14:sldIdLst>
            <p14:sldId id="256"/>
            <p14:sldId id="257"/>
            <p14:sldId id="258"/>
            <p14:sldId id="259"/>
          </p14:sldIdLst>
        </p14:section>
        <p14:section name="Part 1 Tosca MCP 이해" id="{c396bbf7-e99d-844c-193f-cc334f43eb2c}">
          <p14:sldIdLst>
            <p14:sldId id="260"/>
            <p14:sldId id="261"/>
            <p14:sldId id="262"/>
            <p14:sldId id="263"/>
            <p14:sldId id="264"/>
            <p14:sldId id="265"/>
            <p14:sldId id="266"/>
            <p14:sldId id="267"/>
          </p14:sldIdLst>
        </p14:section>
        <p14:section name="Part 2 실습" id="{3e55aa8b-d2ad-4220-ec42-8934cd655504}">
          <p14:sldIdLst>
            <p14:sldId id="268"/>
            <p14:sldId id="269"/>
            <p14:sldId id="270"/>
            <p14:sldId id="271"/>
            <p14:sldId id="272"/>
            <p14:sldId id="273"/>
            <p14:sldId id="274"/>
            <p14:sldId id="275"/>
            <p14:sldId id="276"/>
            <p14:sldId id="277"/>
          </p14:sldIdLst>
        </p14:section>
        <p14:section name="Part 3 활용과 프롬프트" id="{7f6f3b63-cca5-5c5c-af07-0b3638a1ea16}">
          <p14:sldIdLst>
            <p14:sldId id="278"/>
            <p14:sldId id="279"/>
            <p14:sldId id="280"/>
            <p14:sldId id="281"/>
            <p14:sldId id="282"/>
            <p14:sldId id="283"/>
          </p14:sldIdLst>
        </p14:section>
        <p14:section name="Part 4 프롬프트 템플릿" id="{ff19c9e1-3c58-189e-799c-fc932579a50d}">
          <p14:sldIdLst>
            <p14:sldId id="284"/>
            <p14:sldId id="285"/>
            <p14:sldId id="286"/>
            <p14:sldId id="287"/>
          </p14:sldIdLst>
        </p14:section>
        <p14:section name="마무리" id="{8d423fee-b9fa-72d7-ebd3-3f6e461f2174}">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과정 소개. 오늘은 Tosca Commander에 들어 있는 MCP Server를 써서, AI 어시스턴트에게 말로 요청해 테스트케이스를 만드는 방법을 배운다. 기준 버전은 Commander 2026.1 LTS Patch 1 이상이고, Tricentis가 공개한 commander-mcp 스킬팩 1.2.1 내용을 기준으로 했다. Tosca를 많이 안 써 본 분도 따라올 수 있게 용어부터 짚고 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3시간 20분 중 절반 가까이가 실습이다. 이론은 실습에 필요한 만큼만 다룬다. Part 2 실습은 Lab 0부터 Lab 5까지 순서대로 진행하는데, 앞 Lab에서 만든 결과를 뒤 Lab에서 쓰기 때문에 건너뛰지 않는다. 휴식은 Part 2가 끝난 뒤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돌려주는 답에는 Tosca 용어가 그대로 나온다. 용어를 모르면 결과가 맞는지 판단할 수 없다. 8개만 기억하면 오늘 실습은 충분하다. 특히 ActionMode의 Input과 Verify 차이, ScratchBook과 ExecutionList 차이는 실습에서 계속 나오니 짚어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Tosca 테스트는 화면을 스캔해 모듈을 만들고, 모듈을 조합해 테스트케이스를 만들고, 실행해서 결과를 보는 순서로 만들어진다. MCP로 AI가 도와줄 수 있는 구간은 2번부터 5번까지다. 1번 화면 스캔은 XScan 화면에서 사람이 해야 한다. 그래서 실습용 모듈은 미리 준비해 두었다.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1은 25분. MCP 자체를 깊게 파지는 않는다. 오늘 실습을 이해하는 데 필요한 정도, 그리고 AI에게 맡기면 안 되는 일이 무엇인지까지가 목표다.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MCP는 Model Context Protocol의 약자다. AI 앱이 외부 프로그램의 기능을 도구처럼 불러 쓸 수 있게 해 주는 공개 규격이다. 예전에는 AI 앱과 프로그램을 잇는 연동을 조합마다 따로 만들어야 했다. MCP가 생긴 뒤로는 각자 규격 하나만 맞추면 된다. 그래서 USB-C에 자주 비유한다. 2024년 11월 Anthropic이 공개했고, 2025년 12월 Linux Foundation 산하 Agentic AI Foundation으로 넘어갔다. Tricentis도 이 규격으로 Tosca용 서버를 만들었다.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Host는 우리가 직접 쓰는 AI 앱이다. VS Code, Cursor, Claude Desktop 같은 것. Client는 Host 안에 들어 있어서 MCP 서버와 통신을 맡는다. 사용자가 따로 신경 쓸 일은 없다. Server는 기능을 도구 형태로 내놓는 쪽이고, 오늘은 Tosca MCP Server가 여기에 해당한다. 아래 다섯 단계 흐름을 실습 내내 보게 된다. 특히 2번, AI가 어떤 도구를 쓸지 스스로 고른다는 점이 중요하다. 그래서 프롬프트가 구체적이어야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Tosca MCP Server는 별도 프로그램이 아니라 Commander에 들어 있는 애드인이다. 2026.1 LTS Patch 1부터 들어갔고, Patch 2부터는 기본으로 켜져 있다. Commander가 실행되는 동안 내 PC 안에서만 접속되는 주소로 열린다. 그래서 Commander와 워크스페이스가 열려 있어야만 쓸 수 있다. AI는 워크스페이스를 연 사람의 권한으로 움직이고, 멀티 유저라면 체크아웃 체크인 규칙도 똑같이 지켜야 한다. 한 가지 더. AI 어시스턴트가 쓰는 모델은 대부분 클라우드에서 돌기 때문에, 요청과 결과 일부가 모델 쪽으로 전달된다. 사내 AI 사용 정책을 확인하고 쓰자.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로그인 테스트케이스 하나를 만든다고 해 보자. 직접 하면 폴더 만들고, 모듈을 끌어다 놓고, 값을 하나씩 넣고, ActionMode를 바꾸고, 실행하고, 고치는 일을 전부 클릭으로 한다. MCP를 쓰면 사람이 하는 일은 요청하고, 계획을 확인하고, 결과를 검토하는 세 가지로 줄어든다. 단, 검토를 건너뛰면 안 된다. AI가 고른 모듈이나 값이 틀릴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Tosca MCP Server가 내놓는 도구는 스킬팩 1.2.1 기준 32개다. 외울 필요는 없다. AI가 알아서 고른다. 다만 어떤 묶음이 있는지 알면 무엇을 시킬 수 있는지 감이 온다. 실습에서 주로 쓰는 것은 조회, 작성, 실행 묶음이다. 실제 목록은 Commander 패치에 따라 조금 다를 수 있으니, Lab 0에서 AI에게 도구 목록을 직접 물어본다.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할 수 있는 것만큼 중요한 게 맡기면 안 되는 것이다. 화면 스캔은 AI가 못 한다. 기존 모듈만 쓴다. 비밀번호 같은 민감 정보는 사람이 넣는다. Data Integrity 연결을 AI가 만들면 Allow AI queries 옵션이 꺼진 채로 만들어지고, 켜는 건 사람이 Connection Manager에서 한다. 삭제는 되돌릴 수 없으니 목록 확인 후 따로 승인한다. 실패가 진짜 결함인지 판단하는 것도 사람 몫이다. 테스트를 고쳐서 결함을 덮으면 안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전에 이 네 가지가 준비돼 있어야 한다. Commander는 2026.1 LTS Patch 1 이상이어야 하고, Patch 1이라면 MCP Server 애드인을 직접 켜야 한다. AI 클라이언트는 Tricentis가 테스트했다고 밝힌 네 가지 중 하나를 쓴다. 설정은 서버 주소 한 줄이 전부다. 오른쪽은 VS Code 예시이고, 나머지 클라이언트 설정은 워크북 2장에 있다. 스킬팩은 필수는 아니지만 Tricentis도 함께 쓰기를 권한다. 설치하면 AI가 체크아웃, 저장 같은 규칙을 알아서 지킨다.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실습. 워크북 3장을 펴게 한다. 각 Lab마다 입력할 프롬프트가 워크북에 그대로 있으니 복사해서 쓰면 된다. [내 이름] 같은 대괄호 부분만 바꾼다. 막히면 Lab 끝의 '막히면' 칸부터 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대상은 Tricentis가 공개한 연습용 쇼핑몰 Demo Web Shop이다. 시나리오는 로그인하고, 계정 이메일이 맞게 보이는지 검증하고, 로그아웃하는 것. 모듈은 미리 XScan으로 스캔해서 워크스페이스에 넣어 두었다. MCP로는 모듈을 만들 수 없기 때문이다. 실습 계정은 따로 나눠 준다. 사내 앱으로 바꿔도 흐름은 똑같다.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되돌리기 쉬운 작업부터 한다. Lab 0과 Lab 1은 조회만 하므로 아무것도 바뀌지 않는다. Lab 2와 Lab 3에서 테스트케이스를 만들고, Lab 4에서 값을 바꿔 가며 실행한다. Lab 5에서 저장한다. 시간은 대략이고, 빨리 끝난 사람은 워크북의 추가 과제를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Commander를 켜고 실습 워크스페이스를 연다. 그다음 AI 클라이언트에서 tosca-commander 서버가 켜져 있는지 본다. 첫 번째 프롬프트로 도구 목록을 받아 보고, 두 번째로 워크스페이스 정보를 받는다. 오른쪽은 화면 예시다. 응답 위에 get_workspace_info 같은 도구 이름이 보이면 MCP로 실제 Commander를 읽은 것이다. 모드가 single인지 multi인지 기록해 둔다. Lab 5에서 저장 방법이 달라진다.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Lab은 조회만 한다. 첫 번째 프롬프트로 TestCases 구조를 보고, 두 번째로 실습 모듈과 속성을 확인한다. 결과에 긴 ID가 나와도 신경 쓰지 않는다. 사람은 경로로 이야기하면 된다. Login 모듈에 Email, Password, Log in이 있는지 꼭 확인한다. Lab 3에서 이 속성들을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글로 된 수동 테스트 절차를 그대로 붙여 넣어 Tosca 수동 테스트케이스로 만든다. 프롬프트 마지막 줄이 중요하다. '만들기 전에 순서를 먼저 보여줘.' AI가 계획을 보여주면 읽어 보고, 맞으면 2-2로 승인한다. 결과는 Commander에서 직접 열어 확인한다. 스텝 3개에 지시와 기대 결과가 모두 들어갔는지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자동화 테스트케이스는 처음부터 만들게 하지 않는다. 먼저 계획만 받는다. 프롬프트에 모듈을 찾을 범위를 정해 주고, 새로 스캔하지 말라고 적는다. 오른쪽처럼 스텝마다 모듈, 속성, 값, ActionMode가 나온 표를 받으면 하나씩 확인한다. 4번 Account 스텝이 Verify인지, 못 찾은 모듈이 없는지가 핵심이다.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계획이 맞으면 3-2로 승인한다. AI가 만든 뒤에는 스텝 구조를 다시 읽어 달라고 해서 계획과 같은지 본다. 그리고 반드시 Commander에서 직접 열어 본다. 만약 모듈을 못 찾았다는 답이 오면, 그 화면은 사람이 XScan으로 스캔한 다음 같은 프롬프트로 다시 요청하면 된다. 비밀번호는 실습이라 그대로 넣지만, 실무에서는 사내 규칙대로 관리한다.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만든 테스트케이스를 ScratchBook에서 검증 실행한다. 브라우저가 열리면 끝날 때까지 손을 떼고 기다린다. 한 번 통과하면, 일부러 Verify 값을 틀리게 바꿔서 실패를 만든다. 그리고 AI에게 원인만 설명하라고 한다. 고치라고 바로 시키지 않는 게 포인트다. 원인이 기대값 불일치, 즉 테스트 데이터 문제라는 설명을 확인한 뒤 원래 값으로 되돌리고 다시 돌린다.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오늘 만든 것을 정리하고 저장한다. 싱글 유저는 저장으로 끝이다. 멀티 유저라면 저장 후 체크인까지 해야 다른 사람에게 보인다. 체크인 전에는 바뀐 객체 목록을 먼저 보는 습관을 들인다. 오른쪽은 실습에서 자주 막히는 지점이다. 전체 목록은 워크북 부록 B에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실습에서 손으로 해 봤으니, 이제 실제 업무에 어디에 쓸지와 프롬프트를 어떻게 써야 원하는 결과가 나오는지 정리한다.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Commander MCP를 쓰는 팀에서 자주 나오는 쓰임새를 여섯 가지로 묶었다. 각 카드 아래에는 사람이 꼭 확인해야 할 것과, 바로 쓸 수 있는 템플릿 번호를 적어 두었다. 오늘 실습은 1번과 2번이었다. 4번 실패 원인 분석은 매일 아침 야간 실행 결과를 볼 때 특히 쓸모가 크다. 6번은 라이선스와 권한 설정이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AI는 프롬프트를 읽고 도구에 넣을 값을 뽑아낸다. 경로를 적으면 create_test_cases의 path가 되고, 모듈 범위를 적으면 list_assets의 검색 범위가 된다. 반대로 프롬프트에 없는 정보는 AI가 추측하거나 다시 묻는다. 추측이 맞으면 다행이고, 틀리면 엉뚱한 폴더에 테스트케이스가 생긴다. 그래서 구체적으로 써야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Tricentis는 MCP 프롬프트를 쓸 때 구체적으로, 맥락을 주고, 단계를 나누라고 권한다. 이걸 실무에서 바로 쓰기 좋게 대상, 작업, 조건, 확인 네 가지로 정리했다. 대상은 어디서, 작업은 무엇을, 조건은 어떻게, 확인은 결과를 어떻게 받을지다. 아래 예시처럼 네 가지가 다 들어가면 AI가 추측할 여지가 거의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실제로 자주 보는 요청이다. 짧고 편하지만 AI가 추측해야 할 게 많다. 오른쪽은 같은 의도를 네 요소로 고쳐 쓴 것이다. 두 번째와 세 번째 예시는 특히 위험한 경우다. 분석과 수정을 한 번에 시키면 결함을 테스트 수정으로 덮을 수 있고, 정리해 달라는 말은 삭제로 이어질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일곱 가지 중 하나만 고르라면 세 번째, 바꾸는 일은 계획부터다. 계획을 보면 AI가 무엇을 오해했는지 실행 전에 알 수 있다. 나머지는 계획을 더 정확하게 만들기 위한 습관이다. 공통 머리말 템플릿 T00에 이 습관들을 규칙으로 넣어 두었다. 대화 시작할 때 한 번 붙여 넣으면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파트. 지금 바로 쓸 수 있는 템플릿을 소개한다. 전체 문구는 워크북 5장에 있으니 슬라이드에서는 구성과 쓰는 법만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Tricentis가 공개한 commander-mcp 스킬팩 1.2.1에는 AI가 따라 하는 작업 순서, 즉 워크플로 템플릿 18종이 들어 있다. 이건 AI용이다. 우리는 이 18종에 하나씩 대응하는 사람용 프롬프트 템플릿을 만들었다. 번호와 순서가 공식 워크플로와 같아서, 스킬팩을 설치한 상태라면 AI가 해당 워크플로를 그대로 따른다. 여섯 묶음 중 실행·분석이 7종으로 가장 많다.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템플릿마다 같은 구성이다. 언제 쓰는지, 프롬프트 본문, 작성 예시, AI가 주로 쓰는 도구, 확인할 점. 본문의 대괄호 부분만 바꿔 쓰면 된다. T06은 Lab 3에서 쓴 프롬프트를 일반화한 것이다. 대응하는 공식 워크플로는 author-automated-test-case다. 확인할 점은 꼭 읽게 한다. 템플릿을 써도 사람이 봐야 할 지점은 남는다.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쓸 때는 이 순서를 따른다. 대화를 시작하면 T00 머리말을 먼저 붙여 넣는다. 하려는 일에 맞는 템플릿을 고르고, 대괄호를 채운다. AI가 계획을 보여주면 확인하고 승인한다. 결과를 검토하고 저장한다. 그리고 써 보니 잘 된 프롬프트는 팀 템플릿에 추가해서 같이 쓴다. 템플릿은 계속 고쳐 가는 것이다.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내용을 세 줄로 정리한다. 다음 단계로 사내 앱에 바로 적용해 보길 권한다. 모듈이 준비되지 않은 앱은 MCP로 할 수 있는 게 거의 없으니, 모듈 준비가 첫 번째다. 질문 받는다.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698480" cy="16459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6949440" cy="64008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4" name="Text 0"/>
          <p:cNvSpPr/>
          <p:nvPr>
            <p:ph idx="102" type="body" hasCustomPrompt="1"/>
          </p:nvPr>
        </p:nvSpPr>
        <p:spPr>
          <a:xfrm>
            <a:off x="731520" y="5715000"/>
            <a:ext cx="10698480" cy="457200"/>
          </a:xfrm>
          <a:prstGeom prst="rect">
            <a:avLst/>
          </a:prstGeom>
          <a:noFill/>
          <a:ln/>
        </p:spPr>
        <p:txBody>
          <a:bodyPr wrap="square" rtlCol="0"/>
          <a:lstStyle>
            <a:lvl1pPr algn="l" indent="0" marL="0">
              <a:buNone/>
              <a:defRPr lang="en-US" sz="1200" dirty="0">
                <a:solidFill>
                  <a:schemeClr val="bg2"/>
                </a:solidFill>
              </a:defRPr>
            </a:lvl1pPr>
          </a:lstStyle>
          <a:p>
            <a:pPr algn="l"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3657600" cy="1280160"/>
          </a:xfrm>
          <a:prstGeom prst="rect">
            <a:avLst/>
          </a:prstGeom>
          <a:noFill/>
          <a:ln/>
        </p:spPr>
        <p:txBody>
          <a:bodyPr wrap="square" rtlCol="0"/>
          <a:lstStyle>
            <a:lvl1pPr algn="l" indent="0" marL="0">
              <a:buNone/>
              <a:defRPr lang="en-US" sz="7200" b="1" dirty="0">
                <a:solidFill>
                  <a:schemeClr val="accent2"/>
                </a:solidFill>
              </a:defRPr>
            </a:lvl1pPr>
          </a:lstStyle>
          <a:p>
            <a:pPr algn="l" indent="0" marL="0">
              <a:buNone/>
            </a:pPr>
            <a:endParaRPr lang="en-US" sz="7200" dirty="0"/>
          </a:p>
        </p:txBody>
      </p:sp>
      <p:sp>
        <p:nvSpPr>
          <p:cNvPr id="3" name="Text 0"/>
          <p:cNvSpPr/>
          <p:nvPr>
            <p:ph idx="101" type="title" hasCustomPrompt="1"/>
          </p:nvPr>
        </p:nvSpPr>
        <p:spPr>
          <a:xfrm>
            <a:off x="731520" y="2971800"/>
            <a:ext cx="1051560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0"/>
          <p:cNvSpPr/>
          <p:nvPr>
            <p:ph idx="102" type="body" hasCustomPrompt="1"/>
          </p:nvPr>
        </p:nvSpPr>
        <p:spPr>
          <a:xfrm>
            <a:off x="731520" y="3977640"/>
            <a:ext cx="10515600" cy="7315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Tosca Commander MCP 입문</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4.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4.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4.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698480" cy="1645920"/>
          </a:xfrm>
          <a:prstGeom prst="rect">
            <a:avLst/>
          </a:prstGeom>
          <a:noFill/>
          <a:ln/>
        </p:spPr>
        <p:txBody>
          <a:bodyPr wrap="square" lIns="0" tIns="0" rIns="0" bIns="0" rtlCol="0" anchor="b"/>
          <a:lstStyle/>
          <a:p>
            <a:pPr algn="l" indent="0" marL="0">
              <a:buNone/>
            </a:pPr>
            <a:r>
              <a:rPr lang="en-US" sz="4000" b="1" dirty="0">
                <a:solidFill>
                  <a:schemeClr val="bg1"/>
                </a:solidFill>
              </a:rPr>
              <a:t>Tosca Commander MCP 입문</a:t>
            </a:r>
            <a:endParaRPr lang="en-US" sz="4000" dirty="0"/>
          </a:p>
        </p:txBody>
      </p:sp>
      <p:sp>
        <p:nvSpPr>
          <p:cNvPr id="3" name="Text 0"/>
          <p:cNvSpPr/>
          <p:nvPr>
            <p:ph idx="101" type="body" hasCustomPrompt="1"/>
          </p:nvPr>
        </p:nvSpPr>
        <p:spPr>
          <a:xfrm>
            <a:off x="731520" y="3657600"/>
            <a:ext cx="6949440" cy="640080"/>
          </a:xfrm>
          <a:prstGeom prst="rect">
            <a:avLst/>
          </a:prstGeom>
          <a:noFill/>
          <a:ln/>
        </p:spPr>
        <p:txBody>
          <a:bodyPr wrap="square" lIns="0" tIns="0" rIns="0" bIns="0" rtlCol="0" anchor="t"/>
          <a:lstStyle/>
          <a:p>
            <a:pPr algn="l" indent="0" marL="0">
              <a:buNone/>
            </a:pPr>
            <a:r>
              <a:rPr lang="en-US" sz="2200" dirty="0">
                <a:solidFill>
                  <a:schemeClr val="bg2"/>
                </a:solidFill>
              </a:rPr>
              <a:t>AI 어시스턴트로 테스트케이스 만들기</a:t>
            </a:r>
            <a:endParaRPr lang="en-US" sz="2200" dirty="0"/>
          </a:p>
        </p:txBody>
      </p:sp>
      <p:sp>
        <p:nvSpPr>
          <p:cNvPr id="4" name="Text 0"/>
          <p:cNvSpPr/>
          <p:nvPr>
            <p:ph idx="102" type="body" hasCustomPrompt="1"/>
          </p:nvPr>
        </p:nvSpPr>
        <p:spPr>
          <a:xfrm>
            <a:off x="731520" y="5715000"/>
            <a:ext cx="10698480" cy="457200"/>
          </a:xfrm>
          <a:prstGeom prst="rect">
            <a:avLst/>
          </a:prstGeom>
          <a:noFill/>
          <a:ln/>
        </p:spPr>
        <p:txBody>
          <a:bodyPr wrap="square" lIns="0" tIns="0" rIns="0" bIns="0" rtlCol="0" anchor="ctr"/>
          <a:lstStyle/>
          <a:p>
            <a:pPr algn="l" indent="0" marL="0">
              <a:buNone/>
            </a:pPr>
            <a:r>
              <a:rPr lang="en-US" sz="1200" dirty="0">
                <a:solidFill>
                  <a:schemeClr val="bg2"/>
                </a:solidFill>
              </a:rPr>
              <a:t>Tosca Commander 2026.1 LTS Patch 1 이상 · commander-mcp 스킬팩 1.2.1 기준   |   3시간 20분 (휴식 10분 포함)</a:t>
            </a:r>
            <a:endParaRPr lang="en-US" sz="1200" dirty="0"/>
          </a:p>
        </p:txBody>
      </p:sp>
      <p:sp>
        <p:nvSpPr>
          <p:cNvPr id="5" name="line_1"/>
          <p:cNvSpPr/>
          <p:nvPr/>
        </p:nvSpPr>
        <p:spPr>
          <a:xfrm>
            <a:off x="8755380" y="4229100"/>
            <a:ext cx="2743200" cy="0"/>
          </a:xfrm>
          <a:prstGeom prst="line">
            <a:avLst/>
          </a:prstGeom>
          <a:noFill/>
          <a:ln w="25400">
            <a:solidFill>
              <a:schemeClr val="accent3"/>
            </a:solidFill>
            <a:prstDash val="solid"/>
          </a:ln>
        </p:spPr>
      </p:sp>
      <p:sp>
        <p:nvSpPr>
          <p:cNvPr id="6" name="titlecircle_2"/>
          <p:cNvSpPr/>
          <p:nvPr/>
        </p:nvSpPr>
        <p:spPr>
          <a:xfrm>
            <a:off x="8183880" y="3657600"/>
            <a:ext cx="1143000" cy="1143000"/>
          </a:xfrm>
          <a:prstGeom prst="ellipse">
            <a:avLst/>
          </a:prstGeom>
          <a:solidFill>
            <a:schemeClr val="bg1"/>
          </a:solidFill>
          <a:ln/>
        </p:spPr>
      </p:sp>
      <p:pic>
        <p:nvPicPr>
          <p:cNvPr id="7" name="icon_3" descr="preencoded.png">    </p:cNvPr>
          <p:cNvPicPr>
            <a:picLocks noChangeAspect="1"/>
          </p:cNvPicPr>
          <p:nvPr/>
        </p:nvPicPr>
        <p:blipFill>
          <a:blip r:embed="rId1"/>
          <a:stretch>
            <a:fillRect/>
          </a:stretch>
        </p:blipFill>
        <p:spPr>
          <a:xfrm>
            <a:off x="8469630" y="3943350"/>
            <a:ext cx="571500" cy="571500"/>
          </a:xfrm>
          <a:prstGeom prst="rect">
            <a:avLst/>
          </a:prstGeom>
        </p:spPr>
      </p:pic>
      <p:sp>
        <p:nvSpPr>
          <p:cNvPr id="8" name="text_4"/>
          <p:cNvSpPr txBox="1"/>
          <p:nvPr/>
        </p:nvSpPr>
        <p:spPr>
          <a:xfrm>
            <a:off x="7909560" y="4910328"/>
            <a:ext cx="1691640" cy="320040"/>
          </a:xfrm>
          <a:prstGeom prst="rect">
            <a:avLst/>
          </a:prstGeom>
          <a:noFill/>
          <a:ln/>
        </p:spPr>
        <p:txBody>
          <a:bodyPr wrap="square" lIns="0" tIns="0" rIns="0" bIns="0" rtlCol="0" anchor="t"/>
          <a:lstStyle/>
          <a:p>
            <a:pPr algn="ctr" indent="0" marL="0">
              <a:buNone/>
            </a:pPr>
            <a:r>
              <a:rPr lang="en-US" sz="1200" dirty="0">
                <a:solidFill>
                  <a:schemeClr val="bg2"/>
                </a:solidFill>
              </a:rPr>
              <a:t>AI 어시스턴트</a:t>
            </a:r>
            <a:endParaRPr lang="en-US" sz="1200" dirty="0"/>
          </a:p>
        </p:txBody>
      </p:sp>
      <p:sp>
        <p:nvSpPr>
          <p:cNvPr id="9" name="titlecircle_5"/>
          <p:cNvSpPr/>
          <p:nvPr/>
        </p:nvSpPr>
        <p:spPr>
          <a:xfrm>
            <a:off x="9692640" y="3794760"/>
            <a:ext cx="868680" cy="868680"/>
          </a:xfrm>
          <a:prstGeom prst="ellipse">
            <a:avLst/>
          </a:prstGeom>
          <a:solidFill>
            <a:schemeClr val="accent2"/>
          </a:solidFill>
          <a:ln/>
        </p:spPr>
      </p:sp>
      <p:pic>
        <p:nvPicPr>
          <p:cNvPr id="10" name="icon_6" descr="preencoded.png">    </p:cNvPr>
          <p:cNvPicPr>
            <a:picLocks noChangeAspect="1"/>
          </p:cNvPicPr>
          <p:nvPr/>
        </p:nvPicPr>
        <p:blipFill>
          <a:blip r:embed="rId2"/>
          <a:stretch>
            <a:fillRect/>
          </a:stretch>
        </p:blipFill>
        <p:spPr>
          <a:xfrm>
            <a:off x="9909810" y="4011930"/>
            <a:ext cx="434340" cy="434340"/>
          </a:xfrm>
          <a:prstGeom prst="rect">
            <a:avLst/>
          </a:prstGeom>
        </p:spPr>
      </p:pic>
      <p:sp>
        <p:nvSpPr>
          <p:cNvPr id="11" name="text_7"/>
          <p:cNvSpPr txBox="1"/>
          <p:nvPr/>
        </p:nvSpPr>
        <p:spPr>
          <a:xfrm>
            <a:off x="9281160" y="4910328"/>
            <a:ext cx="1691640" cy="320040"/>
          </a:xfrm>
          <a:prstGeom prst="rect">
            <a:avLst/>
          </a:prstGeom>
          <a:noFill/>
          <a:ln/>
        </p:spPr>
        <p:txBody>
          <a:bodyPr wrap="square" lIns="0" tIns="0" rIns="0" bIns="0" rtlCol="0" anchor="t"/>
          <a:lstStyle/>
          <a:p>
            <a:pPr algn="ctr" indent="0" marL="0">
              <a:buNone/>
            </a:pPr>
            <a:r>
              <a:rPr lang="en-US" sz="1200" dirty="0">
                <a:solidFill>
                  <a:schemeClr val="bg2"/>
                </a:solidFill>
              </a:rPr>
              <a:t>MCP</a:t>
            </a:r>
            <a:endParaRPr lang="en-US" sz="1200" dirty="0"/>
          </a:p>
        </p:txBody>
      </p:sp>
      <p:sp>
        <p:nvSpPr>
          <p:cNvPr id="12" name="titlecircle_8"/>
          <p:cNvSpPr/>
          <p:nvPr/>
        </p:nvSpPr>
        <p:spPr>
          <a:xfrm>
            <a:off x="10927080" y="3657600"/>
            <a:ext cx="1143000" cy="1143000"/>
          </a:xfrm>
          <a:prstGeom prst="ellipse">
            <a:avLst/>
          </a:prstGeom>
          <a:solidFill>
            <a:schemeClr val="bg1"/>
          </a:solidFill>
          <a:ln/>
        </p:spPr>
      </p:sp>
      <p:pic>
        <p:nvPicPr>
          <p:cNvPr id="13" name="icon_9" descr="preencoded.png">    </p:cNvPr>
          <p:cNvPicPr>
            <a:picLocks noChangeAspect="1"/>
          </p:cNvPicPr>
          <p:nvPr/>
        </p:nvPicPr>
        <p:blipFill>
          <a:blip r:embed="rId3"/>
          <a:stretch>
            <a:fillRect/>
          </a:stretch>
        </p:blipFill>
        <p:spPr>
          <a:xfrm>
            <a:off x="11212830" y="3943350"/>
            <a:ext cx="571500" cy="571500"/>
          </a:xfrm>
          <a:prstGeom prst="rect">
            <a:avLst/>
          </a:prstGeom>
        </p:spPr>
      </p:pic>
      <p:sp>
        <p:nvSpPr>
          <p:cNvPr id="14" name="text_10"/>
          <p:cNvSpPr txBox="1"/>
          <p:nvPr/>
        </p:nvSpPr>
        <p:spPr>
          <a:xfrm>
            <a:off x="10652760" y="4910328"/>
            <a:ext cx="1691640" cy="320040"/>
          </a:xfrm>
          <a:prstGeom prst="rect">
            <a:avLst/>
          </a:prstGeom>
          <a:noFill/>
          <a:ln/>
        </p:spPr>
        <p:txBody>
          <a:bodyPr wrap="square" lIns="0" tIns="0" rIns="0" bIns="0" rtlCol="0" anchor="t"/>
          <a:lstStyle/>
          <a:p>
            <a:pPr algn="ctr" indent="0" marL="0">
              <a:buNone/>
            </a:pPr>
            <a:r>
              <a:rPr lang="en-US" sz="1200" dirty="0">
                <a:solidFill>
                  <a:schemeClr val="bg2"/>
                </a:solidFill>
              </a:rPr>
              <a:t>Commander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오늘 진행 순서</a:t>
            </a:r>
            <a:endParaRPr lang="en-US" sz="3200" dirty="0"/>
          </a:p>
        </p:txBody>
      </p:sp>
      <p:sp>
        <p:nvSpPr>
          <p:cNvPr id="4" name="card_11"/>
          <p:cNvSpPr/>
          <p:nvPr/>
        </p:nvSpPr>
        <p:spPr>
          <a:xfrm>
            <a:off x="548640" y="1371600"/>
            <a:ext cx="3291840" cy="4754880"/>
          </a:xfrm>
          <a:prstGeom prst="roundRect">
            <a:avLst>
              <a:gd name="adj" fmla="val 2778"/>
            </a:avLst>
          </a:prstGeom>
          <a:solidFill>
            <a:schemeClr val="bg2"/>
          </a:solidFill>
          <a:ln/>
        </p:spPr>
      </p:sp>
      <p:sp>
        <p:nvSpPr>
          <p:cNvPr id="5" name="text_12"/>
          <p:cNvSpPr txBox="1"/>
          <p:nvPr/>
        </p:nvSpPr>
        <p:spPr>
          <a:xfrm>
            <a:off x="868680" y="1691640"/>
            <a:ext cx="2743200" cy="365760"/>
          </a:xfrm>
          <a:prstGeom prst="rect">
            <a:avLst/>
          </a:prstGeom>
          <a:noFill/>
          <a:ln/>
        </p:spPr>
        <p:txBody>
          <a:bodyPr wrap="square" lIns="0" tIns="0" rIns="0" bIns="0" rtlCol="0" anchor="t"/>
          <a:lstStyle/>
          <a:p>
            <a:pPr indent="0" marL="0">
              <a:buNone/>
            </a:pPr>
            <a:r>
              <a:rPr lang="en-US" sz="1400" dirty="0">
                <a:solidFill>
                  <a:schemeClr val="accent6"/>
                </a:solidFill>
              </a:rPr>
              <a:t>총 시간</a:t>
            </a:r>
            <a:endParaRPr lang="en-US" sz="1400" dirty="0"/>
          </a:p>
        </p:txBody>
      </p:sp>
      <p:sp>
        <p:nvSpPr>
          <p:cNvPr id="6" name="text_13"/>
          <p:cNvSpPr txBox="1"/>
          <p:nvPr/>
        </p:nvSpPr>
        <p:spPr>
          <a:xfrm>
            <a:off x="868680" y="2057400"/>
            <a:ext cx="2743200" cy="731520"/>
          </a:xfrm>
          <a:prstGeom prst="rect">
            <a:avLst/>
          </a:prstGeom>
          <a:noFill/>
          <a:ln/>
        </p:spPr>
        <p:txBody>
          <a:bodyPr wrap="square" lIns="0" tIns="0" rIns="0" bIns="0" rtlCol="0" anchor="t"/>
          <a:lstStyle/>
          <a:p>
            <a:pPr indent="0" marL="0">
              <a:buNone/>
            </a:pPr>
            <a:r>
              <a:rPr lang="en-US" sz="3600" b="1" dirty="0">
                <a:solidFill>
                  <a:schemeClr val="tx2"/>
                </a:solidFill>
              </a:rPr>
              <a:t>3시간 20분</a:t>
            </a:r>
            <a:endParaRPr lang="en-US" sz="3600" dirty="0"/>
          </a:p>
        </p:txBody>
      </p:sp>
      <p:sp>
        <p:nvSpPr>
          <p:cNvPr id="7" name="text_14"/>
          <p:cNvSpPr txBox="1"/>
          <p:nvPr/>
        </p:nvSpPr>
        <p:spPr>
          <a:xfrm>
            <a:off x="868680" y="2788920"/>
            <a:ext cx="2743200" cy="365760"/>
          </a:xfrm>
          <a:prstGeom prst="rect">
            <a:avLst/>
          </a:prstGeom>
          <a:noFill/>
          <a:ln/>
        </p:spPr>
        <p:txBody>
          <a:bodyPr wrap="square" lIns="0" tIns="0" rIns="0" bIns="0" rtlCol="0" anchor="t"/>
          <a:lstStyle/>
          <a:p>
            <a:pPr indent="0" marL="0">
              <a:buNone/>
            </a:pPr>
            <a:r>
              <a:rPr lang="en-US" sz="1400" dirty="0">
                <a:solidFill>
                  <a:schemeClr val="accent6"/>
                </a:solidFill>
              </a:rPr>
              <a:t>휴식 10분 포함</a:t>
            </a:r>
            <a:endParaRPr lang="en-US" sz="1400" dirty="0"/>
          </a:p>
        </p:txBody>
      </p:sp>
      <p:sp>
        <p:nvSpPr>
          <p:cNvPr id="8" name="text_15"/>
          <p:cNvSpPr txBox="1"/>
          <p:nvPr/>
        </p:nvSpPr>
        <p:spPr>
          <a:xfrm>
            <a:off x="868680" y="3794760"/>
            <a:ext cx="2743200" cy="365760"/>
          </a:xfrm>
          <a:prstGeom prst="rect">
            <a:avLst/>
          </a:prstGeom>
          <a:noFill/>
          <a:ln/>
        </p:spPr>
        <p:txBody>
          <a:bodyPr wrap="square" lIns="0" tIns="0" rIns="0" bIns="0" rtlCol="0" anchor="t"/>
          <a:lstStyle/>
          <a:p>
            <a:pPr indent="0" marL="0">
              <a:buNone/>
            </a:pPr>
            <a:r>
              <a:rPr lang="en-US" sz="1400" dirty="0">
                <a:solidFill>
                  <a:schemeClr val="accent6"/>
                </a:solidFill>
              </a:rPr>
              <a:t>그중 실습</a:t>
            </a:r>
            <a:endParaRPr lang="en-US" sz="1400" dirty="0"/>
          </a:p>
        </p:txBody>
      </p:sp>
      <p:sp>
        <p:nvSpPr>
          <p:cNvPr id="9" name="text_16"/>
          <p:cNvSpPr txBox="1"/>
          <p:nvPr/>
        </p:nvSpPr>
        <p:spPr>
          <a:xfrm>
            <a:off x="868680" y="4160520"/>
            <a:ext cx="2743200" cy="731520"/>
          </a:xfrm>
          <a:prstGeom prst="rect">
            <a:avLst/>
          </a:prstGeom>
          <a:noFill/>
          <a:ln/>
        </p:spPr>
        <p:txBody>
          <a:bodyPr wrap="square" lIns="0" tIns="0" rIns="0" bIns="0" rtlCol="0" anchor="t"/>
          <a:lstStyle/>
          <a:p>
            <a:pPr indent="0" marL="0">
              <a:buNone/>
            </a:pPr>
            <a:r>
              <a:rPr lang="en-US" sz="3600" b="1" dirty="0">
                <a:solidFill>
                  <a:schemeClr val="tx2"/>
                </a:solidFill>
              </a:rPr>
              <a:t>90분</a:t>
            </a:r>
            <a:endParaRPr lang="en-US" sz="3600" dirty="0"/>
          </a:p>
        </p:txBody>
      </p:sp>
      <p:sp>
        <p:nvSpPr>
          <p:cNvPr id="10" name="text_17"/>
          <p:cNvSpPr txBox="1"/>
          <p:nvPr/>
        </p:nvSpPr>
        <p:spPr>
          <a:xfrm>
            <a:off x="868680" y="4892040"/>
            <a:ext cx="2743200" cy="365760"/>
          </a:xfrm>
          <a:prstGeom prst="rect">
            <a:avLst/>
          </a:prstGeom>
          <a:noFill/>
          <a:ln/>
        </p:spPr>
        <p:txBody>
          <a:bodyPr wrap="square" lIns="0" tIns="0" rIns="0" bIns="0" rtlCol="0" anchor="t"/>
          <a:lstStyle/>
          <a:p>
            <a:pPr indent="0" marL="0">
              <a:buNone/>
            </a:pPr>
            <a:r>
              <a:rPr lang="en-US" sz="1400" dirty="0">
                <a:solidFill>
                  <a:schemeClr val="accent6"/>
                </a:solidFill>
              </a:rPr>
              <a:t>1인 1PC, 개인 워크스페이스</a:t>
            </a:r>
            <a:endParaRPr lang="en-US" sz="1400" dirty="0"/>
          </a:p>
        </p:txBody>
      </p:sp>
      <p:sp>
        <p:nvSpPr>
          <p:cNvPr id="11" name="card_18"/>
          <p:cNvSpPr/>
          <p:nvPr/>
        </p:nvSpPr>
        <p:spPr>
          <a:xfrm>
            <a:off x="4206240" y="1417320"/>
            <a:ext cx="7434072" cy="658368"/>
          </a:xfrm>
          <a:prstGeom prst="roundRect">
            <a:avLst>
              <a:gd name="adj" fmla="val 13889"/>
            </a:avLst>
          </a:prstGeom>
          <a:solidFill>
            <a:schemeClr val="bg1"/>
          </a:solidFill>
          <a:ln w="12700">
            <a:solidFill>
              <a:schemeClr val="bg2"/>
            </a:solidFill>
            <a:prstDash val="solid"/>
          </a:ln>
        </p:spPr>
      </p:sp>
      <p:sp>
        <p:nvSpPr>
          <p:cNvPr id="12" name="badge_19"/>
          <p:cNvSpPr txBox="1"/>
          <p:nvPr/>
        </p:nvSpPr>
        <p:spPr>
          <a:xfrm>
            <a:off x="4389120" y="1517904"/>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00</a:t>
            </a:r>
            <a:endParaRPr lang="en-US" sz="1300" dirty="0"/>
          </a:p>
        </p:txBody>
      </p:sp>
      <p:sp>
        <p:nvSpPr>
          <p:cNvPr id="13" name="text_20"/>
          <p:cNvSpPr txBox="1"/>
          <p:nvPr/>
        </p:nvSpPr>
        <p:spPr>
          <a:xfrm>
            <a:off x="5074920" y="1417320"/>
            <a:ext cx="4754880" cy="658368"/>
          </a:xfrm>
          <a:prstGeom prst="rect">
            <a:avLst/>
          </a:prstGeom>
          <a:noFill/>
          <a:ln/>
        </p:spPr>
        <p:txBody>
          <a:bodyPr wrap="square" lIns="0" tIns="0" rIns="0" bIns="0" rtlCol="0" anchor="ctr"/>
          <a:lstStyle/>
          <a:p>
            <a:pPr indent="0" marL="0">
              <a:buNone/>
            </a:pPr>
            <a:r>
              <a:rPr lang="en-US" sz="1800" dirty="0">
                <a:solidFill>
                  <a:schemeClr val="tx1"/>
                </a:solidFill>
              </a:rPr>
              <a:t>오프닝과 Tosca 용어</a:t>
            </a:r>
            <a:endParaRPr lang="en-US" sz="1800" dirty="0"/>
          </a:p>
        </p:txBody>
      </p:sp>
      <p:sp>
        <p:nvSpPr>
          <p:cNvPr id="14" name="text_21"/>
          <p:cNvSpPr txBox="1"/>
          <p:nvPr/>
        </p:nvSpPr>
        <p:spPr>
          <a:xfrm>
            <a:off x="10241280" y="1417320"/>
            <a:ext cx="1234440" cy="658368"/>
          </a:xfrm>
          <a:prstGeom prst="rect">
            <a:avLst/>
          </a:prstGeom>
          <a:noFill/>
          <a:ln/>
        </p:spPr>
        <p:txBody>
          <a:bodyPr wrap="square" lIns="0" tIns="0" rIns="0" bIns="0" rtlCol="0" anchor="ctr"/>
          <a:lstStyle/>
          <a:p>
            <a:pPr algn="r" indent="0" marL="0">
              <a:buNone/>
            </a:pPr>
            <a:r>
              <a:rPr lang="en-US" sz="1600" dirty="0">
                <a:solidFill>
                  <a:schemeClr val="accent6"/>
                </a:solidFill>
              </a:rPr>
              <a:t>10분</a:t>
            </a:r>
            <a:endParaRPr lang="en-US" sz="1600" dirty="0"/>
          </a:p>
        </p:txBody>
      </p:sp>
      <p:sp>
        <p:nvSpPr>
          <p:cNvPr id="15" name="card_22"/>
          <p:cNvSpPr/>
          <p:nvPr/>
        </p:nvSpPr>
        <p:spPr>
          <a:xfrm>
            <a:off x="4206240" y="2194560"/>
            <a:ext cx="7434072" cy="658368"/>
          </a:xfrm>
          <a:prstGeom prst="roundRect">
            <a:avLst>
              <a:gd name="adj" fmla="val 13889"/>
            </a:avLst>
          </a:prstGeom>
          <a:solidFill>
            <a:schemeClr val="bg1"/>
          </a:solidFill>
          <a:ln w="12700">
            <a:solidFill>
              <a:schemeClr val="bg2"/>
            </a:solidFill>
            <a:prstDash val="solid"/>
          </a:ln>
        </p:spPr>
      </p:sp>
      <p:sp>
        <p:nvSpPr>
          <p:cNvPr id="16" name="badge_23"/>
          <p:cNvSpPr txBox="1"/>
          <p:nvPr/>
        </p:nvSpPr>
        <p:spPr>
          <a:xfrm>
            <a:off x="4389120" y="2295144"/>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17" name="text_24"/>
          <p:cNvSpPr txBox="1"/>
          <p:nvPr/>
        </p:nvSpPr>
        <p:spPr>
          <a:xfrm>
            <a:off x="5074920" y="2194560"/>
            <a:ext cx="4754880" cy="658368"/>
          </a:xfrm>
          <a:prstGeom prst="rect">
            <a:avLst/>
          </a:prstGeom>
          <a:noFill/>
          <a:ln/>
        </p:spPr>
        <p:txBody>
          <a:bodyPr wrap="square" lIns="0" tIns="0" rIns="0" bIns="0" rtlCol="0" anchor="ctr"/>
          <a:lstStyle/>
          <a:p>
            <a:pPr indent="0" marL="0">
              <a:buNone/>
            </a:pPr>
            <a:r>
              <a:rPr lang="en-US" sz="1800" dirty="0">
                <a:solidFill>
                  <a:schemeClr val="tx1"/>
                </a:solidFill>
              </a:rPr>
              <a:t>Tosca MCP 이해</a:t>
            </a:r>
            <a:endParaRPr lang="en-US" sz="1800" dirty="0"/>
          </a:p>
        </p:txBody>
      </p:sp>
      <p:sp>
        <p:nvSpPr>
          <p:cNvPr id="18" name="text_25"/>
          <p:cNvSpPr txBox="1"/>
          <p:nvPr/>
        </p:nvSpPr>
        <p:spPr>
          <a:xfrm>
            <a:off x="10241280" y="2194560"/>
            <a:ext cx="1234440" cy="658368"/>
          </a:xfrm>
          <a:prstGeom prst="rect">
            <a:avLst/>
          </a:prstGeom>
          <a:noFill/>
          <a:ln/>
        </p:spPr>
        <p:txBody>
          <a:bodyPr wrap="square" lIns="0" tIns="0" rIns="0" bIns="0" rtlCol="0" anchor="ctr"/>
          <a:lstStyle/>
          <a:p>
            <a:pPr algn="r" indent="0" marL="0">
              <a:buNone/>
            </a:pPr>
            <a:r>
              <a:rPr lang="en-US" sz="1600" dirty="0">
                <a:solidFill>
                  <a:schemeClr val="accent6"/>
                </a:solidFill>
              </a:rPr>
              <a:t>25분</a:t>
            </a:r>
            <a:endParaRPr lang="en-US" sz="1600" dirty="0"/>
          </a:p>
        </p:txBody>
      </p:sp>
      <p:sp>
        <p:nvSpPr>
          <p:cNvPr id="19" name="card_26"/>
          <p:cNvSpPr/>
          <p:nvPr/>
        </p:nvSpPr>
        <p:spPr>
          <a:xfrm>
            <a:off x="4206240" y="2971800"/>
            <a:ext cx="7434072" cy="658368"/>
          </a:xfrm>
          <a:prstGeom prst="roundRect">
            <a:avLst>
              <a:gd name="adj" fmla="val 13889"/>
            </a:avLst>
          </a:prstGeom>
          <a:solidFill>
            <a:schemeClr val="accent2">
              <a:alpha val="20000"/>
            </a:schemeClr>
          </a:solidFill>
          <a:ln/>
        </p:spPr>
      </p:sp>
      <p:sp>
        <p:nvSpPr>
          <p:cNvPr id="20" name="badge_27"/>
          <p:cNvSpPr txBox="1"/>
          <p:nvPr/>
        </p:nvSpPr>
        <p:spPr>
          <a:xfrm>
            <a:off x="4389120" y="3072384"/>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21" name="text_28"/>
          <p:cNvSpPr txBox="1"/>
          <p:nvPr/>
        </p:nvSpPr>
        <p:spPr>
          <a:xfrm>
            <a:off x="5074920" y="2971800"/>
            <a:ext cx="4754880" cy="658368"/>
          </a:xfrm>
          <a:prstGeom prst="rect">
            <a:avLst/>
          </a:prstGeom>
          <a:noFill/>
          <a:ln/>
        </p:spPr>
        <p:txBody>
          <a:bodyPr wrap="square" lIns="0" tIns="0" rIns="0" bIns="0" rtlCol="0" anchor="ctr"/>
          <a:lstStyle/>
          <a:p>
            <a:pPr indent="0" marL="0">
              <a:buNone/>
            </a:pPr>
            <a:r>
              <a:rPr lang="en-US" sz="1800" b="1" dirty="0">
                <a:solidFill>
                  <a:schemeClr val="tx1"/>
                </a:solidFill>
              </a:rPr>
              <a:t>실습: 테스트케이스 만들기</a:t>
            </a:r>
            <a:endParaRPr lang="en-US" sz="1800" dirty="0"/>
          </a:p>
        </p:txBody>
      </p:sp>
      <p:sp>
        <p:nvSpPr>
          <p:cNvPr id="22" name="chip_29"/>
          <p:cNvSpPr txBox="1"/>
          <p:nvPr/>
        </p:nvSpPr>
        <p:spPr>
          <a:xfrm>
            <a:off x="9281160" y="3154680"/>
            <a:ext cx="777240" cy="292608"/>
          </a:xfrm>
          <a:prstGeom prst="roundRect">
            <a:avLst>
              <a:gd name="adj" fmla="val 18750"/>
            </a:avLst>
          </a:prstGeom>
          <a:solidFill>
            <a:schemeClr val="accent1"/>
          </a:solidFill>
          <a:ln/>
        </p:spPr>
        <p:txBody>
          <a:bodyPr wrap="square" lIns="0" tIns="50800" rIns="50800" bIns="0" rtlCol="0" anchor="ctr"/>
          <a:lstStyle/>
          <a:p>
            <a:pPr algn="ctr" indent="0" marL="0">
              <a:buNone/>
            </a:pPr>
            <a:r>
              <a:rPr lang="en-US" sz="1100" b="1" dirty="0">
                <a:solidFill>
                  <a:schemeClr val="bg1"/>
                </a:solidFill>
              </a:rPr>
              <a:t>실습</a:t>
            </a:r>
            <a:endParaRPr lang="en-US" sz="1100" dirty="0"/>
          </a:p>
        </p:txBody>
      </p:sp>
      <p:sp>
        <p:nvSpPr>
          <p:cNvPr id="23" name="text_30"/>
          <p:cNvSpPr txBox="1"/>
          <p:nvPr/>
        </p:nvSpPr>
        <p:spPr>
          <a:xfrm>
            <a:off x="10241280" y="2971800"/>
            <a:ext cx="1234440" cy="658368"/>
          </a:xfrm>
          <a:prstGeom prst="rect">
            <a:avLst/>
          </a:prstGeom>
          <a:noFill/>
          <a:ln/>
        </p:spPr>
        <p:txBody>
          <a:bodyPr wrap="square" lIns="0" tIns="0" rIns="0" bIns="0" rtlCol="0" anchor="ctr"/>
          <a:lstStyle/>
          <a:p>
            <a:pPr algn="r" indent="0" marL="0">
              <a:buNone/>
            </a:pPr>
            <a:r>
              <a:rPr lang="en-US" sz="1600" dirty="0">
                <a:solidFill>
                  <a:schemeClr val="accent6"/>
                </a:solidFill>
              </a:rPr>
              <a:t>90분</a:t>
            </a:r>
            <a:endParaRPr lang="en-US" sz="1600" dirty="0"/>
          </a:p>
        </p:txBody>
      </p:sp>
      <p:sp>
        <p:nvSpPr>
          <p:cNvPr id="24" name="card_31"/>
          <p:cNvSpPr/>
          <p:nvPr/>
        </p:nvSpPr>
        <p:spPr>
          <a:xfrm>
            <a:off x="4206240" y="3749040"/>
            <a:ext cx="7434072" cy="658368"/>
          </a:xfrm>
          <a:prstGeom prst="roundRect">
            <a:avLst>
              <a:gd name="adj" fmla="val 13889"/>
            </a:avLst>
          </a:prstGeom>
          <a:solidFill>
            <a:schemeClr val="bg1"/>
          </a:solidFill>
          <a:ln w="12700">
            <a:solidFill>
              <a:schemeClr val="bg2"/>
            </a:solidFill>
            <a:prstDash val="solid"/>
          </a:ln>
        </p:spPr>
      </p:sp>
      <p:sp>
        <p:nvSpPr>
          <p:cNvPr id="25" name="badge_32"/>
          <p:cNvSpPr txBox="1"/>
          <p:nvPr/>
        </p:nvSpPr>
        <p:spPr>
          <a:xfrm>
            <a:off x="4389120" y="3849624"/>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26" name="text_33"/>
          <p:cNvSpPr txBox="1"/>
          <p:nvPr/>
        </p:nvSpPr>
        <p:spPr>
          <a:xfrm>
            <a:off x="5074920" y="3749040"/>
            <a:ext cx="4754880" cy="658368"/>
          </a:xfrm>
          <a:prstGeom prst="rect">
            <a:avLst/>
          </a:prstGeom>
          <a:noFill/>
          <a:ln/>
        </p:spPr>
        <p:txBody>
          <a:bodyPr wrap="square" lIns="0" tIns="0" rIns="0" bIns="0" rtlCol="0" anchor="ctr"/>
          <a:lstStyle/>
          <a:p>
            <a:pPr indent="0" marL="0">
              <a:buNone/>
            </a:pPr>
            <a:r>
              <a:rPr lang="en-US" sz="1800" dirty="0">
                <a:solidFill>
                  <a:schemeClr val="tx1"/>
                </a:solidFill>
              </a:rPr>
              <a:t>활용사례와 프롬프트 작성법</a:t>
            </a:r>
            <a:endParaRPr lang="en-US" sz="1800" dirty="0"/>
          </a:p>
        </p:txBody>
      </p:sp>
      <p:sp>
        <p:nvSpPr>
          <p:cNvPr id="27" name="text_34"/>
          <p:cNvSpPr txBox="1"/>
          <p:nvPr/>
        </p:nvSpPr>
        <p:spPr>
          <a:xfrm>
            <a:off x="10241280" y="3749040"/>
            <a:ext cx="1234440" cy="658368"/>
          </a:xfrm>
          <a:prstGeom prst="rect">
            <a:avLst/>
          </a:prstGeom>
          <a:noFill/>
          <a:ln/>
        </p:spPr>
        <p:txBody>
          <a:bodyPr wrap="square" lIns="0" tIns="0" rIns="0" bIns="0" rtlCol="0" anchor="ctr"/>
          <a:lstStyle/>
          <a:p>
            <a:pPr algn="r" indent="0" marL="0">
              <a:buNone/>
            </a:pPr>
            <a:r>
              <a:rPr lang="en-US" sz="1600" dirty="0">
                <a:solidFill>
                  <a:schemeClr val="accent6"/>
                </a:solidFill>
              </a:rPr>
              <a:t>30분</a:t>
            </a:r>
            <a:endParaRPr lang="en-US" sz="1600" dirty="0"/>
          </a:p>
        </p:txBody>
      </p:sp>
      <p:sp>
        <p:nvSpPr>
          <p:cNvPr id="28" name="card_35"/>
          <p:cNvSpPr/>
          <p:nvPr/>
        </p:nvSpPr>
        <p:spPr>
          <a:xfrm>
            <a:off x="4206240" y="4526280"/>
            <a:ext cx="7434072" cy="658368"/>
          </a:xfrm>
          <a:prstGeom prst="roundRect">
            <a:avLst>
              <a:gd name="adj" fmla="val 13889"/>
            </a:avLst>
          </a:prstGeom>
          <a:solidFill>
            <a:schemeClr val="bg1"/>
          </a:solidFill>
          <a:ln w="12700">
            <a:solidFill>
              <a:schemeClr val="bg2"/>
            </a:solidFill>
            <a:prstDash val="solid"/>
          </a:ln>
        </p:spPr>
      </p:sp>
      <p:sp>
        <p:nvSpPr>
          <p:cNvPr id="29" name="badge_36"/>
          <p:cNvSpPr txBox="1"/>
          <p:nvPr/>
        </p:nvSpPr>
        <p:spPr>
          <a:xfrm>
            <a:off x="4389120" y="4626864"/>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30" name="text_37"/>
          <p:cNvSpPr txBox="1"/>
          <p:nvPr/>
        </p:nvSpPr>
        <p:spPr>
          <a:xfrm>
            <a:off x="5074920" y="4526280"/>
            <a:ext cx="4754880" cy="658368"/>
          </a:xfrm>
          <a:prstGeom prst="rect">
            <a:avLst/>
          </a:prstGeom>
          <a:noFill/>
          <a:ln/>
        </p:spPr>
        <p:txBody>
          <a:bodyPr wrap="square" lIns="0" tIns="0" rIns="0" bIns="0" rtlCol="0" anchor="ctr"/>
          <a:lstStyle/>
          <a:p>
            <a:pPr indent="0" marL="0">
              <a:buNone/>
            </a:pPr>
            <a:r>
              <a:rPr lang="en-US" sz="1800" dirty="0">
                <a:solidFill>
                  <a:schemeClr val="tx1"/>
                </a:solidFill>
              </a:rPr>
              <a:t>프롬프트 템플릿</a:t>
            </a:r>
            <a:endParaRPr lang="en-US" sz="1800" dirty="0"/>
          </a:p>
        </p:txBody>
      </p:sp>
      <p:sp>
        <p:nvSpPr>
          <p:cNvPr id="31" name="text_38"/>
          <p:cNvSpPr txBox="1"/>
          <p:nvPr/>
        </p:nvSpPr>
        <p:spPr>
          <a:xfrm>
            <a:off x="10241280" y="4526280"/>
            <a:ext cx="1234440" cy="658368"/>
          </a:xfrm>
          <a:prstGeom prst="rect">
            <a:avLst/>
          </a:prstGeom>
          <a:noFill/>
          <a:ln/>
        </p:spPr>
        <p:txBody>
          <a:bodyPr wrap="square" lIns="0" tIns="0" rIns="0" bIns="0" rtlCol="0" anchor="ctr"/>
          <a:lstStyle/>
          <a:p>
            <a:pPr algn="r" indent="0" marL="0">
              <a:buNone/>
            </a:pPr>
            <a:r>
              <a:rPr lang="en-US" sz="1600" dirty="0">
                <a:solidFill>
                  <a:schemeClr val="accent6"/>
                </a:solidFill>
              </a:rPr>
              <a:t>25분</a:t>
            </a:r>
            <a:endParaRPr lang="en-US" sz="1600" dirty="0"/>
          </a:p>
        </p:txBody>
      </p:sp>
      <p:sp>
        <p:nvSpPr>
          <p:cNvPr id="32" name="card_39"/>
          <p:cNvSpPr/>
          <p:nvPr/>
        </p:nvSpPr>
        <p:spPr>
          <a:xfrm>
            <a:off x="4206240" y="5303520"/>
            <a:ext cx="7434072" cy="658368"/>
          </a:xfrm>
          <a:prstGeom prst="roundRect">
            <a:avLst>
              <a:gd name="adj" fmla="val 13889"/>
            </a:avLst>
          </a:prstGeom>
          <a:solidFill>
            <a:schemeClr val="bg1"/>
          </a:solidFill>
          <a:ln w="12700">
            <a:solidFill>
              <a:schemeClr val="bg2"/>
            </a:solidFill>
            <a:prstDash val="solid"/>
          </a:ln>
        </p:spPr>
      </p:sp>
      <p:sp>
        <p:nvSpPr>
          <p:cNvPr id="33" name="badge_40"/>
          <p:cNvSpPr txBox="1"/>
          <p:nvPr/>
        </p:nvSpPr>
        <p:spPr>
          <a:xfrm>
            <a:off x="4389120" y="5404104"/>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05</a:t>
            </a:r>
            <a:endParaRPr lang="en-US" sz="1300" dirty="0"/>
          </a:p>
        </p:txBody>
      </p:sp>
      <p:sp>
        <p:nvSpPr>
          <p:cNvPr id="34" name="text_41"/>
          <p:cNvSpPr txBox="1"/>
          <p:nvPr/>
        </p:nvSpPr>
        <p:spPr>
          <a:xfrm>
            <a:off x="5074920" y="5303520"/>
            <a:ext cx="4754880" cy="658368"/>
          </a:xfrm>
          <a:prstGeom prst="rect">
            <a:avLst/>
          </a:prstGeom>
          <a:noFill/>
          <a:ln/>
        </p:spPr>
        <p:txBody>
          <a:bodyPr wrap="square" lIns="0" tIns="0" rIns="0" bIns="0" rtlCol="0" anchor="ctr"/>
          <a:lstStyle/>
          <a:p>
            <a:pPr indent="0" marL="0">
              <a:buNone/>
            </a:pPr>
            <a:r>
              <a:rPr lang="en-US" sz="1800" dirty="0">
                <a:solidFill>
                  <a:schemeClr val="tx1"/>
                </a:solidFill>
              </a:rPr>
              <a:t>정리와 Q&amp;A</a:t>
            </a:r>
            <a:endParaRPr lang="en-US" sz="1800" dirty="0"/>
          </a:p>
        </p:txBody>
      </p:sp>
      <p:sp>
        <p:nvSpPr>
          <p:cNvPr id="35" name="text_42"/>
          <p:cNvSpPr txBox="1"/>
          <p:nvPr/>
        </p:nvSpPr>
        <p:spPr>
          <a:xfrm>
            <a:off x="10241280" y="5303520"/>
            <a:ext cx="1234440" cy="658368"/>
          </a:xfrm>
          <a:prstGeom prst="rect">
            <a:avLst/>
          </a:prstGeom>
          <a:noFill/>
          <a:ln/>
        </p:spPr>
        <p:txBody>
          <a:bodyPr wrap="square" lIns="0" tIns="0" rIns="0" bIns="0" rtlCol="0" anchor="ctr"/>
          <a:lstStyle/>
          <a:p>
            <a:pPr algn="r" indent="0" marL="0">
              <a:buNone/>
            </a:pPr>
            <a:r>
              <a:rPr lang="en-US" sz="1600" dirty="0">
                <a:solidFill>
                  <a:schemeClr val="accent6"/>
                </a:solidFill>
              </a:rPr>
              <a:t>10분</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오늘 쓰는 Tosca 용어 8개</a:t>
            </a:r>
            <a:endParaRPr lang="en-US" sz="3200" dirty="0"/>
          </a:p>
        </p:txBody>
      </p:sp>
      <p:sp>
        <p:nvSpPr>
          <p:cNvPr id="4" name="card_43"/>
          <p:cNvSpPr/>
          <p:nvPr/>
        </p:nvSpPr>
        <p:spPr>
          <a:xfrm>
            <a:off x="548640" y="1371600"/>
            <a:ext cx="2615184" cy="2240280"/>
          </a:xfrm>
          <a:prstGeom prst="roundRect">
            <a:avLst>
              <a:gd name="adj" fmla="val 4082"/>
            </a:avLst>
          </a:prstGeom>
          <a:solidFill>
            <a:schemeClr val="bg2"/>
          </a:solidFill>
          <a:ln/>
        </p:spPr>
      </p:sp>
      <p:sp>
        <p:nvSpPr>
          <p:cNvPr id="5" name="text_44"/>
          <p:cNvSpPr txBox="1"/>
          <p:nvPr/>
        </p:nvSpPr>
        <p:spPr>
          <a:xfrm>
            <a:off x="749808" y="1554480"/>
            <a:ext cx="2212848" cy="384048"/>
          </a:xfrm>
          <a:prstGeom prst="rect">
            <a:avLst/>
          </a:prstGeom>
          <a:noFill/>
          <a:ln/>
        </p:spPr>
        <p:txBody>
          <a:bodyPr wrap="square" lIns="0" tIns="0" rIns="0" bIns="0" rtlCol="0" anchor="t"/>
          <a:lstStyle/>
          <a:p>
            <a:pPr indent="0" marL="0">
              <a:buNone/>
            </a:pPr>
            <a:r>
              <a:rPr lang="en-US" sz="1700" b="1" dirty="0">
                <a:solidFill>
                  <a:schemeClr val="tx2"/>
                </a:solidFill>
              </a:rPr>
              <a:t>Workspace</a:t>
            </a:r>
            <a:endParaRPr lang="en-US" sz="1700" dirty="0"/>
          </a:p>
        </p:txBody>
      </p:sp>
      <p:sp>
        <p:nvSpPr>
          <p:cNvPr id="6" name="text_45"/>
          <p:cNvSpPr txBox="1"/>
          <p:nvPr/>
        </p:nvSpPr>
        <p:spPr>
          <a:xfrm>
            <a:off x="749808" y="1920240"/>
            <a:ext cx="2212848" cy="274320"/>
          </a:xfrm>
          <a:prstGeom prst="rect">
            <a:avLst/>
          </a:prstGeom>
          <a:noFill/>
          <a:ln/>
        </p:spPr>
        <p:txBody>
          <a:bodyPr wrap="square" lIns="0" tIns="0" rIns="0" bIns="0" rtlCol="0" anchor="t"/>
          <a:lstStyle/>
          <a:p>
            <a:pPr indent="0" marL="0">
              <a:buNone/>
            </a:pPr>
            <a:r>
              <a:rPr lang="en-US" sz="1200" dirty="0">
                <a:solidFill>
                  <a:schemeClr val="accent6"/>
                </a:solidFill>
              </a:rPr>
              <a:t>워크스페이스</a:t>
            </a:r>
            <a:endParaRPr lang="en-US" sz="1200" dirty="0"/>
          </a:p>
        </p:txBody>
      </p:sp>
      <p:sp>
        <p:nvSpPr>
          <p:cNvPr id="7" name="text_46"/>
          <p:cNvSpPr txBox="1"/>
          <p:nvPr/>
        </p:nvSpPr>
        <p:spPr>
          <a:xfrm>
            <a:off x="749808" y="2267712"/>
            <a:ext cx="2212848" cy="1234440"/>
          </a:xfrm>
          <a:prstGeom prst="rect">
            <a:avLst/>
          </a:prstGeom>
          <a:noFill/>
          <a:ln/>
        </p:spPr>
        <p:txBody>
          <a:bodyPr wrap="square" lIns="0" tIns="0" rIns="0" bIns="0" rtlCol="0" anchor="t"/>
          <a:lstStyle/>
          <a:p>
            <a:pPr indent="0" marL="0">
              <a:buNone/>
            </a:pPr>
            <a:r>
              <a:rPr lang="en-US" sz="1300" dirty="0">
                <a:solidFill>
                  <a:schemeClr val="tx1"/>
                </a:solidFill>
              </a:rPr>
              <a:t>Tosca 작업 공간. 내 PC에만 있는 싱글 유저와, 공통 리포지토리를 여럿이 함께 쓰는 멀티 유저가 있다.</a:t>
            </a:r>
            <a:endParaRPr lang="en-US" sz="1300" dirty="0"/>
          </a:p>
        </p:txBody>
      </p:sp>
      <p:sp>
        <p:nvSpPr>
          <p:cNvPr id="8" name="card_47"/>
          <p:cNvSpPr/>
          <p:nvPr/>
        </p:nvSpPr>
        <p:spPr>
          <a:xfrm>
            <a:off x="3374136" y="1371600"/>
            <a:ext cx="2615184" cy="2240280"/>
          </a:xfrm>
          <a:prstGeom prst="roundRect">
            <a:avLst>
              <a:gd name="adj" fmla="val 4082"/>
            </a:avLst>
          </a:prstGeom>
          <a:solidFill>
            <a:schemeClr val="bg2"/>
          </a:solidFill>
          <a:ln/>
        </p:spPr>
      </p:sp>
      <p:sp>
        <p:nvSpPr>
          <p:cNvPr id="9" name="text_48"/>
          <p:cNvSpPr txBox="1"/>
          <p:nvPr/>
        </p:nvSpPr>
        <p:spPr>
          <a:xfrm>
            <a:off x="3575304" y="1554480"/>
            <a:ext cx="2212848" cy="384048"/>
          </a:xfrm>
          <a:prstGeom prst="rect">
            <a:avLst/>
          </a:prstGeom>
          <a:noFill/>
          <a:ln/>
        </p:spPr>
        <p:txBody>
          <a:bodyPr wrap="square" lIns="0" tIns="0" rIns="0" bIns="0" rtlCol="0" anchor="t"/>
          <a:lstStyle/>
          <a:p>
            <a:pPr indent="0" marL="0">
              <a:buNone/>
            </a:pPr>
            <a:r>
              <a:rPr lang="en-US" sz="1700" b="1" dirty="0">
                <a:solidFill>
                  <a:schemeClr val="tx2"/>
                </a:solidFill>
              </a:rPr>
              <a:t>Module</a:t>
            </a:r>
            <a:endParaRPr lang="en-US" sz="1700" dirty="0"/>
          </a:p>
        </p:txBody>
      </p:sp>
      <p:sp>
        <p:nvSpPr>
          <p:cNvPr id="10" name="text_49"/>
          <p:cNvSpPr txBox="1"/>
          <p:nvPr/>
        </p:nvSpPr>
        <p:spPr>
          <a:xfrm>
            <a:off x="3575304" y="1920240"/>
            <a:ext cx="2212848" cy="274320"/>
          </a:xfrm>
          <a:prstGeom prst="rect">
            <a:avLst/>
          </a:prstGeom>
          <a:noFill/>
          <a:ln/>
        </p:spPr>
        <p:txBody>
          <a:bodyPr wrap="square" lIns="0" tIns="0" rIns="0" bIns="0" rtlCol="0" anchor="t"/>
          <a:lstStyle/>
          <a:p>
            <a:pPr indent="0" marL="0">
              <a:buNone/>
            </a:pPr>
            <a:r>
              <a:rPr lang="en-US" sz="1200" dirty="0">
                <a:solidFill>
                  <a:schemeClr val="accent6"/>
                </a:solidFill>
              </a:rPr>
              <a:t>모듈</a:t>
            </a:r>
            <a:endParaRPr lang="en-US" sz="1200" dirty="0"/>
          </a:p>
        </p:txBody>
      </p:sp>
      <p:sp>
        <p:nvSpPr>
          <p:cNvPr id="11" name="text_50"/>
          <p:cNvSpPr txBox="1"/>
          <p:nvPr/>
        </p:nvSpPr>
        <p:spPr>
          <a:xfrm>
            <a:off x="3575304" y="2267712"/>
            <a:ext cx="2212848" cy="1234440"/>
          </a:xfrm>
          <a:prstGeom prst="rect">
            <a:avLst/>
          </a:prstGeom>
          <a:noFill/>
          <a:ln/>
        </p:spPr>
        <p:txBody>
          <a:bodyPr wrap="square" lIns="0" tIns="0" rIns="0" bIns="0" rtlCol="0" anchor="t"/>
          <a:lstStyle/>
          <a:p>
            <a:pPr indent="0" marL="0">
              <a:buNone/>
            </a:pPr>
            <a:r>
              <a:rPr lang="en-US" sz="1300" dirty="0">
                <a:solidFill>
                  <a:schemeClr val="tx1"/>
                </a:solidFill>
              </a:rPr>
              <a:t>테스트할 화면의 기술 정보. XScan으로 화면을 스캔해서 만든다. 화면 요소 하나하나는 ModuleAttribute라고 부른다.</a:t>
            </a:r>
            <a:endParaRPr lang="en-US" sz="1300" dirty="0"/>
          </a:p>
        </p:txBody>
      </p:sp>
      <p:sp>
        <p:nvSpPr>
          <p:cNvPr id="12" name="card_51"/>
          <p:cNvSpPr/>
          <p:nvPr/>
        </p:nvSpPr>
        <p:spPr>
          <a:xfrm>
            <a:off x="6199632" y="1371600"/>
            <a:ext cx="2615184" cy="2240280"/>
          </a:xfrm>
          <a:prstGeom prst="roundRect">
            <a:avLst>
              <a:gd name="adj" fmla="val 4082"/>
            </a:avLst>
          </a:prstGeom>
          <a:solidFill>
            <a:schemeClr val="bg2"/>
          </a:solidFill>
          <a:ln/>
        </p:spPr>
      </p:sp>
      <p:sp>
        <p:nvSpPr>
          <p:cNvPr id="13" name="text_52"/>
          <p:cNvSpPr txBox="1"/>
          <p:nvPr/>
        </p:nvSpPr>
        <p:spPr>
          <a:xfrm>
            <a:off x="6400800" y="1554480"/>
            <a:ext cx="2212848" cy="384048"/>
          </a:xfrm>
          <a:prstGeom prst="rect">
            <a:avLst/>
          </a:prstGeom>
          <a:noFill/>
          <a:ln/>
        </p:spPr>
        <p:txBody>
          <a:bodyPr wrap="square" lIns="0" tIns="0" rIns="0" bIns="0" rtlCol="0" anchor="t"/>
          <a:lstStyle/>
          <a:p>
            <a:pPr indent="0" marL="0">
              <a:buNone/>
            </a:pPr>
            <a:r>
              <a:rPr lang="en-US" sz="1700" b="1" dirty="0">
                <a:solidFill>
                  <a:schemeClr val="tx2"/>
                </a:solidFill>
              </a:rPr>
              <a:t>TestCase</a:t>
            </a:r>
            <a:endParaRPr lang="en-US" sz="1700" dirty="0"/>
          </a:p>
        </p:txBody>
      </p:sp>
      <p:sp>
        <p:nvSpPr>
          <p:cNvPr id="14" name="text_53"/>
          <p:cNvSpPr txBox="1"/>
          <p:nvPr/>
        </p:nvSpPr>
        <p:spPr>
          <a:xfrm>
            <a:off x="6400800" y="1920240"/>
            <a:ext cx="2212848" cy="274320"/>
          </a:xfrm>
          <a:prstGeom prst="rect">
            <a:avLst/>
          </a:prstGeom>
          <a:noFill/>
          <a:ln/>
        </p:spPr>
        <p:txBody>
          <a:bodyPr wrap="square" lIns="0" tIns="0" rIns="0" bIns="0" rtlCol="0" anchor="t"/>
          <a:lstStyle/>
          <a:p>
            <a:pPr indent="0" marL="0">
              <a:buNone/>
            </a:pPr>
            <a:r>
              <a:rPr lang="en-US" sz="1200" dirty="0">
                <a:solidFill>
                  <a:schemeClr val="accent6"/>
                </a:solidFill>
              </a:rPr>
              <a:t>테스트케이스</a:t>
            </a:r>
            <a:endParaRPr lang="en-US" sz="1200" dirty="0"/>
          </a:p>
        </p:txBody>
      </p:sp>
      <p:sp>
        <p:nvSpPr>
          <p:cNvPr id="15" name="text_54"/>
          <p:cNvSpPr txBox="1"/>
          <p:nvPr/>
        </p:nvSpPr>
        <p:spPr>
          <a:xfrm>
            <a:off x="6400800" y="2267712"/>
            <a:ext cx="2212848" cy="1234440"/>
          </a:xfrm>
          <a:prstGeom prst="rect">
            <a:avLst/>
          </a:prstGeom>
          <a:noFill/>
          <a:ln/>
        </p:spPr>
        <p:txBody>
          <a:bodyPr wrap="square" lIns="0" tIns="0" rIns="0" bIns="0" rtlCol="0" anchor="t"/>
          <a:lstStyle/>
          <a:p>
            <a:pPr indent="0" marL="0">
              <a:buNone/>
            </a:pPr>
            <a:r>
              <a:rPr lang="en-US" sz="1300" dirty="0">
                <a:solidFill>
                  <a:schemeClr val="tx1"/>
                </a:solidFill>
              </a:rPr>
              <a:t>모듈을 순서대로 끌어다 놓아 만든 테스트 절차.</a:t>
            </a:r>
            <a:endParaRPr lang="en-US" sz="1300" dirty="0"/>
          </a:p>
        </p:txBody>
      </p:sp>
      <p:sp>
        <p:nvSpPr>
          <p:cNvPr id="16" name="card_55"/>
          <p:cNvSpPr/>
          <p:nvPr/>
        </p:nvSpPr>
        <p:spPr>
          <a:xfrm>
            <a:off x="9025128" y="1371600"/>
            <a:ext cx="2615184" cy="2240280"/>
          </a:xfrm>
          <a:prstGeom prst="roundRect">
            <a:avLst>
              <a:gd name="adj" fmla="val 4082"/>
            </a:avLst>
          </a:prstGeom>
          <a:solidFill>
            <a:schemeClr val="bg2"/>
          </a:solidFill>
          <a:ln/>
        </p:spPr>
      </p:sp>
      <p:sp>
        <p:nvSpPr>
          <p:cNvPr id="17" name="text_56"/>
          <p:cNvSpPr txBox="1"/>
          <p:nvPr/>
        </p:nvSpPr>
        <p:spPr>
          <a:xfrm>
            <a:off x="9226296" y="1554480"/>
            <a:ext cx="2212848" cy="384048"/>
          </a:xfrm>
          <a:prstGeom prst="rect">
            <a:avLst/>
          </a:prstGeom>
          <a:noFill/>
          <a:ln/>
        </p:spPr>
        <p:txBody>
          <a:bodyPr wrap="square" lIns="0" tIns="0" rIns="0" bIns="0" rtlCol="0" anchor="t"/>
          <a:lstStyle/>
          <a:p>
            <a:pPr indent="0" marL="0">
              <a:buNone/>
            </a:pPr>
            <a:r>
              <a:rPr lang="en-US" sz="1700" b="1" dirty="0">
                <a:solidFill>
                  <a:schemeClr val="tx2"/>
                </a:solidFill>
              </a:rPr>
              <a:t>TestStep</a:t>
            </a:r>
            <a:endParaRPr lang="en-US" sz="1700" dirty="0"/>
          </a:p>
        </p:txBody>
      </p:sp>
      <p:sp>
        <p:nvSpPr>
          <p:cNvPr id="18" name="text_57"/>
          <p:cNvSpPr txBox="1"/>
          <p:nvPr/>
        </p:nvSpPr>
        <p:spPr>
          <a:xfrm>
            <a:off x="9226296" y="1920240"/>
            <a:ext cx="2212848" cy="274320"/>
          </a:xfrm>
          <a:prstGeom prst="rect">
            <a:avLst/>
          </a:prstGeom>
          <a:noFill/>
          <a:ln/>
        </p:spPr>
        <p:txBody>
          <a:bodyPr wrap="square" lIns="0" tIns="0" rIns="0" bIns="0" rtlCol="0" anchor="t"/>
          <a:lstStyle/>
          <a:p>
            <a:pPr indent="0" marL="0">
              <a:buNone/>
            </a:pPr>
            <a:r>
              <a:rPr lang="en-US" sz="1200" dirty="0">
                <a:solidFill>
                  <a:schemeClr val="accent6"/>
                </a:solidFill>
              </a:rPr>
              <a:t>테스트스텝</a:t>
            </a:r>
            <a:endParaRPr lang="en-US" sz="1200" dirty="0"/>
          </a:p>
        </p:txBody>
      </p:sp>
      <p:sp>
        <p:nvSpPr>
          <p:cNvPr id="19" name="text_58"/>
          <p:cNvSpPr txBox="1"/>
          <p:nvPr/>
        </p:nvSpPr>
        <p:spPr>
          <a:xfrm>
            <a:off x="9226296" y="2267712"/>
            <a:ext cx="2212848" cy="1234440"/>
          </a:xfrm>
          <a:prstGeom prst="rect">
            <a:avLst/>
          </a:prstGeom>
          <a:noFill/>
          <a:ln/>
        </p:spPr>
        <p:txBody>
          <a:bodyPr wrap="square" lIns="0" tIns="0" rIns="0" bIns="0" rtlCol="0" anchor="t"/>
          <a:lstStyle/>
          <a:p>
            <a:pPr indent="0" marL="0">
              <a:buNone/>
            </a:pPr>
            <a:r>
              <a:rPr lang="en-US" sz="1300" dirty="0">
                <a:solidFill>
                  <a:schemeClr val="tx1"/>
                </a:solidFill>
              </a:rPr>
              <a:t>테스트케이스의 한 단계. 스텝 안에 넣는 값은 TestStepValue.</a:t>
            </a:r>
            <a:endParaRPr lang="en-US" sz="1300" dirty="0"/>
          </a:p>
        </p:txBody>
      </p:sp>
      <p:sp>
        <p:nvSpPr>
          <p:cNvPr id="20" name="card_59"/>
          <p:cNvSpPr/>
          <p:nvPr/>
        </p:nvSpPr>
        <p:spPr>
          <a:xfrm>
            <a:off x="548640" y="3813048"/>
            <a:ext cx="2615184" cy="2240280"/>
          </a:xfrm>
          <a:prstGeom prst="roundRect">
            <a:avLst>
              <a:gd name="adj" fmla="val 4082"/>
            </a:avLst>
          </a:prstGeom>
          <a:solidFill>
            <a:schemeClr val="bg2"/>
          </a:solidFill>
          <a:ln/>
        </p:spPr>
      </p:sp>
      <p:sp>
        <p:nvSpPr>
          <p:cNvPr id="21" name="text_60"/>
          <p:cNvSpPr txBox="1"/>
          <p:nvPr/>
        </p:nvSpPr>
        <p:spPr>
          <a:xfrm>
            <a:off x="749808" y="3995928"/>
            <a:ext cx="2212848" cy="384048"/>
          </a:xfrm>
          <a:prstGeom prst="rect">
            <a:avLst/>
          </a:prstGeom>
          <a:noFill/>
          <a:ln/>
        </p:spPr>
        <p:txBody>
          <a:bodyPr wrap="square" lIns="0" tIns="0" rIns="0" bIns="0" rtlCol="0" anchor="t"/>
          <a:lstStyle/>
          <a:p>
            <a:pPr indent="0" marL="0">
              <a:buNone/>
            </a:pPr>
            <a:r>
              <a:rPr lang="en-US" sz="1700" b="1" dirty="0">
                <a:solidFill>
                  <a:schemeClr val="tx2"/>
                </a:solidFill>
              </a:rPr>
              <a:t>ActionMode</a:t>
            </a:r>
            <a:endParaRPr lang="en-US" sz="1700" dirty="0"/>
          </a:p>
        </p:txBody>
      </p:sp>
      <p:sp>
        <p:nvSpPr>
          <p:cNvPr id="22" name="text_61"/>
          <p:cNvSpPr txBox="1"/>
          <p:nvPr/>
        </p:nvSpPr>
        <p:spPr>
          <a:xfrm>
            <a:off x="749808" y="4361688"/>
            <a:ext cx="2212848" cy="274320"/>
          </a:xfrm>
          <a:prstGeom prst="rect">
            <a:avLst/>
          </a:prstGeom>
          <a:noFill/>
          <a:ln/>
        </p:spPr>
        <p:txBody>
          <a:bodyPr wrap="square" lIns="0" tIns="0" rIns="0" bIns="0" rtlCol="0" anchor="t"/>
          <a:lstStyle/>
          <a:p>
            <a:pPr indent="0" marL="0">
              <a:buNone/>
            </a:pPr>
            <a:r>
              <a:rPr lang="en-US" sz="1200" dirty="0">
                <a:solidFill>
                  <a:schemeClr val="accent6"/>
                </a:solidFill>
              </a:rPr>
              <a:t>액션모드</a:t>
            </a:r>
            <a:endParaRPr lang="en-US" sz="1200" dirty="0"/>
          </a:p>
        </p:txBody>
      </p:sp>
      <p:sp>
        <p:nvSpPr>
          <p:cNvPr id="23" name="text_62"/>
          <p:cNvSpPr txBox="1"/>
          <p:nvPr/>
        </p:nvSpPr>
        <p:spPr>
          <a:xfrm>
            <a:off x="749808" y="4709160"/>
            <a:ext cx="2212848" cy="1234440"/>
          </a:xfrm>
          <a:prstGeom prst="rect">
            <a:avLst/>
          </a:prstGeom>
          <a:noFill/>
          <a:ln/>
        </p:spPr>
        <p:txBody>
          <a:bodyPr wrap="square" lIns="0" tIns="0" rIns="0" bIns="0" rtlCol="0" anchor="t"/>
          <a:lstStyle/>
          <a:p>
            <a:pPr indent="0" marL="0">
              <a:buNone/>
            </a:pPr>
            <a:r>
              <a:rPr lang="en-US" sz="1300" dirty="0">
                <a:solidFill>
                  <a:schemeClr val="tx1"/>
                </a:solidFill>
              </a:rPr>
              <a:t>값을 어떻게 쓸지 정한다. Input(입력), Verify(검증), Buffer(저장 후 재사용), WaitOn(나타날 때까지 대기) 등.</a:t>
            </a:r>
            <a:endParaRPr lang="en-US" sz="1300" dirty="0"/>
          </a:p>
        </p:txBody>
      </p:sp>
      <p:sp>
        <p:nvSpPr>
          <p:cNvPr id="24" name="card_63"/>
          <p:cNvSpPr/>
          <p:nvPr/>
        </p:nvSpPr>
        <p:spPr>
          <a:xfrm>
            <a:off x="3374136" y="3813048"/>
            <a:ext cx="2615184" cy="2240280"/>
          </a:xfrm>
          <a:prstGeom prst="roundRect">
            <a:avLst>
              <a:gd name="adj" fmla="val 4082"/>
            </a:avLst>
          </a:prstGeom>
          <a:solidFill>
            <a:schemeClr val="bg2"/>
          </a:solidFill>
          <a:ln/>
        </p:spPr>
      </p:sp>
      <p:sp>
        <p:nvSpPr>
          <p:cNvPr id="25" name="text_64"/>
          <p:cNvSpPr txBox="1"/>
          <p:nvPr/>
        </p:nvSpPr>
        <p:spPr>
          <a:xfrm>
            <a:off x="3575304" y="3995928"/>
            <a:ext cx="2212848" cy="384048"/>
          </a:xfrm>
          <a:prstGeom prst="rect">
            <a:avLst/>
          </a:prstGeom>
          <a:noFill/>
          <a:ln/>
        </p:spPr>
        <p:txBody>
          <a:bodyPr wrap="square" lIns="0" tIns="0" rIns="0" bIns="0" rtlCol="0" anchor="t"/>
          <a:lstStyle/>
          <a:p>
            <a:pPr indent="0" marL="0">
              <a:buNone/>
            </a:pPr>
            <a:r>
              <a:rPr lang="en-US" sz="1700" b="1" dirty="0">
                <a:solidFill>
                  <a:schemeClr val="tx2"/>
                </a:solidFill>
              </a:rPr>
              <a:t>ScratchBook</a:t>
            </a:r>
            <a:endParaRPr lang="en-US" sz="1700" dirty="0"/>
          </a:p>
        </p:txBody>
      </p:sp>
      <p:sp>
        <p:nvSpPr>
          <p:cNvPr id="26" name="text_65"/>
          <p:cNvSpPr txBox="1"/>
          <p:nvPr/>
        </p:nvSpPr>
        <p:spPr>
          <a:xfrm>
            <a:off x="3575304" y="4361688"/>
            <a:ext cx="2212848" cy="274320"/>
          </a:xfrm>
          <a:prstGeom prst="rect">
            <a:avLst/>
          </a:prstGeom>
          <a:noFill/>
          <a:ln/>
        </p:spPr>
        <p:txBody>
          <a:bodyPr wrap="square" lIns="0" tIns="0" rIns="0" bIns="0" rtlCol="0" anchor="t"/>
          <a:lstStyle/>
          <a:p>
            <a:pPr indent="0" marL="0">
              <a:buNone/>
            </a:pPr>
            <a:r>
              <a:rPr lang="en-US" sz="1200" dirty="0">
                <a:solidFill>
                  <a:schemeClr val="accent6"/>
                </a:solidFill>
              </a:rPr>
              <a:t>스크래치북</a:t>
            </a:r>
            <a:endParaRPr lang="en-US" sz="1200" dirty="0"/>
          </a:p>
        </p:txBody>
      </p:sp>
      <p:sp>
        <p:nvSpPr>
          <p:cNvPr id="27" name="text_66"/>
          <p:cNvSpPr txBox="1"/>
          <p:nvPr/>
        </p:nvSpPr>
        <p:spPr>
          <a:xfrm>
            <a:off x="3575304" y="4709160"/>
            <a:ext cx="2212848" cy="1234440"/>
          </a:xfrm>
          <a:prstGeom prst="rect">
            <a:avLst/>
          </a:prstGeom>
          <a:noFill/>
          <a:ln/>
        </p:spPr>
        <p:txBody>
          <a:bodyPr wrap="square" lIns="0" tIns="0" rIns="0" bIns="0" rtlCol="0" anchor="t"/>
          <a:lstStyle/>
          <a:p>
            <a:pPr indent="0" marL="0">
              <a:buNone/>
            </a:pPr>
            <a:r>
              <a:rPr lang="en-US" sz="1300" dirty="0">
                <a:solidFill>
                  <a:schemeClr val="tx1"/>
                </a:solidFill>
              </a:rPr>
              <a:t>테스트케이스를 시험 삼아 돌려 보는 곳. 결과가 정식 실행 기록으로 남지 않는다.</a:t>
            </a:r>
            <a:endParaRPr lang="en-US" sz="1300" dirty="0"/>
          </a:p>
        </p:txBody>
      </p:sp>
      <p:sp>
        <p:nvSpPr>
          <p:cNvPr id="28" name="card_67"/>
          <p:cNvSpPr/>
          <p:nvPr/>
        </p:nvSpPr>
        <p:spPr>
          <a:xfrm>
            <a:off x="6199632" y="3813048"/>
            <a:ext cx="2615184" cy="2240280"/>
          </a:xfrm>
          <a:prstGeom prst="roundRect">
            <a:avLst>
              <a:gd name="adj" fmla="val 4082"/>
            </a:avLst>
          </a:prstGeom>
          <a:solidFill>
            <a:schemeClr val="bg2"/>
          </a:solidFill>
          <a:ln/>
        </p:spPr>
      </p:sp>
      <p:sp>
        <p:nvSpPr>
          <p:cNvPr id="29" name="text_68"/>
          <p:cNvSpPr txBox="1"/>
          <p:nvPr/>
        </p:nvSpPr>
        <p:spPr>
          <a:xfrm>
            <a:off x="6400800" y="3995928"/>
            <a:ext cx="2212848" cy="384048"/>
          </a:xfrm>
          <a:prstGeom prst="rect">
            <a:avLst/>
          </a:prstGeom>
          <a:noFill/>
          <a:ln/>
        </p:spPr>
        <p:txBody>
          <a:bodyPr wrap="square" lIns="0" tIns="0" rIns="0" bIns="0" rtlCol="0" anchor="t"/>
          <a:lstStyle/>
          <a:p>
            <a:pPr indent="0" marL="0">
              <a:buNone/>
            </a:pPr>
            <a:r>
              <a:rPr lang="en-US" sz="1700" b="1" dirty="0">
                <a:solidFill>
                  <a:schemeClr val="tx2"/>
                </a:solidFill>
              </a:rPr>
              <a:t>ExecutionList</a:t>
            </a:r>
            <a:endParaRPr lang="en-US" sz="1700" dirty="0"/>
          </a:p>
        </p:txBody>
      </p:sp>
      <p:sp>
        <p:nvSpPr>
          <p:cNvPr id="30" name="text_69"/>
          <p:cNvSpPr txBox="1"/>
          <p:nvPr/>
        </p:nvSpPr>
        <p:spPr>
          <a:xfrm>
            <a:off x="6400800" y="4361688"/>
            <a:ext cx="2212848" cy="274320"/>
          </a:xfrm>
          <a:prstGeom prst="rect">
            <a:avLst/>
          </a:prstGeom>
          <a:noFill/>
          <a:ln/>
        </p:spPr>
        <p:txBody>
          <a:bodyPr wrap="square" lIns="0" tIns="0" rIns="0" bIns="0" rtlCol="0" anchor="t"/>
          <a:lstStyle/>
          <a:p>
            <a:pPr indent="0" marL="0">
              <a:buNone/>
            </a:pPr>
            <a:r>
              <a:rPr lang="en-US" sz="1200" dirty="0">
                <a:solidFill>
                  <a:schemeClr val="accent6"/>
                </a:solidFill>
              </a:rPr>
              <a:t>실행 목록</a:t>
            </a:r>
            <a:endParaRPr lang="en-US" sz="1200" dirty="0"/>
          </a:p>
        </p:txBody>
      </p:sp>
      <p:sp>
        <p:nvSpPr>
          <p:cNvPr id="31" name="text_70"/>
          <p:cNvSpPr txBox="1"/>
          <p:nvPr/>
        </p:nvSpPr>
        <p:spPr>
          <a:xfrm>
            <a:off x="6400800" y="4709160"/>
            <a:ext cx="2212848" cy="1234440"/>
          </a:xfrm>
          <a:prstGeom prst="rect">
            <a:avLst/>
          </a:prstGeom>
          <a:noFill/>
          <a:ln/>
        </p:spPr>
        <p:txBody>
          <a:bodyPr wrap="square" lIns="0" tIns="0" rIns="0" bIns="0" rtlCol="0" anchor="t"/>
          <a:lstStyle/>
          <a:p>
            <a:pPr indent="0" marL="0">
              <a:buNone/>
            </a:pPr>
            <a:r>
              <a:rPr lang="en-US" sz="1300" dirty="0">
                <a:solidFill>
                  <a:schemeClr val="tx1"/>
                </a:solidFill>
              </a:rPr>
              <a:t>정식 실행 단위. 실행할 때마다 결과(ExecutionLog)가 남는다.</a:t>
            </a:r>
            <a:endParaRPr lang="en-US" sz="1300" dirty="0"/>
          </a:p>
        </p:txBody>
      </p:sp>
      <p:sp>
        <p:nvSpPr>
          <p:cNvPr id="32" name="card_71"/>
          <p:cNvSpPr/>
          <p:nvPr/>
        </p:nvSpPr>
        <p:spPr>
          <a:xfrm>
            <a:off x="9025128" y="3813048"/>
            <a:ext cx="2615184" cy="2240280"/>
          </a:xfrm>
          <a:prstGeom prst="roundRect">
            <a:avLst>
              <a:gd name="adj" fmla="val 4082"/>
            </a:avLst>
          </a:prstGeom>
          <a:solidFill>
            <a:schemeClr val="bg2"/>
          </a:solidFill>
          <a:ln/>
        </p:spPr>
      </p:sp>
      <p:sp>
        <p:nvSpPr>
          <p:cNvPr id="33" name="text_72"/>
          <p:cNvSpPr txBox="1"/>
          <p:nvPr/>
        </p:nvSpPr>
        <p:spPr>
          <a:xfrm>
            <a:off x="9226296" y="3995928"/>
            <a:ext cx="2212848" cy="384048"/>
          </a:xfrm>
          <a:prstGeom prst="rect">
            <a:avLst/>
          </a:prstGeom>
          <a:noFill/>
          <a:ln/>
        </p:spPr>
        <p:txBody>
          <a:bodyPr wrap="square" lIns="0" tIns="0" rIns="0" bIns="0" rtlCol="0" anchor="t"/>
          <a:lstStyle/>
          <a:p>
            <a:pPr indent="0" marL="0">
              <a:buNone/>
            </a:pPr>
            <a:r>
              <a:rPr lang="en-US" sz="1700" b="1" dirty="0">
                <a:solidFill>
                  <a:schemeClr val="tx2"/>
                </a:solidFill>
              </a:rPr>
              <a:t>Check out / Check in</a:t>
            </a:r>
            <a:endParaRPr lang="en-US" sz="1700" dirty="0"/>
          </a:p>
        </p:txBody>
      </p:sp>
      <p:sp>
        <p:nvSpPr>
          <p:cNvPr id="34" name="text_73"/>
          <p:cNvSpPr txBox="1"/>
          <p:nvPr/>
        </p:nvSpPr>
        <p:spPr>
          <a:xfrm>
            <a:off x="9226296" y="4361688"/>
            <a:ext cx="2212848" cy="274320"/>
          </a:xfrm>
          <a:prstGeom prst="rect">
            <a:avLst/>
          </a:prstGeom>
          <a:noFill/>
          <a:ln/>
        </p:spPr>
        <p:txBody>
          <a:bodyPr wrap="square" lIns="0" tIns="0" rIns="0" bIns="0" rtlCol="0" anchor="t"/>
          <a:lstStyle/>
          <a:p>
            <a:pPr indent="0" marL="0">
              <a:buNone/>
            </a:pPr>
            <a:r>
              <a:rPr lang="en-US" sz="1200" dirty="0">
                <a:solidFill>
                  <a:schemeClr val="accent6"/>
                </a:solidFill>
              </a:rPr>
              <a:t>체크아웃 / 체크인</a:t>
            </a:r>
            <a:endParaRPr lang="en-US" sz="1200" dirty="0"/>
          </a:p>
        </p:txBody>
      </p:sp>
      <p:sp>
        <p:nvSpPr>
          <p:cNvPr id="35" name="text_74"/>
          <p:cNvSpPr txBox="1"/>
          <p:nvPr/>
        </p:nvSpPr>
        <p:spPr>
          <a:xfrm>
            <a:off x="9226296" y="4709160"/>
            <a:ext cx="2212848" cy="1234440"/>
          </a:xfrm>
          <a:prstGeom prst="rect">
            <a:avLst/>
          </a:prstGeom>
          <a:noFill/>
          <a:ln/>
        </p:spPr>
        <p:txBody>
          <a:bodyPr wrap="square" lIns="0" tIns="0" rIns="0" bIns="0" rtlCol="0" anchor="t"/>
          <a:lstStyle/>
          <a:p>
            <a:pPr indent="0" marL="0">
              <a:buNone/>
            </a:pPr>
            <a:r>
              <a:rPr lang="en-US" sz="1300" dirty="0">
                <a:solidFill>
                  <a:schemeClr val="tx1"/>
                </a:solidFill>
              </a:rPr>
              <a:t>멀티 유저에서 객체를 잠그고(체크아웃) 수정한 뒤 공통 리포지토리에 반영(체크인)하는 절차.</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Tosca에서 테스트가 만들어지는 흐름</a:t>
            </a:r>
            <a:endParaRPr lang="en-US" sz="3200" dirty="0"/>
          </a:p>
        </p:txBody>
      </p:sp>
      <p:sp>
        <p:nvSpPr>
          <p:cNvPr id="4" name="card_75"/>
          <p:cNvSpPr/>
          <p:nvPr/>
        </p:nvSpPr>
        <p:spPr>
          <a:xfrm>
            <a:off x="548640" y="1508760"/>
            <a:ext cx="1938528" cy="1828800"/>
          </a:xfrm>
          <a:prstGeom prst="roundRect">
            <a:avLst>
              <a:gd name="adj" fmla="val 5000"/>
            </a:avLst>
          </a:prstGeom>
          <a:solidFill>
            <a:schemeClr val="bg1"/>
          </a:solidFill>
          <a:ln w="12700">
            <a:solidFill>
              <a:schemeClr val="accent3"/>
            </a:solidFill>
            <a:prstDash val="solid"/>
          </a:ln>
          <a:effectLst>
            <a:outerShdw sx="100000" sy="100000" kx="0" ky="0" algn="bl" rotWithShape="0" blurRad="76200" dist="25400" dir="5400000">
              <a:srgbClr val="1E2B2F">
                <a:alpha val="12000"/>
              </a:srgbClr>
            </a:outerShdw>
          </a:effectLst>
        </p:spPr>
      </p:sp>
      <p:sp>
        <p:nvSpPr>
          <p:cNvPr id="5" name="badge_76"/>
          <p:cNvSpPr txBox="1"/>
          <p:nvPr/>
        </p:nvSpPr>
        <p:spPr>
          <a:xfrm>
            <a:off x="731520" y="16916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_77"/>
          <p:cNvSpPr txBox="1"/>
          <p:nvPr/>
        </p:nvSpPr>
        <p:spPr>
          <a:xfrm>
            <a:off x="731520" y="2194560"/>
            <a:ext cx="1572768" cy="365760"/>
          </a:xfrm>
          <a:prstGeom prst="rect">
            <a:avLst/>
          </a:prstGeom>
          <a:noFill/>
          <a:ln/>
        </p:spPr>
        <p:txBody>
          <a:bodyPr wrap="square" lIns="0" tIns="0" rIns="0" bIns="0" rtlCol="0" anchor="t"/>
          <a:lstStyle/>
          <a:p>
            <a:pPr indent="0" marL="0">
              <a:buNone/>
            </a:pPr>
            <a:r>
              <a:rPr lang="en-US" sz="1700" b="1" dirty="0">
                <a:solidFill>
                  <a:schemeClr val="tx1"/>
                </a:solidFill>
              </a:rPr>
              <a:t>화면 스캔</a:t>
            </a:r>
            <a:endParaRPr lang="en-US" sz="1700" dirty="0"/>
          </a:p>
        </p:txBody>
      </p:sp>
      <p:sp>
        <p:nvSpPr>
          <p:cNvPr id="7" name="text_78"/>
          <p:cNvSpPr txBox="1"/>
          <p:nvPr/>
        </p:nvSpPr>
        <p:spPr>
          <a:xfrm>
            <a:off x="731520" y="2560320"/>
            <a:ext cx="1572768" cy="731520"/>
          </a:xfrm>
          <a:prstGeom prst="rect">
            <a:avLst/>
          </a:prstGeom>
          <a:noFill/>
          <a:ln/>
        </p:spPr>
        <p:txBody>
          <a:bodyPr wrap="square" lIns="0" tIns="0" rIns="0" bIns="0" rtlCol="0" anchor="t"/>
          <a:lstStyle/>
          <a:p>
            <a:pPr indent="0" marL="0">
              <a:buNone/>
            </a:pPr>
            <a:r>
              <a:rPr lang="en-US" sz="1300" dirty="0">
                <a:solidFill>
                  <a:schemeClr val="accent6"/>
                </a:solidFill>
              </a:rPr>
              <a:t>XScan으로 테스트할 화면을 읽는다</a:t>
            </a:r>
            <a:endParaRPr lang="en-US" sz="1300" dirty="0"/>
          </a:p>
        </p:txBody>
      </p:sp>
      <p:sp>
        <p:nvSpPr>
          <p:cNvPr id="8" name="line_79"/>
          <p:cNvSpPr/>
          <p:nvPr/>
        </p:nvSpPr>
        <p:spPr>
          <a:xfrm>
            <a:off x="2532888" y="2423160"/>
            <a:ext cx="256032" cy="0"/>
          </a:xfrm>
          <a:prstGeom prst="line">
            <a:avLst/>
          </a:prstGeom>
          <a:noFill/>
          <a:ln w="19050">
            <a:solidFill>
              <a:schemeClr val="accent3"/>
            </a:solidFill>
            <a:prstDash val="solid"/>
            <a:tailEnd type="triangle"/>
          </a:ln>
        </p:spPr>
      </p:sp>
      <p:sp>
        <p:nvSpPr>
          <p:cNvPr id="9" name="card_80"/>
          <p:cNvSpPr/>
          <p:nvPr/>
        </p:nvSpPr>
        <p:spPr>
          <a:xfrm>
            <a:off x="2834640" y="1508760"/>
            <a:ext cx="1938528" cy="1828800"/>
          </a:xfrm>
          <a:prstGeom prst="roundRect">
            <a:avLst>
              <a:gd name="adj" fmla="val 5000"/>
            </a:avLst>
          </a:prstGeom>
          <a:solidFill>
            <a:schemeClr val="bg1"/>
          </a:solidFill>
          <a:ln w="12700">
            <a:solidFill>
              <a:schemeClr val="accent3"/>
            </a:solidFill>
            <a:prstDash val="solid"/>
          </a:ln>
          <a:effectLst>
            <a:outerShdw sx="100000" sy="100000" kx="0" ky="0" algn="bl" rotWithShape="0" blurRad="76200" dist="25400" dir="5400000">
              <a:srgbClr val="1E2B2F">
                <a:alpha val="12000"/>
              </a:srgbClr>
            </a:outerShdw>
          </a:effectLst>
        </p:spPr>
      </p:sp>
      <p:sp>
        <p:nvSpPr>
          <p:cNvPr id="10" name="badge_81"/>
          <p:cNvSpPr txBox="1"/>
          <p:nvPr/>
        </p:nvSpPr>
        <p:spPr>
          <a:xfrm>
            <a:off x="3017520" y="16916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_82"/>
          <p:cNvSpPr txBox="1"/>
          <p:nvPr/>
        </p:nvSpPr>
        <p:spPr>
          <a:xfrm>
            <a:off x="3017520" y="2194560"/>
            <a:ext cx="1572768" cy="365760"/>
          </a:xfrm>
          <a:prstGeom prst="rect">
            <a:avLst/>
          </a:prstGeom>
          <a:noFill/>
          <a:ln/>
        </p:spPr>
        <p:txBody>
          <a:bodyPr wrap="square" lIns="0" tIns="0" rIns="0" bIns="0" rtlCol="0" anchor="t"/>
          <a:lstStyle/>
          <a:p>
            <a:pPr indent="0" marL="0">
              <a:buNone/>
            </a:pPr>
            <a:r>
              <a:rPr lang="en-US" sz="1700" b="1" dirty="0">
                <a:solidFill>
                  <a:schemeClr val="tx1"/>
                </a:solidFill>
              </a:rPr>
              <a:t>모듈</a:t>
            </a:r>
            <a:endParaRPr lang="en-US" sz="1700" dirty="0"/>
          </a:p>
        </p:txBody>
      </p:sp>
      <p:sp>
        <p:nvSpPr>
          <p:cNvPr id="12" name="text_83"/>
          <p:cNvSpPr txBox="1"/>
          <p:nvPr/>
        </p:nvSpPr>
        <p:spPr>
          <a:xfrm>
            <a:off x="3017520" y="2560320"/>
            <a:ext cx="1572768" cy="731520"/>
          </a:xfrm>
          <a:prstGeom prst="rect">
            <a:avLst/>
          </a:prstGeom>
          <a:noFill/>
          <a:ln/>
        </p:spPr>
        <p:txBody>
          <a:bodyPr wrap="square" lIns="0" tIns="0" rIns="0" bIns="0" rtlCol="0" anchor="t"/>
          <a:lstStyle/>
          <a:p>
            <a:pPr indent="0" marL="0">
              <a:buNone/>
            </a:pPr>
            <a:r>
              <a:rPr lang="en-US" sz="1300" dirty="0">
                <a:solidFill>
                  <a:schemeClr val="accent6"/>
                </a:solidFill>
              </a:rPr>
              <a:t>화면 요소 정보가 모듈로 저장된다</a:t>
            </a:r>
            <a:endParaRPr lang="en-US" sz="1300" dirty="0"/>
          </a:p>
        </p:txBody>
      </p:sp>
      <p:sp>
        <p:nvSpPr>
          <p:cNvPr id="13" name="line_84"/>
          <p:cNvSpPr/>
          <p:nvPr/>
        </p:nvSpPr>
        <p:spPr>
          <a:xfrm>
            <a:off x="4818888" y="2423160"/>
            <a:ext cx="256032" cy="0"/>
          </a:xfrm>
          <a:prstGeom prst="line">
            <a:avLst/>
          </a:prstGeom>
          <a:noFill/>
          <a:ln w="19050">
            <a:solidFill>
              <a:schemeClr val="accent3"/>
            </a:solidFill>
            <a:prstDash val="solid"/>
            <a:tailEnd type="triangle"/>
          </a:ln>
        </p:spPr>
      </p:sp>
      <p:sp>
        <p:nvSpPr>
          <p:cNvPr id="14" name="card_85"/>
          <p:cNvSpPr/>
          <p:nvPr/>
        </p:nvSpPr>
        <p:spPr>
          <a:xfrm>
            <a:off x="5120640" y="1508760"/>
            <a:ext cx="1938528" cy="1828800"/>
          </a:xfrm>
          <a:prstGeom prst="roundRect">
            <a:avLst>
              <a:gd name="adj" fmla="val 5000"/>
            </a:avLst>
          </a:prstGeom>
          <a:solidFill>
            <a:schemeClr val="bg1"/>
          </a:solidFill>
          <a:ln w="12700">
            <a:solidFill>
              <a:schemeClr val="accent3"/>
            </a:solidFill>
            <a:prstDash val="solid"/>
          </a:ln>
          <a:effectLst>
            <a:outerShdw sx="100000" sy="100000" kx="0" ky="0" algn="bl" rotWithShape="0" blurRad="76200" dist="25400" dir="5400000">
              <a:srgbClr val="1E2B2F">
                <a:alpha val="12000"/>
              </a:srgbClr>
            </a:outerShdw>
          </a:effectLst>
        </p:spPr>
      </p:sp>
      <p:sp>
        <p:nvSpPr>
          <p:cNvPr id="15" name="badge_86"/>
          <p:cNvSpPr txBox="1"/>
          <p:nvPr/>
        </p:nvSpPr>
        <p:spPr>
          <a:xfrm>
            <a:off x="5303520" y="16916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_87"/>
          <p:cNvSpPr txBox="1"/>
          <p:nvPr/>
        </p:nvSpPr>
        <p:spPr>
          <a:xfrm>
            <a:off x="5303520" y="2194560"/>
            <a:ext cx="1572768" cy="365760"/>
          </a:xfrm>
          <a:prstGeom prst="rect">
            <a:avLst/>
          </a:prstGeom>
          <a:noFill/>
          <a:ln/>
        </p:spPr>
        <p:txBody>
          <a:bodyPr wrap="square" lIns="0" tIns="0" rIns="0" bIns="0" rtlCol="0" anchor="t"/>
          <a:lstStyle/>
          <a:p>
            <a:pPr indent="0" marL="0">
              <a:buNone/>
            </a:pPr>
            <a:r>
              <a:rPr lang="en-US" sz="1700" b="1" dirty="0">
                <a:solidFill>
                  <a:schemeClr val="tx1"/>
                </a:solidFill>
              </a:rPr>
              <a:t>테스트케이스</a:t>
            </a:r>
            <a:endParaRPr lang="en-US" sz="1700" dirty="0"/>
          </a:p>
        </p:txBody>
      </p:sp>
      <p:sp>
        <p:nvSpPr>
          <p:cNvPr id="17" name="text_88"/>
          <p:cNvSpPr txBox="1"/>
          <p:nvPr/>
        </p:nvSpPr>
        <p:spPr>
          <a:xfrm>
            <a:off x="5303520" y="2560320"/>
            <a:ext cx="1572768" cy="731520"/>
          </a:xfrm>
          <a:prstGeom prst="rect">
            <a:avLst/>
          </a:prstGeom>
          <a:noFill/>
          <a:ln/>
        </p:spPr>
        <p:txBody>
          <a:bodyPr wrap="square" lIns="0" tIns="0" rIns="0" bIns="0" rtlCol="0" anchor="t"/>
          <a:lstStyle/>
          <a:p>
            <a:pPr indent="0" marL="0">
              <a:buNone/>
            </a:pPr>
            <a:r>
              <a:rPr lang="en-US" sz="1300" dirty="0">
                <a:solidFill>
                  <a:schemeClr val="accent6"/>
                </a:solidFill>
              </a:rPr>
              <a:t>모듈을 순서대로 놓고 값을 넣는다</a:t>
            </a:r>
            <a:endParaRPr lang="en-US" sz="1300" dirty="0"/>
          </a:p>
        </p:txBody>
      </p:sp>
      <p:sp>
        <p:nvSpPr>
          <p:cNvPr id="18" name="line_89"/>
          <p:cNvSpPr/>
          <p:nvPr/>
        </p:nvSpPr>
        <p:spPr>
          <a:xfrm>
            <a:off x="7104888" y="2423160"/>
            <a:ext cx="256032" cy="0"/>
          </a:xfrm>
          <a:prstGeom prst="line">
            <a:avLst/>
          </a:prstGeom>
          <a:noFill/>
          <a:ln w="19050">
            <a:solidFill>
              <a:schemeClr val="accent3"/>
            </a:solidFill>
            <a:prstDash val="solid"/>
            <a:tailEnd type="triangle"/>
          </a:ln>
        </p:spPr>
      </p:sp>
      <p:sp>
        <p:nvSpPr>
          <p:cNvPr id="19" name="card_90"/>
          <p:cNvSpPr/>
          <p:nvPr/>
        </p:nvSpPr>
        <p:spPr>
          <a:xfrm>
            <a:off x="7406640" y="1508760"/>
            <a:ext cx="1938528" cy="1828800"/>
          </a:xfrm>
          <a:prstGeom prst="roundRect">
            <a:avLst>
              <a:gd name="adj" fmla="val 5000"/>
            </a:avLst>
          </a:prstGeom>
          <a:solidFill>
            <a:schemeClr val="bg1"/>
          </a:solidFill>
          <a:ln w="12700">
            <a:solidFill>
              <a:schemeClr val="accent3"/>
            </a:solidFill>
            <a:prstDash val="solid"/>
          </a:ln>
          <a:effectLst>
            <a:outerShdw sx="100000" sy="100000" kx="0" ky="0" algn="bl" rotWithShape="0" blurRad="76200" dist="25400" dir="5400000">
              <a:srgbClr val="1E2B2F">
                <a:alpha val="12000"/>
              </a:srgbClr>
            </a:outerShdw>
          </a:effectLst>
        </p:spPr>
      </p:sp>
      <p:sp>
        <p:nvSpPr>
          <p:cNvPr id="20" name="badge_91"/>
          <p:cNvSpPr txBox="1"/>
          <p:nvPr/>
        </p:nvSpPr>
        <p:spPr>
          <a:xfrm>
            <a:off x="7589520" y="16916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_92"/>
          <p:cNvSpPr txBox="1"/>
          <p:nvPr/>
        </p:nvSpPr>
        <p:spPr>
          <a:xfrm>
            <a:off x="7589520" y="2194560"/>
            <a:ext cx="1572768" cy="365760"/>
          </a:xfrm>
          <a:prstGeom prst="rect">
            <a:avLst/>
          </a:prstGeom>
          <a:noFill/>
          <a:ln/>
        </p:spPr>
        <p:txBody>
          <a:bodyPr wrap="square" lIns="0" tIns="0" rIns="0" bIns="0" rtlCol="0" anchor="t"/>
          <a:lstStyle/>
          <a:p>
            <a:pPr indent="0" marL="0">
              <a:buNone/>
            </a:pPr>
            <a:r>
              <a:rPr lang="en-US" sz="1700" b="1" dirty="0">
                <a:solidFill>
                  <a:schemeClr val="tx1"/>
                </a:solidFill>
              </a:rPr>
              <a:t>실행</a:t>
            </a:r>
            <a:endParaRPr lang="en-US" sz="1700" dirty="0"/>
          </a:p>
        </p:txBody>
      </p:sp>
      <p:sp>
        <p:nvSpPr>
          <p:cNvPr id="22" name="text_93"/>
          <p:cNvSpPr txBox="1"/>
          <p:nvPr/>
        </p:nvSpPr>
        <p:spPr>
          <a:xfrm>
            <a:off x="7589520" y="2560320"/>
            <a:ext cx="1572768" cy="731520"/>
          </a:xfrm>
          <a:prstGeom prst="rect">
            <a:avLst/>
          </a:prstGeom>
          <a:noFill/>
          <a:ln/>
        </p:spPr>
        <p:txBody>
          <a:bodyPr wrap="square" lIns="0" tIns="0" rIns="0" bIns="0" rtlCol="0" anchor="t"/>
          <a:lstStyle/>
          <a:p>
            <a:pPr indent="0" marL="0">
              <a:buNone/>
            </a:pPr>
            <a:r>
              <a:rPr lang="en-US" sz="1300" dirty="0">
                <a:solidFill>
                  <a:schemeClr val="accent6"/>
                </a:solidFill>
              </a:rPr>
              <a:t>ScratchBook에서 시험, ExecutionList로 정식 실행</a:t>
            </a:r>
            <a:endParaRPr lang="en-US" sz="1300" dirty="0"/>
          </a:p>
        </p:txBody>
      </p:sp>
      <p:sp>
        <p:nvSpPr>
          <p:cNvPr id="23" name="line_94"/>
          <p:cNvSpPr/>
          <p:nvPr/>
        </p:nvSpPr>
        <p:spPr>
          <a:xfrm>
            <a:off x="9390888" y="2423160"/>
            <a:ext cx="256032" cy="0"/>
          </a:xfrm>
          <a:prstGeom prst="line">
            <a:avLst/>
          </a:prstGeom>
          <a:noFill/>
          <a:ln w="19050">
            <a:solidFill>
              <a:schemeClr val="accent3"/>
            </a:solidFill>
            <a:prstDash val="solid"/>
            <a:tailEnd type="triangle"/>
          </a:ln>
        </p:spPr>
      </p:sp>
      <p:sp>
        <p:nvSpPr>
          <p:cNvPr id="24" name="card_95"/>
          <p:cNvSpPr/>
          <p:nvPr/>
        </p:nvSpPr>
        <p:spPr>
          <a:xfrm>
            <a:off x="9692640" y="1508760"/>
            <a:ext cx="1938528" cy="1828800"/>
          </a:xfrm>
          <a:prstGeom prst="roundRect">
            <a:avLst>
              <a:gd name="adj" fmla="val 5000"/>
            </a:avLst>
          </a:prstGeom>
          <a:solidFill>
            <a:schemeClr val="bg1"/>
          </a:solidFill>
          <a:ln w="12700">
            <a:solidFill>
              <a:schemeClr val="accent3"/>
            </a:solidFill>
            <a:prstDash val="solid"/>
          </a:ln>
          <a:effectLst>
            <a:outerShdw sx="100000" sy="100000" kx="0" ky="0" algn="bl" rotWithShape="0" blurRad="76200" dist="25400" dir="5400000">
              <a:srgbClr val="1E2B2F">
                <a:alpha val="12000"/>
              </a:srgbClr>
            </a:outerShdw>
          </a:effectLst>
        </p:spPr>
      </p:sp>
      <p:sp>
        <p:nvSpPr>
          <p:cNvPr id="25" name="badge_96"/>
          <p:cNvSpPr txBox="1"/>
          <p:nvPr/>
        </p:nvSpPr>
        <p:spPr>
          <a:xfrm>
            <a:off x="9875520" y="16916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_97"/>
          <p:cNvSpPr txBox="1"/>
          <p:nvPr/>
        </p:nvSpPr>
        <p:spPr>
          <a:xfrm>
            <a:off x="9875520" y="2194560"/>
            <a:ext cx="1572768" cy="365760"/>
          </a:xfrm>
          <a:prstGeom prst="rect">
            <a:avLst/>
          </a:prstGeom>
          <a:noFill/>
          <a:ln/>
        </p:spPr>
        <p:txBody>
          <a:bodyPr wrap="square" lIns="0" tIns="0" rIns="0" bIns="0" rtlCol="0" anchor="t"/>
          <a:lstStyle/>
          <a:p>
            <a:pPr indent="0" marL="0">
              <a:buNone/>
            </a:pPr>
            <a:r>
              <a:rPr lang="en-US" sz="1700" b="1" dirty="0">
                <a:solidFill>
                  <a:schemeClr val="tx1"/>
                </a:solidFill>
              </a:rPr>
              <a:t>결과 분석</a:t>
            </a:r>
            <a:endParaRPr lang="en-US" sz="1700" dirty="0"/>
          </a:p>
        </p:txBody>
      </p:sp>
      <p:sp>
        <p:nvSpPr>
          <p:cNvPr id="27" name="text_98"/>
          <p:cNvSpPr txBox="1"/>
          <p:nvPr/>
        </p:nvSpPr>
        <p:spPr>
          <a:xfrm>
            <a:off x="9875520" y="2560320"/>
            <a:ext cx="1572768" cy="731520"/>
          </a:xfrm>
          <a:prstGeom prst="rect">
            <a:avLst/>
          </a:prstGeom>
          <a:noFill/>
          <a:ln/>
        </p:spPr>
        <p:txBody>
          <a:bodyPr wrap="square" lIns="0" tIns="0" rIns="0" bIns="0" rtlCol="0" anchor="t"/>
          <a:lstStyle/>
          <a:p>
            <a:pPr indent="0" marL="0">
              <a:buNone/>
            </a:pPr>
            <a:r>
              <a:rPr lang="en-US" sz="1300" dirty="0">
                <a:solidFill>
                  <a:schemeClr val="accent6"/>
                </a:solidFill>
              </a:rPr>
              <a:t>실패한 스텝과 원인을 확인한다</a:t>
            </a:r>
            <a:endParaRPr lang="en-US" sz="1300" dirty="0"/>
          </a:p>
        </p:txBody>
      </p:sp>
      <p:sp>
        <p:nvSpPr>
          <p:cNvPr id="28" name="chip_99"/>
          <p:cNvSpPr txBox="1"/>
          <p:nvPr/>
        </p:nvSpPr>
        <p:spPr>
          <a:xfrm>
            <a:off x="548640" y="3611880"/>
            <a:ext cx="1938528" cy="457200"/>
          </a:xfrm>
          <a:prstGeom prst="roundRect">
            <a:avLst>
              <a:gd name="adj" fmla="val 12000"/>
            </a:avLst>
          </a:prstGeom>
          <a:solidFill>
            <a:schemeClr val="bg2"/>
          </a:solidFill>
          <a:ln/>
        </p:spPr>
        <p:txBody>
          <a:bodyPr wrap="square" lIns="0" tIns="50800" rIns="50800" bIns="0" rtlCol="0" anchor="ctr"/>
          <a:lstStyle/>
          <a:p>
            <a:pPr algn="ctr" indent="0" marL="0">
              <a:buNone/>
            </a:pPr>
            <a:r>
              <a:rPr lang="en-US" sz="1300" b="1" dirty="0">
                <a:solidFill>
                  <a:schemeClr val="tx1"/>
                </a:solidFill>
              </a:rPr>
              <a:t>사람이 직접</a:t>
            </a:r>
            <a:endParaRPr lang="en-US" sz="1300" dirty="0"/>
          </a:p>
        </p:txBody>
      </p:sp>
      <p:sp>
        <p:nvSpPr>
          <p:cNvPr id="29" name="chip_100"/>
          <p:cNvSpPr txBox="1"/>
          <p:nvPr/>
        </p:nvSpPr>
        <p:spPr>
          <a:xfrm>
            <a:off x="2834640" y="3611880"/>
            <a:ext cx="8805672" cy="457200"/>
          </a:xfrm>
          <a:prstGeom prst="roundRect">
            <a:avLst>
              <a:gd name="adj" fmla="val 12000"/>
            </a:avLst>
          </a:prstGeom>
          <a:solidFill>
            <a:schemeClr val="accent2">
              <a:alpha val="80000"/>
            </a:schemeClr>
          </a:solidFill>
          <a:ln/>
        </p:spPr>
        <p:txBody>
          <a:bodyPr wrap="square" lIns="0" tIns="50800" rIns="50800" bIns="0" rtlCol="0" anchor="ctr"/>
          <a:lstStyle/>
          <a:p>
            <a:pPr algn="ctr" indent="0" marL="0">
              <a:buNone/>
            </a:pPr>
            <a:r>
              <a:rPr lang="en-US" sz="1300" b="1" dirty="0">
                <a:solidFill>
                  <a:schemeClr val="tx1"/>
                </a:solidFill>
              </a:rPr>
              <a:t>AI 어시스턴트 + MCP로 요청 가능</a:t>
            </a:r>
            <a:endParaRPr lang="en-US" sz="1300" dirty="0"/>
          </a:p>
        </p:txBody>
      </p:sp>
      <p:sp>
        <p:nvSpPr>
          <p:cNvPr id="30" name="card_101"/>
          <p:cNvSpPr/>
          <p:nvPr/>
        </p:nvSpPr>
        <p:spPr>
          <a:xfrm>
            <a:off x="548640" y="4389120"/>
            <a:ext cx="5394960" cy="1554480"/>
          </a:xfrm>
          <a:prstGeom prst="roundRect">
            <a:avLst>
              <a:gd name="adj" fmla="val 5882"/>
            </a:avLst>
          </a:prstGeom>
          <a:solidFill>
            <a:schemeClr val="bg2"/>
          </a:solidFill>
          <a:ln/>
        </p:spPr>
      </p:sp>
      <p:pic>
        <p:nvPicPr>
          <p:cNvPr id="31" name="icon_102" descr="preencoded.png">    </p:cNvPr>
          <p:cNvPicPr>
            <a:picLocks noChangeAspect="1"/>
          </p:cNvPicPr>
          <p:nvPr/>
        </p:nvPicPr>
        <p:blipFill>
          <a:blip r:embed="rId1"/>
          <a:stretch>
            <a:fillRect/>
          </a:stretch>
        </p:blipFill>
        <p:spPr>
          <a:xfrm>
            <a:off x="777240" y="4617720"/>
            <a:ext cx="411480" cy="411480"/>
          </a:xfrm>
          <a:prstGeom prst="rect">
            <a:avLst/>
          </a:prstGeom>
        </p:spPr>
      </p:pic>
      <p:sp>
        <p:nvSpPr>
          <p:cNvPr id="32" name="text_103"/>
          <p:cNvSpPr txBox="1"/>
          <p:nvPr/>
        </p:nvSpPr>
        <p:spPr>
          <a:xfrm>
            <a:off x="1325880" y="4572000"/>
            <a:ext cx="4389120" cy="365760"/>
          </a:xfrm>
          <a:prstGeom prst="rect">
            <a:avLst/>
          </a:prstGeom>
          <a:noFill/>
          <a:ln/>
        </p:spPr>
        <p:txBody>
          <a:bodyPr wrap="square" lIns="0" tIns="0" rIns="0" bIns="0" rtlCol="0" anchor="t"/>
          <a:lstStyle/>
          <a:p>
            <a:pPr indent="0" marL="0">
              <a:buNone/>
            </a:pPr>
            <a:r>
              <a:rPr lang="en-US" sz="1600" b="1" dirty="0">
                <a:solidFill>
                  <a:schemeClr val="tx1"/>
                </a:solidFill>
              </a:rPr>
              <a:t>새 화면은 사람이 스캔</a:t>
            </a:r>
            <a:endParaRPr lang="en-US" sz="1600" dirty="0"/>
          </a:p>
        </p:txBody>
      </p:sp>
      <p:sp>
        <p:nvSpPr>
          <p:cNvPr id="33" name="text_104"/>
          <p:cNvSpPr txBox="1"/>
          <p:nvPr/>
        </p:nvSpPr>
        <p:spPr>
          <a:xfrm>
            <a:off x="1325880" y="4956048"/>
            <a:ext cx="4434840" cy="868680"/>
          </a:xfrm>
          <a:prstGeom prst="rect">
            <a:avLst/>
          </a:prstGeom>
          <a:noFill/>
          <a:ln/>
        </p:spPr>
        <p:txBody>
          <a:bodyPr wrap="square" lIns="0" tIns="0" rIns="0" bIns="0" rtlCol="0" anchor="t"/>
          <a:lstStyle/>
          <a:p>
            <a:pPr indent="0" marL="0">
              <a:buNone/>
            </a:pPr>
            <a:r>
              <a:rPr lang="en-US" sz="1400" dirty="0">
                <a:solidFill>
                  <a:schemeClr val="tx1"/>
                </a:solidFill>
              </a:rPr>
              <a:t>MCP는 이미 있는 모듈만 재사용한다. 새 화면이나 바뀐 화면은 XScan에서 직접 스캔해야 한다.</a:t>
            </a:r>
            <a:endParaRPr lang="en-US" sz="1400" dirty="0"/>
          </a:p>
        </p:txBody>
      </p:sp>
      <p:sp>
        <p:nvSpPr>
          <p:cNvPr id="34" name="card_105"/>
          <p:cNvSpPr/>
          <p:nvPr/>
        </p:nvSpPr>
        <p:spPr>
          <a:xfrm>
            <a:off x="6245352" y="4389120"/>
            <a:ext cx="5394960" cy="1554480"/>
          </a:xfrm>
          <a:prstGeom prst="roundRect">
            <a:avLst>
              <a:gd name="adj" fmla="val 5882"/>
            </a:avLst>
          </a:prstGeom>
          <a:solidFill>
            <a:schemeClr val="accent2">
              <a:alpha val="14000"/>
            </a:schemeClr>
          </a:solidFill>
          <a:ln/>
        </p:spPr>
      </p:sp>
      <p:pic>
        <p:nvPicPr>
          <p:cNvPr id="35" name="icon_106" descr="preencoded.png">    </p:cNvPr>
          <p:cNvPicPr>
            <a:picLocks noChangeAspect="1"/>
          </p:cNvPicPr>
          <p:nvPr/>
        </p:nvPicPr>
        <p:blipFill>
          <a:blip r:embed="rId2"/>
          <a:stretch>
            <a:fillRect/>
          </a:stretch>
        </p:blipFill>
        <p:spPr>
          <a:xfrm>
            <a:off x="6473952" y="4617720"/>
            <a:ext cx="411480" cy="411480"/>
          </a:xfrm>
          <a:prstGeom prst="rect">
            <a:avLst/>
          </a:prstGeom>
        </p:spPr>
      </p:pic>
      <p:sp>
        <p:nvSpPr>
          <p:cNvPr id="36" name="text_107"/>
          <p:cNvSpPr txBox="1"/>
          <p:nvPr/>
        </p:nvSpPr>
        <p:spPr>
          <a:xfrm>
            <a:off x="7022592" y="4572000"/>
            <a:ext cx="4389120" cy="365760"/>
          </a:xfrm>
          <a:prstGeom prst="rect">
            <a:avLst/>
          </a:prstGeom>
          <a:noFill/>
          <a:ln/>
        </p:spPr>
        <p:txBody>
          <a:bodyPr wrap="square" lIns="0" tIns="0" rIns="0" bIns="0" rtlCol="0" anchor="t"/>
          <a:lstStyle/>
          <a:p>
            <a:pPr indent="0" marL="0">
              <a:buNone/>
            </a:pPr>
            <a:r>
              <a:rPr lang="en-US" sz="1600" b="1" dirty="0">
                <a:solidFill>
                  <a:schemeClr val="tx1"/>
                </a:solidFill>
              </a:rPr>
              <a:t>나머지는 말로 요청</a:t>
            </a:r>
            <a:endParaRPr lang="en-US" sz="1600" dirty="0"/>
          </a:p>
        </p:txBody>
      </p:sp>
      <p:sp>
        <p:nvSpPr>
          <p:cNvPr id="37" name="text_108"/>
          <p:cNvSpPr txBox="1"/>
          <p:nvPr/>
        </p:nvSpPr>
        <p:spPr>
          <a:xfrm>
            <a:off x="7022592" y="4956048"/>
            <a:ext cx="4434840" cy="868680"/>
          </a:xfrm>
          <a:prstGeom prst="rect">
            <a:avLst/>
          </a:prstGeom>
          <a:noFill/>
          <a:ln/>
        </p:spPr>
        <p:txBody>
          <a:bodyPr wrap="square" lIns="0" tIns="0" rIns="0" bIns="0" rtlCol="0" anchor="t"/>
          <a:lstStyle/>
          <a:p>
            <a:pPr indent="0" marL="0">
              <a:buNone/>
            </a:pPr>
            <a:r>
              <a:rPr lang="en-US" sz="1400" dirty="0">
                <a:solidFill>
                  <a:schemeClr val="tx1"/>
                </a:solidFill>
              </a:rPr>
              <a:t>모듈 찾기, 테스트케이스 작성, 검증 실행, 실패 원인 분석을 문장으로 요청할 수 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3657600" cy="1280160"/>
          </a:xfrm>
          <a:prstGeom prst="rect">
            <a:avLst/>
          </a:prstGeom>
          <a:noFill/>
          <a:ln/>
        </p:spPr>
        <p:txBody>
          <a:bodyPr wrap="square" lIns="0" tIns="0" rIns="0" bIns="0" rtlCol="0" anchor="b"/>
          <a:lstStyle/>
          <a:p>
            <a:pPr algn="l" indent="0" marL="0">
              <a:buNone/>
            </a:pPr>
            <a:r>
              <a:rPr lang="en-US" sz="7200" b="1" dirty="0">
                <a:solidFill>
                  <a:schemeClr val="accent2"/>
                </a:solidFill>
              </a:rPr>
              <a:t>01</a:t>
            </a:r>
            <a:endParaRPr lang="en-US" sz="7200" dirty="0"/>
          </a:p>
        </p:txBody>
      </p:sp>
      <p:sp>
        <p:nvSpPr>
          <p:cNvPr id="3" name="Text 0"/>
          <p:cNvSpPr/>
          <p:nvPr>
            <p:ph idx="101" type="title" hasCustomPrompt="1"/>
          </p:nvPr>
        </p:nvSpPr>
        <p:spPr>
          <a:xfrm>
            <a:off x="731520" y="2971800"/>
            <a:ext cx="10515600" cy="914400"/>
          </a:xfrm>
          <a:prstGeom prst="rect">
            <a:avLst/>
          </a:prstGeom>
          <a:noFill/>
          <a:ln/>
        </p:spPr>
        <p:txBody>
          <a:bodyPr wrap="square" lIns="0" tIns="0" rIns="0" bIns="0" rtlCol="0" anchor="ctr"/>
          <a:lstStyle/>
          <a:p>
            <a:pPr algn="l" indent="0" marL="0">
              <a:buNone/>
            </a:pPr>
            <a:r>
              <a:rPr lang="en-US" sz="3800" b="1" dirty="0">
                <a:solidFill>
                  <a:schemeClr val="bg1"/>
                </a:solidFill>
              </a:rPr>
              <a:t>Tosca MCP 이해</a:t>
            </a:r>
            <a:endParaRPr lang="en-US" sz="3800" dirty="0"/>
          </a:p>
        </p:txBody>
      </p:sp>
      <p:sp>
        <p:nvSpPr>
          <p:cNvPr id="4" name="Text 0"/>
          <p:cNvSpPr/>
          <p:nvPr>
            <p:ph idx="102" type="body" hasCustomPrompt="1"/>
          </p:nvPr>
        </p:nvSpPr>
        <p:spPr>
          <a:xfrm>
            <a:off x="731520" y="3977640"/>
            <a:ext cx="10515600" cy="731520"/>
          </a:xfrm>
          <a:prstGeom prst="rect">
            <a:avLst/>
          </a:prstGeom>
          <a:noFill/>
          <a:ln/>
        </p:spPr>
        <p:txBody>
          <a:bodyPr wrap="square" lIns="0" tIns="0" rIns="0" bIns="0" rtlCol="0" anchor="t"/>
          <a:lstStyle/>
          <a:p>
            <a:pPr algn="l" indent="0" marL="0">
              <a:buNone/>
            </a:pPr>
            <a:r>
              <a:rPr lang="en-US" sz="1800" dirty="0">
                <a:solidFill>
                  <a:schemeClr val="bg2"/>
                </a:solidFill>
              </a:rPr>
              <a:t>MCP가 무엇인지, Commander에서 AI가 무엇을 할 수 있고 무엇은 못 하는지</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MCP는 AI와 프로그램을 잇는 표준 규격</a:t>
            </a:r>
            <a:endParaRPr lang="en-US" sz="3200" dirty="0"/>
          </a:p>
        </p:txBody>
      </p:sp>
      <p:sp>
        <p:nvSpPr>
          <p:cNvPr id="4" name="badge_109"/>
          <p:cNvSpPr txBox="1"/>
          <p:nvPr/>
        </p:nvSpPr>
        <p:spPr>
          <a:xfrm>
            <a:off x="548640" y="150876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_110"/>
          <p:cNvSpPr txBox="1"/>
          <p:nvPr/>
        </p:nvSpPr>
        <p:spPr>
          <a:xfrm>
            <a:off x="1097280" y="1463040"/>
            <a:ext cx="4754880" cy="457200"/>
          </a:xfrm>
          <a:prstGeom prst="rect">
            <a:avLst/>
          </a:prstGeom>
          <a:noFill/>
          <a:ln/>
        </p:spPr>
        <p:txBody>
          <a:bodyPr wrap="square" lIns="0" tIns="0" rIns="0" bIns="0" rtlCol="0" anchor="ctr"/>
          <a:lstStyle/>
          <a:p>
            <a:pPr indent="0" marL="0">
              <a:buNone/>
            </a:pPr>
            <a:r>
              <a:rPr lang="en-US" sz="1600" b="1" dirty="0">
                <a:solidFill>
                  <a:schemeClr val="tx1"/>
                </a:solidFill>
              </a:rPr>
              <a:t>AI가 외부 프로그램을 도구로 쓰게 하는 규격</a:t>
            </a:r>
            <a:endParaRPr lang="en-US" sz="1600" dirty="0"/>
          </a:p>
        </p:txBody>
      </p:sp>
      <p:sp>
        <p:nvSpPr>
          <p:cNvPr id="6" name="text_111"/>
          <p:cNvSpPr txBox="1"/>
          <p:nvPr/>
        </p:nvSpPr>
        <p:spPr>
          <a:xfrm>
            <a:off x="1097280" y="1920240"/>
            <a:ext cx="4754880" cy="502920"/>
          </a:xfrm>
          <a:prstGeom prst="rect">
            <a:avLst/>
          </a:prstGeom>
          <a:noFill/>
          <a:ln/>
        </p:spPr>
        <p:txBody>
          <a:bodyPr wrap="square" lIns="0" tIns="0" rIns="0" bIns="0" rtlCol="0" anchor="t"/>
          <a:lstStyle/>
          <a:p>
            <a:pPr indent="0" marL="0">
              <a:buNone/>
            </a:pPr>
            <a:r>
              <a:rPr lang="en-US" sz="1300" dirty="0">
                <a:solidFill>
                  <a:schemeClr val="accent6"/>
                </a:solidFill>
              </a:rPr>
              <a:t>Model Context Protocol의 약자. 누구나 쓸 수 있는 공개 규격</a:t>
            </a:r>
            <a:endParaRPr lang="en-US" sz="1300" dirty="0"/>
          </a:p>
        </p:txBody>
      </p:sp>
      <p:sp>
        <p:nvSpPr>
          <p:cNvPr id="7" name="badge_112"/>
          <p:cNvSpPr txBox="1"/>
          <p:nvPr/>
        </p:nvSpPr>
        <p:spPr>
          <a:xfrm>
            <a:off x="548640" y="262432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text_113"/>
          <p:cNvSpPr txBox="1"/>
          <p:nvPr/>
        </p:nvSpPr>
        <p:spPr>
          <a:xfrm>
            <a:off x="1097280" y="2578608"/>
            <a:ext cx="4754880" cy="457200"/>
          </a:xfrm>
          <a:prstGeom prst="rect">
            <a:avLst/>
          </a:prstGeom>
          <a:noFill/>
          <a:ln/>
        </p:spPr>
        <p:txBody>
          <a:bodyPr wrap="square" lIns="0" tIns="0" rIns="0" bIns="0" rtlCol="0" anchor="ctr"/>
          <a:lstStyle/>
          <a:p>
            <a:pPr indent="0" marL="0">
              <a:buNone/>
            </a:pPr>
            <a:r>
              <a:rPr lang="en-US" sz="1600" b="1" dirty="0">
                <a:solidFill>
                  <a:schemeClr val="tx1"/>
                </a:solidFill>
              </a:rPr>
              <a:t>2024년 11월 Anthropic 공개</a:t>
            </a:r>
            <a:endParaRPr lang="en-US" sz="1600" dirty="0"/>
          </a:p>
        </p:txBody>
      </p:sp>
      <p:sp>
        <p:nvSpPr>
          <p:cNvPr id="9" name="text_114"/>
          <p:cNvSpPr txBox="1"/>
          <p:nvPr/>
        </p:nvSpPr>
        <p:spPr>
          <a:xfrm>
            <a:off x="1097280" y="3035808"/>
            <a:ext cx="4754880" cy="502920"/>
          </a:xfrm>
          <a:prstGeom prst="rect">
            <a:avLst/>
          </a:prstGeom>
          <a:noFill/>
          <a:ln/>
        </p:spPr>
        <p:txBody>
          <a:bodyPr wrap="square" lIns="0" tIns="0" rIns="0" bIns="0" rtlCol="0" anchor="t"/>
          <a:lstStyle/>
          <a:p>
            <a:pPr indent="0" marL="0">
              <a:buNone/>
            </a:pPr>
            <a:r>
              <a:rPr lang="en-US" sz="1300" dirty="0">
                <a:solidFill>
                  <a:schemeClr val="accent6"/>
                </a:solidFill>
              </a:rPr>
              <a:t>2025년 12월 Linux Foundation 산하 Agentic AI Foundation으로 이관</a:t>
            </a:r>
            <a:endParaRPr lang="en-US" sz="1300" dirty="0"/>
          </a:p>
        </p:txBody>
      </p:sp>
      <p:sp>
        <p:nvSpPr>
          <p:cNvPr id="10" name="badge_115"/>
          <p:cNvSpPr txBox="1"/>
          <p:nvPr/>
        </p:nvSpPr>
        <p:spPr>
          <a:xfrm>
            <a:off x="548640" y="373989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text_116"/>
          <p:cNvSpPr txBox="1"/>
          <p:nvPr/>
        </p:nvSpPr>
        <p:spPr>
          <a:xfrm>
            <a:off x="1097280" y="3694176"/>
            <a:ext cx="4754880" cy="457200"/>
          </a:xfrm>
          <a:prstGeom prst="rect">
            <a:avLst/>
          </a:prstGeom>
          <a:noFill/>
          <a:ln/>
        </p:spPr>
        <p:txBody>
          <a:bodyPr wrap="square" lIns="0" tIns="0" rIns="0" bIns="0" rtlCol="0" anchor="ctr"/>
          <a:lstStyle/>
          <a:p>
            <a:pPr indent="0" marL="0">
              <a:buNone/>
            </a:pPr>
            <a:r>
              <a:rPr lang="en-US" sz="1600" b="1" dirty="0">
                <a:solidFill>
                  <a:schemeClr val="tx1"/>
                </a:solidFill>
              </a:rPr>
              <a:t>Claude, GitHub Copilot, Cursor 등이 지원</a:t>
            </a:r>
            <a:endParaRPr lang="en-US" sz="1600" dirty="0"/>
          </a:p>
        </p:txBody>
      </p:sp>
      <p:sp>
        <p:nvSpPr>
          <p:cNvPr id="12" name="text_117"/>
          <p:cNvSpPr txBox="1"/>
          <p:nvPr/>
        </p:nvSpPr>
        <p:spPr>
          <a:xfrm>
            <a:off x="1097280" y="4151376"/>
            <a:ext cx="4754880" cy="502920"/>
          </a:xfrm>
          <a:prstGeom prst="rect">
            <a:avLst/>
          </a:prstGeom>
          <a:noFill/>
          <a:ln/>
        </p:spPr>
        <p:txBody>
          <a:bodyPr wrap="square" lIns="0" tIns="0" rIns="0" bIns="0" rtlCol="0" anchor="t"/>
          <a:lstStyle/>
          <a:p>
            <a:pPr indent="0" marL="0">
              <a:buNone/>
            </a:pPr>
            <a:r>
              <a:rPr lang="en-US" sz="1300" dirty="0">
                <a:solidFill>
                  <a:schemeClr val="accent6"/>
                </a:solidFill>
              </a:rPr>
              <a:t>AI 앱 하나에 여러 MCP 서버를 붙일 수 있다</a:t>
            </a:r>
            <a:endParaRPr lang="en-US" sz="1300" dirty="0"/>
          </a:p>
        </p:txBody>
      </p:sp>
      <p:sp>
        <p:nvSpPr>
          <p:cNvPr id="13" name="badge_118"/>
          <p:cNvSpPr txBox="1"/>
          <p:nvPr/>
        </p:nvSpPr>
        <p:spPr>
          <a:xfrm>
            <a:off x="548640" y="48554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4" name="text_119"/>
          <p:cNvSpPr txBox="1"/>
          <p:nvPr/>
        </p:nvSpPr>
        <p:spPr>
          <a:xfrm>
            <a:off x="1097280" y="4809744"/>
            <a:ext cx="4754880" cy="457200"/>
          </a:xfrm>
          <a:prstGeom prst="rect">
            <a:avLst/>
          </a:prstGeom>
          <a:noFill/>
          <a:ln/>
        </p:spPr>
        <p:txBody>
          <a:bodyPr wrap="square" lIns="0" tIns="0" rIns="0" bIns="0" rtlCol="0" anchor="ctr"/>
          <a:lstStyle/>
          <a:p>
            <a:pPr indent="0" marL="0">
              <a:buNone/>
            </a:pPr>
            <a:r>
              <a:rPr lang="en-US" sz="1600" b="1" dirty="0">
                <a:solidFill>
                  <a:schemeClr val="tx1"/>
                </a:solidFill>
              </a:rPr>
              <a:t>흔히 'AI용 USB-C'에 비유</a:t>
            </a:r>
            <a:endParaRPr lang="en-US" sz="1600" dirty="0"/>
          </a:p>
        </p:txBody>
      </p:sp>
      <p:sp>
        <p:nvSpPr>
          <p:cNvPr id="15" name="text_120"/>
          <p:cNvSpPr txBox="1"/>
          <p:nvPr/>
        </p:nvSpPr>
        <p:spPr>
          <a:xfrm>
            <a:off x="1097280" y="5266944"/>
            <a:ext cx="4754880" cy="502920"/>
          </a:xfrm>
          <a:prstGeom prst="rect">
            <a:avLst/>
          </a:prstGeom>
          <a:noFill/>
          <a:ln/>
        </p:spPr>
        <p:txBody>
          <a:bodyPr wrap="square" lIns="0" tIns="0" rIns="0" bIns="0" rtlCol="0" anchor="t"/>
          <a:lstStyle/>
          <a:p>
            <a:pPr indent="0" marL="0">
              <a:buNone/>
            </a:pPr>
            <a:r>
              <a:rPr lang="en-US" sz="1300" dirty="0">
                <a:solidFill>
                  <a:schemeClr val="accent6"/>
                </a:solidFill>
              </a:rPr>
              <a:t>규격 하나만 맞추면 어느 쪽이든 연결된다</a:t>
            </a:r>
            <a:endParaRPr lang="en-US" sz="1300" dirty="0"/>
          </a:p>
        </p:txBody>
      </p:sp>
      <p:sp>
        <p:nvSpPr>
          <p:cNvPr id="16" name="card_121"/>
          <p:cNvSpPr/>
          <p:nvPr/>
        </p:nvSpPr>
        <p:spPr>
          <a:xfrm>
            <a:off x="6172200" y="1417320"/>
            <a:ext cx="2679192" cy="4526280"/>
          </a:xfrm>
          <a:prstGeom prst="roundRect">
            <a:avLst>
              <a:gd name="adj" fmla="val 3413"/>
            </a:avLst>
          </a:prstGeom>
          <a:solidFill>
            <a:schemeClr val="bg1"/>
          </a:solidFill>
          <a:ln w="15875">
            <a:solidFill>
              <a:schemeClr val="bg2"/>
            </a:solidFill>
            <a:prstDash val="solid"/>
          </a:ln>
        </p:spPr>
      </p:sp>
      <p:sp>
        <p:nvSpPr>
          <p:cNvPr id="17" name="text_122"/>
          <p:cNvSpPr txBox="1"/>
          <p:nvPr/>
        </p:nvSpPr>
        <p:spPr>
          <a:xfrm>
            <a:off x="6355080" y="1554480"/>
            <a:ext cx="2286000" cy="365760"/>
          </a:xfrm>
          <a:prstGeom prst="rect">
            <a:avLst/>
          </a:prstGeom>
          <a:noFill/>
          <a:ln/>
        </p:spPr>
        <p:txBody>
          <a:bodyPr wrap="square" lIns="0" tIns="0" rIns="0" bIns="0" rtlCol="0" anchor="t"/>
          <a:lstStyle/>
          <a:p>
            <a:pPr indent="0" marL="0">
              <a:buNone/>
            </a:pPr>
            <a:r>
              <a:rPr lang="en-US" sz="1400" b="1" dirty="0">
                <a:solidFill>
                  <a:schemeClr val="accent6"/>
                </a:solidFill>
              </a:rPr>
              <a:t>규격이 없을 때</a:t>
            </a:r>
            <a:endParaRPr lang="en-US" sz="1400" dirty="0"/>
          </a:p>
        </p:txBody>
      </p:sp>
      <p:sp>
        <p:nvSpPr>
          <p:cNvPr id="18" name="line_123"/>
          <p:cNvSpPr/>
          <p:nvPr/>
        </p:nvSpPr>
        <p:spPr>
          <a:xfrm>
            <a:off x="6995160" y="2560320"/>
            <a:ext cx="1033272" cy="0"/>
          </a:xfrm>
          <a:prstGeom prst="line">
            <a:avLst/>
          </a:prstGeom>
          <a:noFill/>
          <a:ln w="12700">
            <a:solidFill>
              <a:schemeClr val="accent5"/>
            </a:solidFill>
            <a:prstDash val="solid"/>
          </a:ln>
        </p:spPr>
      </p:sp>
      <p:sp>
        <p:nvSpPr>
          <p:cNvPr id="19" name="line_124"/>
          <p:cNvSpPr/>
          <p:nvPr/>
        </p:nvSpPr>
        <p:spPr>
          <a:xfrm>
            <a:off x="6995160" y="2560320"/>
            <a:ext cx="1033272" cy="1097280"/>
          </a:xfrm>
          <a:prstGeom prst="line">
            <a:avLst/>
          </a:prstGeom>
          <a:noFill/>
          <a:ln w="12700">
            <a:solidFill>
              <a:schemeClr val="accent5"/>
            </a:solidFill>
            <a:prstDash val="solid"/>
          </a:ln>
        </p:spPr>
      </p:sp>
      <p:sp>
        <p:nvSpPr>
          <p:cNvPr id="20" name="line_125"/>
          <p:cNvSpPr/>
          <p:nvPr/>
        </p:nvSpPr>
        <p:spPr>
          <a:xfrm>
            <a:off x="6995160" y="2560320"/>
            <a:ext cx="1033272" cy="2194560"/>
          </a:xfrm>
          <a:prstGeom prst="line">
            <a:avLst/>
          </a:prstGeom>
          <a:noFill/>
          <a:ln w="12700">
            <a:solidFill>
              <a:schemeClr val="accent5"/>
            </a:solidFill>
            <a:prstDash val="solid"/>
          </a:ln>
        </p:spPr>
      </p:sp>
      <p:sp>
        <p:nvSpPr>
          <p:cNvPr id="21" name="line_126"/>
          <p:cNvSpPr/>
          <p:nvPr/>
        </p:nvSpPr>
        <p:spPr>
          <a:xfrm flipV="1">
            <a:off x="6995160" y="2560320"/>
            <a:ext cx="1033272" cy="1097280"/>
          </a:xfrm>
          <a:prstGeom prst="line">
            <a:avLst/>
          </a:prstGeom>
          <a:noFill/>
          <a:ln w="12700">
            <a:solidFill>
              <a:schemeClr val="accent5"/>
            </a:solidFill>
            <a:prstDash val="solid"/>
          </a:ln>
        </p:spPr>
      </p:sp>
      <p:sp>
        <p:nvSpPr>
          <p:cNvPr id="22" name="line_127"/>
          <p:cNvSpPr/>
          <p:nvPr/>
        </p:nvSpPr>
        <p:spPr>
          <a:xfrm>
            <a:off x="6995160" y="3657600"/>
            <a:ext cx="1033272" cy="0"/>
          </a:xfrm>
          <a:prstGeom prst="line">
            <a:avLst/>
          </a:prstGeom>
          <a:noFill/>
          <a:ln w="12700">
            <a:solidFill>
              <a:schemeClr val="accent5"/>
            </a:solidFill>
            <a:prstDash val="solid"/>
          </a:ln>
        </p:spPr>
      </p:sp>
      <p:sp>
        <p:nvSpPr>
          <p:cNvPr id="23" name="line_128"/>
          <p:cNvSpPr/>
          <p:nvPr/>
        </p:nvSpPr>
        <p:spPr>
          <a:xfrm>
            <a:off x="6995160" y="3657600"/>
            <a:ext cx="1033272" cy="1097280"/>
          </a:xfrm>
          <a:prstGeom prst="line">
            <a:avLst/>
          </a:prstGeom>
          <a:noFill/>
          <a:ln w="12700">
            <a:solidFill>
              <a:schemeClr val="accent5"/>
            </a:solidFill>
            <a:prstDash val="solid"/>
          </a:ln>
        </p:spPr>
      </p:sp>
      <p:sp>
        <p:nvSpPr>
          <p:cNvPr id="24" name="line_129"/>
          <p:cNvSpPr/>
          <p:nvPr/>
        </p:nvSpPr>
        <p:spPr>
          <a:xfrm flipV="1">
            <a:off x="6995160" y="2560320"/>
            <a:ext cx="1033272" cy="2194560"/>
          </a:xfrm>
          <a:prstGeom prst="line">
            <a:avLst/>
          </a:prstGeom>
          <a:noFill/>
          <a:ln w="12700">
            <a:solidFill>
              <a:schemeClr val="accent5"/>
            </a:solidFill>
            <a:prstDash val="solid"/>
          </a:ln>
        </p:spPr>
      </p:sp>
      <p:sp>
        <p:nvSpPr>
          <p:cNvPr id="25" name="line_130"/>
          <p:cNvSpPr/>
          <p:nvPr/>
        </p:nvSpPr>
        <p:spPr>
          <a:xfrm flipV="1">
            <a:off x="6995160" y="3657600"/>
            <a:ext cx="1033272" cy="1097280"/>
          </a:xfrm>
          <a:prstGeom prst="line">
            <a:avLst/>
          </a:prstGeom>
          <a:noFill/>
          <a:ln w="12700">
            <a:solidFill>
              <a:schemeClr val="accent5"/>
            </a:solidFill>
            <a:prstDash val="solid"/>
          </a:ln>
        </p:spPr>
      </p:sp>
      <p:sp>
        <p:nvSpPr>
          <p:cNvPr id="26" name="line_131"/>
          <p:cNvSpPr/>
          <p:nvPr/>
        </p:nvSpPr>
        <p:spPr>
          <a:xfrm>
            <a:off x="6995160" y="4754880"/>
            <a:ext cx="1033272" cy="0"/>
          </a:xfrm>
          <a:prstGeom prst="line">
            <a:avLst/>
          </a:prstGeom>
          <a:noFill/>
          <a:ln w="12700">
            <a:solidFill>
              <a:schemeClr val="accent5"/>
            </a:solidFill>
            <a:prstDash val="solid"/>
          </a:ln>
        </p:spPr>
      </p:sp>
      <p:sp>
        <p:nvSpPr>
          <p:cNvPr id="27" name="chip_132"/>
          <p:cNvSpPr txBox="1"/>
          <p:nvPr/>
        </p:nvSpPr>
        <p:spPr>
          <a:xfrm>
            <a:off x="6355080" y="2331720"/>
            <a:ext cx="640080" cy="457200"/>
          </a:xfrm>
          <a:prstGeom prst="roundRect">
            <a:avLst>
              <a:gd name="adj" fmla="val 12000"/>
            </a:avLst>
          </a:prstGeom>
          <a:solidFill>
            <a:schemeClr val="accent1"/>
          </a:solidFill>
          <a:ln/>
        </p:spPr>
        <p:txBody>
          <a:bodyPr wrap="square" lIns="0" tIns="50800" rIns="50800" bIns="0" rtlCol="0" anchor="ctr"/>
          <a:lstStyle/>
          <a:p>
            <a:pPr algn="ctr" indent="0" marL="0">
              <a:buNone/>
            </a:pPr>
            <a:r>
              <a:rPr lang="en-US" sz="1100" dirty="0">
                <a:solidFill>
                  <a:schemeClr val="bg1"/>
                </a:solidFill>
              </a:rPr>
              <a:t>AI 앱</a:t>
            </a:r>
            <a:endParaRPr lang="en-US" sz="1100" dirty="0"/>
          </a:p>
        </p:txBody>
      </p:sp>
      <p:sp>
        <p:nvSpPr>
          <p:cNvPr id="28" name="chip_133"/>
          <p:cNvSpPr txBox="1"/>
          <p:nvPr/>
        </p:nvSpPr>
        <p:spPr>
          <a:xfrm>
            <a:off x="8028432" y="2331720"/>
            <a:ext cx="640080" cy="457200"/>
          </a:xfrm>
          <a:prstGeom prst="roundRect">
            <a:avLst>
              <a:gd name="adj" fmla="val 12000"/>
            </a:avLst>
          </a:prstGeom>
          <a:solidFill>
            <a:schemeClr val="bg1"/>
          </a:solidFill>
          <a:ln w="12700">
            <a:solidFill>
              <a:schemeClr val="accent1"/>
            </a:solidFill>
          </a:ln>
        </p:spPr>
        <p:txBody>
          <a:bodyPr wrap="square" lIns="0" tIns="50800" rIns="50800" bIns="0" rtlCol="0" anchor="ctr"/>
          <a:lstStyle/>
          <a:p>
            <a:pPr algn="ctr" indent="0" marL="0">
              <a:buNone/>
            </a:pPr>
            <a:r>
              <a:rPr lang="en-US" sz="1100" dirty="0">
                <a:solidFill>
                  <a:schemeClr val="tx1"/>
                </a:solidFill>
              </a:rPr>
              <a:t>도구</a:t>
            </a:r>
            <a:endParaRPr lang="en-US" sz="1100" dirty="0"/>
          </a:p>
        </p:txBody>
      </p:sp>
      <p:sp>
        <p:nvSpPr>
          <p:cNvPr id="29" name="chip_134"/>
          <p:cNvSpPr txBox="1"/>
          <p:nvPr/>
        </p:nvSpPr>
        <p:spPr>
          <a:xfrm>
            <a:off x="6355080" y="3429000"/>
            <a:ext cx="640080" cy="457200"/>
          </a:xfrm>
          <a:prstGeom prst="roundRect">
            <a:avLst>
              <a:gd name="adj" fmla="val 12000"/>
            </a:avLst>
          </a:prstGeom>
          <a:solidFill>
            <a:schemeClr val="accent1"/>
          </a:solidFill>
          <a:ln/>
        </p:spPr>
        <p:txBody>
          <a:bodyPr wrap="square" lIns="0" tIns="50800" rIns="50800" bIns="0" rtlCol="0" anchor="ctr"/>
          <a:lstStyle/>
          <a:p>
            <a:pPr algn="ctr" indent="0" marL="0">
              <a:buNone/>
            </a:pPr>
            <a:r>
              <a:rPr lang="en-US" sz="1100" dirty="0">
                <a:solidFill>
                  <a:schemeClr val="bg1"/>
                </a:solidFill>
              </a:rPr>
              <a:t>AI 앱</a:t>
            </a:r>
            <a:endParaRPr lang="en-US" sz="1100" dirty="0"/>
          </a:p>
        </p:txBody>
      </p:sp>
      <p:sp>
        <p:nvSpPr>
          <p:cNvPr id="30" name="chip_135"/>
          <p:cNvSpPr txBox="1"/>
          <p:nvPr/>
        </p:nvSpPr>
        <p:spPr>
          <a:xfrm>
            <a:off x="8028432" y="3429000"/>
            <a:ext cx="640080" cy="457200"/>
          </a:xfrm>
          <a:prstGeom prst="roundRect">
            <a:avLst>
              <a:gd name="adj" fmla="val 12000"/>
            </a:avLst>
          </a:prstGeom>
          <a:solidFill>
            <a:schemeClr val="bg1"/>
          </a:solidFill>
          <a:ln w="12700">
            <a:solidFill>
              <a:schemeClr val="accent1"/>
            </a:solidFill>
          </a:ln>
        </p:spPr>
        <p:txBody>
          <a:bodyPr wrap="square" lIns="0" tIns="50800" rIns="50800" bIns="0" rtlCol="0" anchor="ctr"/>
          <a:lstStyle/>
          <a:p>
            <a:pPr algn="ctr" indent="0" marL="0">
              <a:buNone/>
            </a:pPr>
            <a:r>
              <a:rPr lang="en-US" sz="1100" dirty="0">
                <a:solidFill>
                  <a:schemeClr val="tx1"/>
                </a:solidFill>
              </a:rPr>
              <a:t>도구</a:t>
            </a:r>
            <a:endParaRPr lang="en-US" sz="1100" dirty="0"/>
          </a:p>
        </p:txBody>
      </p:sp>
      <p:sp>
        <p:nvSpPr>
          <p:cNvPr id="31" name="chip_136"/>
          <p:cNvSpPr txBox="1"/>
          <p:nvPr/>
        </p:nvSpPr>
        <p:spPr>
          <a:xfrm>
            <a:off x="6355080" y="4526280"/>
            <a:ext cx="640080" cy="457200"/>
          </a:xfrm>
          <a:prstGeom prst="roundRect">
            <a:avLst>
              <a:gd name="adj" fmla="val 12000"/>
            </a:avLst>
          </a:prstGeom>
          <a:solidFill>
            <a:schemeClr val="accent1"/>
          </a:solidFill>
          <a:ln/>
        </p:spPr>
        <p:txBody>
          <a:bodyPr wrap="square" lIns="0" tIns="50800" rIns="50800" bIns="0" rtlCol="0" anchor="ctr"/>
          <a:lstStyle/>
          <a:p>
            <a:pPr algn="ctr" indent="0" marL="0">
              <a:buNone/>
            </a:pPr>
            <a:r>
              <a:rPr lang="en-US" sz="1100" dirty="0">
                <a:solidFill>
                  <a:schemeClr val="bg1"/>
                </a:solidFill>
              </a:rPr>
              <a:t>AI 앱</a:t>
            </a:r>
            <a:endParaRPr lang="en-US" sz="1100" dirty="0"/>
          </a:p>
        </p:txBody>
      </p:sp>
      <p:sp>
        <p:nvSpPr>
          <p:cNvPr id="32" name="chip_137"/>
          <p:cNvSpPr txBox="1"/>
          <p:nvPr/>
        </p:nvSpPr>
        <p:spPr>
          <a:xfrm>
            <a:off x="8028432" y="4526280"/>
            <a:ext cx="640080" cy="457200"/>
          </a:xfrm>
          <a:prstGeom prst="roundRect">
            <a:avLst>
              <a:gd name="adj" fmla="val 12000"/>
            </a:avLst>
          </a:prstGeom>
          <a:solidFill>
            <a:schemeClr val="bg1"/>
          </a:solidFill>
          <a:ln w="12700">
            <a:solidFill>
              <a:schemeClr val="accent1"/>
            </a:solidFill>
          </a:ln>
        </p:spPr>
        <p:txBody>
          <a:bodyPr wrap="square" lIns="0" tIns="50800" rIns="50800" bIns="0" rtlCol="0" anchor="ctr"/>
          <a:lstStyle/>
          <a:p>
            <a:pPr algn="ctr" indent="0" marL="0">
              <a:buNone/>
            </a:pPr>
            <a:r>
              <a:rPr lang="en-US" sz="1100" dirty="0">
                <a:solidFill>
                  <a:schemeClr val="tx1"/>
                </a:solidFill>
              </a:rPr>
              <a:t>도구</a:t>
            </a:r>
            <a:endParaRPr lang="en-US" sz="1100" dirty="0"/>
          </a:p>
        </p:txBody>
      </p:sp>
      <p:sp>
        <p:nvSpPr>
          <p:cNvPr id="33" name="text_138"/>
          <p:cNvSpPr txBox="1"/>
          <p:nvPr/>
        </p:nvSpPr>
        <p:spPr>
          <a:xfrm>
            <a:off x="6355080" y="5349240"/>
            <a:ext cx="2331720" cy="411480"/>
          </a:xfrm>
          <a:prstGeom prst="rect">
            <a:avLst/>
          </a:prstGeom>
          <a:noFill/>
          <a:ln/>
        </p:spPr>
        <p:txBody>
          <a:bodyPr wrap="square" lIns="0" tIns="0" rIns="0" bIns="0" rtlCol="0" anchor="t"/>
          <a:lstStyle/>
          <a:p>
            <a:pPr indent="0" marL="0">
              <a:buNone/>
            </a:pPr>
            <a:r>
              <a:rPr lang="en-US" sz="1200" b="1" dirty="0">
                <a:solidFill>
                  <a:schemeClr val="accent5"/>
                </a:solidFill>
              </a:rPr>
              <a:t>조합마다 따로 연동 9개</a:t>
            </a:r>
            <a:endParaRPr lang="en-US" sz="1200" dirty="0"/>
          </a:p>
        </p:txBody>
      </p:sp>
      <p:sp>
        <p:nvSpPr>
          <p:cNvPr id="34" name="card_139"/>
          <p:cNvSpPr/>
          <p:nvPr/>
        </p:nvSpPr>
        <p:spPr>
          <a:xfrm>
            <a:off x="8961120" y="1417320"/>
            <a:ext cx="2679192" cy="4526280"/>
          </a:xfrm>
          <a:prstGeom prst="roundRect">
            <a:avLst>
              <a:gd name="adj" fmla="val 3413"/>
            </a:avLst>
          </a:prstGeom>
          <a:solidFill>
            <a:schemeClr val="bg2"/>
          </a:solidFill>
          <a:ln/>
        </p:spPr>
      </p:sp>
      <p:sp>
        <p:nvSpPr>
          <p:cNvPr id="35" name="text_140"/>
          <p:cNvSpPr txBox="1"/>
          <p:nvPr/>
        </p:nvSpPr>
        <p:spPr>
          <a:xfrm>
            <a:off x="9144000" y="1554480"/>
            <a:ext cx="2286000" cy="365760"/>
          </a:xfrm>
          <a:prstGeom prst="rect">
            <a:avLst/>
          </a:prstGeom>
          <a:noFill/>
          <a:ln/>
        </p:spPr>
        <p:txBody>
          <a:bodyPr wrap="square" lIns="0" tIns="0" rIns="0" bIns="0" rtlCol="0" anchor="t"/>
          <a:lstStyle/>
          <a:p>
            <a:pPr indent="0" marL="0">
              <a:buNone/>
            </a:pPr>
            <a:r>
              <a:rPr lang="en-US" sz="1400" b="1" dirty="0">
                <a:solidFill>
                  <a:schemeClr val="tx2"/>
                </a:solidFill>
              </a:rPr>
              <a:t>MCP를 쓸 때</a:t>
            </a:r>
            <a:endParaRPr lang="en-US" sz="1400" dirty="0"/>
          </a:p>
        </p:txBody>
      </p:sp>
      <p:sp>
        <p:nvSpPr>
          <p:cNvPr id="36" name="line_141"/>
          <p:cNvSpPr/>
          <p:nvPr/>
        </p:nvSpPr>
        <p:spPr>
          <a:xfrm>
            <a:off x="9784080" y="2560320"/>
            <a:ext cx="146304" cy="1097280"/>
          </a:xfrm>
          <a:prstGeom prst="line">
            <a:avLst/>
          </a:prstGeom>
          <a:noFill/>
          <a:ln w="15875">
            <a:solidFill>
              <a:schemeClr val="accent1"/>
            </a:solidFill>
            <a:prstDash val="solid"/>
          </a:ln>
        </p:spPr>
      </p:sp>
      <p:sp>
        <p:nvSpPr>
          <p:cNvPr id="37" name="line_142"/>
          <p:cNvSpPr/>
          <p:nvPr/>
        </p:nvSpPr>
        <p:spPr>
          <a:xfrm flipV="1">
            <a:off x="10661904" y="2560320"/>
            <a:ext cx="155448" cy="1097280"/>
          </a:xfrm>
          <a:prstGeom prst="line">
            <a:avLst/>
          </a:prstGeom>
          <a:noFill/>
          <a:ln w="15875">
            <a:solidFill>
              <a:schemeClr val="accent1"/>
            </a:solidFill>
            <a:prstDash val="solid"/>
          </a:ln>
        </p:spPr>
      </p:sp>
      <p:sp>
        <p:nvSpPr>
          <p:cNvPr id="38" name="line_143"/>
          <p:cNvSpPr/>
          <p:nvPr/>
        </p:nvSpPr>
        <p:spPr>
          <a:xfrm>
            <a:off x="9784080" y="3657600"/>
            <a:ext cx="146304" cy="0"/>
          </a:xfrm>
          <a:prstGeom prst="line">
            <a:avLst/>
          </a:prstGeom>
          <a:noFill/>
          <a:ln w="15875">
            <a:solidFill>
              <a:schemeClr val="accent1"/>
            </a:solidFill>
            <a:prstDash val="solid"/>
          </a:ln>
        </p:spPr>
      </p:sp>
      <p:sp>
        <p:nvSpPr>
          <p:cNvPr id="39" name="line_144"/>
          <p:cNvSpPr/>
          <p:nvPr/>
        </p:nvSpPr>
        <p:spPr>
          <a:xfrm>
            <a:off x="10661904" y="3657600"/>
            <a:ext cx="155448" cy="0"/>
          </a:xfrm>
          <a:prstGeom prst="line">
            <a:avLst/>
          </a:prstGeom>
          <a:noFill/>
          <a:ln w="15875">
            <a:solidFill>
              <a:schemeClr val="accent1"/>
            </a:solidFill>
            <a:prstDash val="solid"/>
          </a:ln>
        </p:spPr>
      </p:sp>
      <p:sp>
        <p:nvSpPr>
          <p:cNvPr id="40" name="line_145"/>
          <p:cNvSpPr/>
          <p:nvPr/>
        </p:nvSpPr>
        <p:spPr>
          <a:xfrm flipV="1">
            <a:off x="9784080" y="3657600"/>
            <a:ext cx="146304" cy="1097280"/>
          </a:xfrm>
          <a:prstGeom prst="line">
            <a:avLst/>
          </a:prstGeom>
          <a:noFill/>
          <a:ln w="15875">
            <a:solidFill>
              <a:schemeClr val="accent1"/>
            </a:solidFill>
            <a:prstDash val="solid"/>
          </a:ln>
        </p:spPr>
      </p:sp>
      <p:sp>
        <p:nvSpPr>
          <p:cNvPr id="41" name="line_146"/>
          <p:cNvSpPr/>
          <p:nvPr/>
        </p:nvSpPr>
        <p:spPr>
          <a:xfrm>
            <a:off x="10661904" y="3657600"/>
            <a:ext cx="155448" cy="1097280"/>
          </a:xfrm>
          <a:prstGeom prst="line">
            <a:avLst/>
          </a:prstGeom>
          <a:noFill/>
          <a:ln w="15875">
            <a:solidFill>
              <a:schemeClr val="accent1"/>
            </a:solidFill>
            <a:prstDash val="solid"/>
          </a:ln>
        </p:spPr>
      </p:sp>
      <p:sp>
        <p:nvSpPr>
          <p:cNvPr id="42" name="chip_147"/>
          <p:cNvSpPr txBox="1"/>
          <p:nvPr/>
        </p:nvSpPr>
        <p:spPr>
          <a:xfrm>
            <a:off x="9930384" y="3291840"/>
            <a:ext cx="731520" cy="731520"/>
          </a:xfrm>
          <a:prstGeom prst="roundRect">
            <a:avLst>
              <a:gd name="adj" fmla="val 7500"/>
            </a:avLst>
          </a:prstGeom>
          <a:solidFill>
            <a:schemeClr val="accent2"/>
          </a:solidFill>
          <a:ln/>
        </p:spPr>
        <p:txBody>
          <a:bodyPr wrap="square" lIns="0" tIns="50800" rIns="50800" bIns="0" rtlCol="0" anchor="ctr"/>
          <a:lstStyle/>
          <a:p>
            <a:pPr algn="ctr" indent="0" marL="0">
              <a:buNone/>
            </a:pPr>
            <a:r>
              <a:rPr lang="en-US" sz="1300" b="1" dirty="0">
                <a:solidFill>
                  <a:schemeClr val="tx1"/>
                </a:solidFill>
              </a:rPr>
              <a:t>MCP</a:t>
            </a:r>
            <a:endParaRPr lang="en-US" sz="1300" dirty="0"/>
          </a:p>
        </p:txBody>
      </p:sp>
      <p:sp>
        <p:nvSpPr>
          <p:cNvPr id="43" name="chip_148"/>
          <p:cNvSpPr txBox="1"/>
          <p:nvPr/>
        </p:nvSpPr>
        <p:spPr>
          <a:xfrm>
            <a:off x="9144000" y="2331720"/>
            <a:ext cx="640080" cy="457200"/>
          </a:xfrm>
          <a:prstGeom prst="roundRect">
            <a:avLst>
              <a:gd name="adj" fmla="val 12000"/>
            </a:avLst>
          </a:prstGeom>
          <a:solidFill>
            <a:schemeClr val="accent1"/>
          </a:solidFill>
          <a:ln/>
        </p:spPr>
        <p:txBody>
          <a:bodyPr wrap="square" lIns="0" tIns="50800" rIns="50800" bIns="0" rtlCol="0" anchor="ctr"/>
          <a:lstStyle/>
          <a:p>
            <a:pPr algn="ctr" indent="0" marL="0">
              <a:buNone/>
            </a:pPr>
            <a:r>
              <a:rPr lang="en-US" sz="1100" dirty="0">
                <a:solidFill>
                  <a:schemeClr val="bg1"/>
                </a:solidFill>
              </a:rPr>
              <a:t>AI 앱</a:t>
            </a:r>
            <a:endParaRPr lang="en-US" sz="1100" dirty="0"/>
          </a:p>
        </p:txBody>
      </p:sp>
      <p:sp>
        <p:nvSpPr>
          <p:cNvPr id="44" name="chip_149"/>
          <p:cNvSpPr txBox="1"/>
          <p:nvPr/>
        </p:nvSpPr>
        <p:spPr>
          <a:xfrm>
            <a:off x="10817352" y="2331720"/>
            <a:ext cx="640080" cy="457200"/>
          </a:xfrm>
          <a:prstGeom prst="roundRect">
            <a:avLst>
              <a:gd name="adj" fmla="val 12000"/>
            </a:avLst>
          </a:prstGeom>
          <a:solidFill>
            <a:schemeClr val="bg1"/>
          </a:solidFill>
          <a:ln w="12700">
            <a:solidFill>
              <a:schemeClr val="accent1"/>
            </a:solidFill>
          </a:ln>
        </p:spPr>
        <p:txBody>
          <a:bodyPr wrap="square" lIns="0" tIns="50800" rIns="50800" bIns="0" rtlCol="0" anchor="ctr"/>
          <a:lstStyle/>
          <a:p>
            <a:pPr algn="ctr" indent="0" marL="0">
              <a:buNone/>
            </a:pPr>
            <a:r>
              <a:rPr lang="en-US" sz="1100" dirty="0">
                <a:solidFill>
                  <a:schemeClr val="tx1"/>
                </a:solidFill>
              </a:rPr>
              <a:t>도구</a:t>
            </a:r>
            <a:endParaRPr lang="en-US" sz="1100" dirty="0"/>
          </a:p>
        </p:txBody>
      </p:sp>
      <p:sp>
        <p:nvSpPr>
          <p:cNvPr id="45" name="chip_150"/>
          <p:cNvSpPr txBox="1"/>
          <p:nvPr/>
        </p:nvSpPr>
        <p:spPr>
          <a:xfrm>
            <a:off x="9144000" y="3429000"/>
            <a:ext cx="640080" cy="457200"/>
          </a:xfrm>
          <a:prstGeom prst="roundRect">
            <a:avLst>
              <a:gd name="adj" fmla="val 12000"/>
            </a:avLst>
          </a:prstGeom>
          <a:solidFill>
            <a:schemeClr val="accent1"/>
          </a:solidFill>
          <a:ln/>
        </p:spPr>
        <p:txBody>
          <a:bodyPr wrap="square" lIns="0" tIns="50800" rIns="50800" bIns="0" rtlCol="0" anchor="ctr"/>
          <a:lstStyle/>
          <a:p>
            <a:pPr algn="ctr" indent="0" marL="0">
              <a:buNone/>
            </a:pPr>
            <a:r>
              <a:rPr lang="en-US" sz="1100" dirty="0">
                <a:solidFill>
                  <a:schemeClr val="bg1"/>
                </a:solidFill>
              </a:rPr>
              <a:t>AI 앱</a:t>
            </a:r>
            <a:endParaRPr lang="en-US" sz="1100" dirty="0"/>
          </a:p>
        </p:txBody>
      </p:sp>
      <p:sp>
        <p:nvSpPr>
          <p:cNvPr id="46" name="chip_151"/>
          <p:cNvSpPr txBox="1"/>
          <p:nvPr/>
        </p:nvSpPr>
        <p:spPr>
          <a:xfrm>
            <a:off x="10817352" y="3429000"/>
            <a:ext cx="640080" cy="457200"/>
          </a:xfrm>
          <a:prstGeom prst="roundRect">
            <a:avLst>
              <a:gd name="adj" fmla="val 12000"/>
            </a:avLst>
          </a:prstGeom>
          <a:solidFill>
            <a:schemeClr val="bg1"/>
          </a:solidFill>
          <a:ln w="12700">
            <a:solidFill>
              <a:schemeClr val="accent1"/>
            </a:solidFill>
          </a:ln>
        </p:spPr>
        <p:txBody>
          <a:bodyPr wrap="square" lIns="0" tIns="50800" rIns="50800" bIns="0" rtlCol="0" anchor="ctr"/>
          <a:lstStyle/>
          <a:p>
            <a:pPr algn="ctr" indent="0" marL="0">
              <a:buNone/>
            </a:pPr>
            <a:r>
              <a:rPr lang="en-US" sz="1100" dirty="0">
                <a:solidFill>
                  <a:schemeClr val="tx1"/>
                </a:solidFill>
              </a:rPr>
              <a:t>도구</a:t>
            </a:r>
            <a:endParaRPr lang="en-US" sz="1100" dirty="0"/>
          </a:p>
        </p:txBody>
      </p:sp>
      <p:sp>
        <p:nvSpPr>
          <p:cNvPr id="47" name="chip_152"/>
          <p:cNvSpPr txBox="1"/>
          <p:nvPr/>
        </p:nvSpPr>
        <p:spPr>
          <a:xfrm>
            <a:off x="9144000" y="4526280"/>
            <a:ext cx="640080" cy="457200"/>
          </a:xfrm>
          <a:prstGeom prst="roundRect">
            <a:avLst>
              <a:gd name="adj" fmla="val 12000"/>
            </a:avLst>
          </a:prstGeom>
          <a:solidFill>
            <a:schemeClr val="accent1"/>
          </a:solidFill>
          <a:ln/>
        </p:spPr>
        <p:txBody>
          <a:bodyPr wrap="square" lIns="0" tIns="50800" rIns="50800" bIns="0" rtlCol="0" anchor="ctr"/>
          <a:lstStyle/>
          <a:p>
            <a:pPr algn="ctr" indent="0" marL="0">
              <a:buNone/>
            </a:pPr>
            <a:r>
              <a:rPr lang="en-US" sz="1100" dirty="0">
                <a:solidFill>
                  <a:schemeClr val="bg1"/>
                </a:solidFill>
              </a:rPr>
              <a:t>AI 앱</a:t>
            </a:r>
            <a:endParaRPr lang="en-US" sz="1100" dirty="0"/>
          </a:p>
        </p:txBody>
      </p:sp>
      <p:sp>
        <p:nvSpPr>
          <p:cNvPr id="48" name="chip_153"/>
          <p:cNvSpPr txBox="1"/>
          <p:nvPr/>
        </p:nvSpPr>
        <p:spPr>
          <a:xfrm>
            <a:off x="10817352" y="4526280"/>
            <a:ext cx="640080" cy="457200"/>
          </a:xfrm>
          <a:prstGeom prst="roundRect">
            <a:avLst>
              <a:gd name="adj" fmla="val 12000"/>
            </a:avLst>
          </a:prstGeom>
          <a:solidFill>
            <a:schemeClr val="bg1"/>
          </a:solidFill>
          <a:ln w="12700">
            <a:solidFill>
              <a:schemeClr val="accent1"/>
            </a:solidFill>
          </a:ln>
        </p:spPr>
        <p:txBody>
          <a:bodyPr wrap="square" lIns="0" tIns="50800" rIns="50800" bIns="0" rtlCol="0" anchor="ctr"/>
          <a:lstStyle/>
          <a:p>
            <a:pPr algn="ctr" indent="0" marL="0">
              <a:buNone/>
            </a:pPr>
            <a:r>
              <a:rPr lang="en-US" sz="1100" dirty="0">
                <a:solidFill>
                  <a:schemeClr val="tx1"/>
                </a:solidFill>
              </a:rPr>
              <a:t>도구</a:t>
            </a:r>
            <a:endParaRPr lang="en-US" sz="1100" dirty="0"/>
          </a:p>
        </p:txBody>
      </p:sp>
      <p:sp>
        <p:nvSpPr>
          <p:cNvPr id="49" name="text_154"/>
          <p:cNvSpPr txBox="1"/>
          <p:nvPr/>
        </p:nvSpPr>
        <p:spPr>
          <a:xfrm>
            <a:off x="9144000" y="5349240"/>
            <a:ext cx="2331720" cy="411480"/>
          </a:xfrm>
          <a:prstGeom prst="rect">
            <a:avLst/>
          </a:prstGeom>
          <a:noFill/>
          <a:ln/>
        </p:spPr>
        <p:txBody>
          <a:bodyPr wrap="square" lIns="0" tIns="0" rIns="0" bIns="0" rtlCol="0" anchor="t"/>
          <a:lstStyle/>
          <a:p>
            <a:pPr indent="0" marL="0">
              <a:buNone/>
            </a:pPr>
            <a:r>
              <a:rPr lang="en-US" sz="1200" b="1" dirty="0">
                <a:solidFill>
                  <a:schemeClr val="tx2"/>
                </a:solidFill>
              </a:rPr>
              <a:t>연결 6개, 규격은 하나</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MCP를 이루는 세 가지</a:t>
            </a:r>
            <a:endParaRPr lang="en-US" sz="3200" dirty="0"/>
          </a:p>
        </p:txBody>
      </p:sp>
      <p:sp>
        <p:nvSpPr>
          <p:cNvPr id="4" name="card_155"/>
          <p:cNvSpPr/>
          <p:nvPr/>
        </p:nvSpPr>
        <p:spPr>
          <a:xfrm>
            <a:off x="548640" y="1417320"/>
            <a:ext cx="4846320" cy="2377440"/>
          </a:xfrm>
          <a:prstGeom prst="roundRect">
            <a:avLst>
              <a:gd name="adj" fmla="val 3846"/>
            </a:avLst>
          </a:prstGeom>
          <a:solidFill>
            <a:schemeClr val="bg2"/>
          </a:solidFill>
          <a:ln/>
        </p:spPr>
      </p:sp>
      <p:sp>
        <p:nvSpPr>
          <p:cNvPr id="5" name="text_156"/>
          <p:cNvSpPr txBox="1"/>
          <p:nvPr/>
        </p:nvSpPr>
        <p:spPr>
          <a:xfrm>
            <a:off x="777240" y="1554480"/>
            <a:ext cx="4389120" cy="365760"/>
          </a:xfrm>
          <a:prstGeom prst="rect">
            <a:avLst/>
          </a:prstGeom>
          <a:noFill/>
          <a:ln/>
        </p:spPr>
        <p:txBody>
          <a:bodyPr wrap="square" lIns="0" tIns="0" rIns="0" bIns="0" rtlCol="0" anchor="t"/>
          <a:lstStyle/>
          <a:p>
            <a:pPr indent="0" marL="0">
              <a:buNone/>
            </a:pPr>
            <a:r>
              <a:rPr lang="en-US" sz="1400" b="1" dirty="0">
                <a:solidFill>
                  <a:schemeClr val="tx2"/>
                </a:solidFill>
              </a:rPr>
              <a:t>Host  (사용자가 쓰는 AI 앱)</a:t>
            </a:r>
            <a:endParaRPr lang="en-US" sz="1400" dirty="0"/>
          </a:p>
        </p:txBody>
      </p:sp>
      <p:sp>
        <p:nvSpPr>
          <p:cNvPr id="6" name="text_157"/>
          <p:cNvSpPr txBox="1"/>
          <p:nvPr/>
        </p:nvSpPr>
        <p:spPr>
          <a:xfrm>
            <a:off x="777240" y="1920240"/>
            <a:ext cx="4389120" cy="365760"/>
          </a:xfrm>
          <a:prstGeom prst="rect">
            <a:avLst/>
          </a:prstGeom>
          <a:noFill/>
          <a:ln/>
        </p:spPr>
        <p:txBody>
          <a:bodyPr wrap="square" lIns="0" tIns="0" rIns="0" bIns="0" rtlCol="0" anchor="t"/>
          <a:lstStyle/>
          <a:p>
            <a:pPr indent="0" marL="0">
              <a:buNone/>
            </a:pPr>
            <a:r>
              <a:rPr lang="en-US" sz="1200" dirty="0">
                <a:solidFill>
                  <a:schemeClr val="accent6"/>
                </a:solidFill>
              </a:rPr>
              <a:t>VS Code + Copilot, Cursor, Claude Desktop, Claude Code</a:t>
            </a:r>
            <a:endParaRPr lang="en-US" sz="1200" dirty="0"/>
          </a:p>
        </p:txBody>
      </p:sp>
      <p:sp>
        <p:nvSpPr>
          <p:cNvPr id="7" name="card_158"/>
          <p:cNvSpPr/>
          <p:nvPr/>
        </p:nvSpPr>
        <p:spPr>
          <a:xfrm>
            <a:off x="777240" y="2468880"/>
            <a:ext cx="4389120" cy="1097280"/>
          </a:xfrm>
          <a:prstGeom prst="roundRect">
            <a:avLst>
              <a:gd name="adj" fmla="val 8333"/>
            </a:avLst>
          </a:prstGeom>
          <a:solidFill>
            <a:schemeClr val="bg1"/>
          </a:solidFill>
          <a:ln w="12700">
            <a:solidFill>
              <a:schemeClr val="accent3"/>
            </a:solidFill>
            <a:prstDash val="solid"/>
          </a:ln>
        </p:spPr>
      </p:sp>
      <p:sp>
        <p:nvSpPr>
          <p:cNvPr id="8" name="text_159"/>
          <p:cNvSpPr txBox="1"/>
          <p:nvPr/>
        </p:nvSpPr>
        <p:spPr>
          <a:xfrm>
            <a:off x="960120" y="2578608"/>
            <a:ext cx="1828800" cy="320040"/>
          </a:xfrm>
          <a:prstGeom prst="rect">
            <a:avLst/>
          </a:prstGeom>
          <a:noFill/>
          <a:ln/>
        </p:spPr>
        <p:txBody>
          <a:bodyPr wrap="square" lIns="0" tIns="0" rIns="0" bIns="0" rtlCol="0" anchor="t"/>
          <a:lstStyle/>
          <a:p>
            <a:pPr indent="0" marL="0">
              <a:buNone/>
            </a:pPr>
            <a:r>
              <a:rPr lang="en-US" sz="1400" b="1" dirty="0">
                <a:solidFill>
                  <a:schemeClr val="tx1"/>
                </a:solidFill>
              </a:rPr>
              <a:t>Client</a:t>
            </a:r>
            <a:endParaRPr lang="en-US" sz="1400" dirty="0"/>
          </a:p>
        </p:txBody>
      </p:sp>
      <p:sp>
        <p:nvSpPr>
          <p:cNvPr id="9" name="text_160"/>
          <p:cNvSpPr txBox="1"/>
          <p:nvPr/>
        </p:nvSpPr>
        <p:spPr>
          <a:xfrm>
            <a:off x="960120" y="2907792"/>
            <a:ext cx="4023360" cy="594360"/>
          </a:xfrm>
          <a:prstGeom prst="rect">
            <a:avLst/>
          </a:prstGeom>
          <a:noFill/>
          <a:ln/>
        </p:spPr>
        <p:txBody>
          <a:bodyPr wrap="square" lIns="0" tIns="0" rIns="0" bIns="0" rtlCol="0" anchor="t"/>
          <a:lstStyle/>
          <a:p>
            <a:pPr indent="0" marL="0">
              <a:buNone/>
            </a:pPr>
            <a:r>
              <a:rPr lang="en-US" sz="1200" dirty="0">
                <a:solidFill>
                  <a:schemeClr val="accent6"/>
                </a:solidFill>
              </a:rPr>
              <a:t>Host 안에서 서버와 통신을 맡는다. 사용자가 따로 다룰 일은 없다.</a:t>
            </a:r>
            <a:endParaRPr lang="en-US" sz="1200" dirty="0"/>
          </a:p>
        </p:txBody>
      </p:sp>
      <p:sp>
        <p:nvSpPr>
          <p:cNvPr id="10" name="line_161"/>
          <p:cNvSpPr/>
          <p:nvPr/>
        </p:nvSpPr>
        <p:spPr>
          <a:xfrm>
            <a:off x="5440680" y="2606040"/>
            <a:ext cx="1188720" cy="0"/>
          </a:xfrm>
          <a:prstGeom prst="line">
            <a:avLst/>
          </a:prstGeom>
          <a:noFill/>
          <a:ln w="22225">
            <a:solidFill>
              <a:schemeClr val="accent1"/>
            </a:solidFill>
            <a:prstDash val="solid"/>
            <a:tailEnd type="triangle"/>
          </a:ln>
        </p:spPr>
      </p:sp>
      <p:sp>
        <p:nvSpPr>
          <p:cNvPr id="11" name="text_162"/>
          <p:cNvSpPr txBox="1"/>
          <p:nvPr/>
        </p:nvSpPr>
        <p:spPr>
          <a:xfrm>
            <a:off x="5486400" y="2240280"/>
            <a:ext cx="1097280" cy="320040"/>
          </a:xfrm>
          <a:prstGeom prst="rect">
            <a:avLst/>
          </a:prstGeom>
          <a:noFill/>
          <a:ln/>
        </p:spPr>
        <p:txBody>
          <a:bodyPr wrap="square" lIns="0" tIns="0" rIns="0" bIns="0" rtlCol="0" anchor="t"/>
          <a:lstStyle/>
          <a:p>
            <a:pPr algn="ctr" indent="0" marL="0">
              <a:buNone/>
            </a:pPr>
            <a:r>
              <a:rPr lang="en-US" sz="1100" dirty="0">
                <a:solidFill>
                  <a:schemeClr val="accent6"/>
                </a:solidFill>
              </a:rPr>
              <a:t>도구 호출</a:t>
            </a:r>
            <a:endParaRPr lang="en-US" sz="1100" dirty="0"/>
          </a:p>
        </p:txBody>
      </p:sp>
      <p:sp>
        <p:nvSpPr>
          <p:cNvPr id="12" name="card_163"/>
          <p:cNvSpPr/>
          <p:nvPr/>
        </p:nvSpPr>
        <p:spPr>
          <a:xfrm>
            <a:off x="6675120" y="1417320"/>
            <a:ext cx="4965192" cy="2377440"/>
          </a:xfrm>
          <a:prstGeom prst="roundRect">
            <a:avLst>
              <a:gd name="adj" fmla="val 3846"/>
            </a:avLst>
          </a:prstGeom>
          <a:solidFill>
            <a:schemeClr val="accent2">
              <a:alpha val="16000"/>
            </a:schemeClr>
          </a:solidFill>
          <a:ln/>
        </p:spPr>
      </p:sp>
      <p:sp>
        <p:nvSpPr>
          <p:cNvPr id="13" name="text_164"/>
          <p:cNvSpPr txBox="1"/>
          <p:nvPr/>
        </p:nvSpPr>
        <p:spPr>
          <a:xfrm>
            <a:off x="6903720" y="1554480"/>
            <a:ext cx="4572000" cy="365760"/>
          </a:xfrm>
          <a:prstGeom prst="rect">
            <a:avLst/>
          </a:prstGeom>
          <a:noFill/>
          <a:ln/>
        </p:spPr>
        <p:txBody>
          <a:bodyPr wrap="square" lIns="0" tIns="0" rIns="0" bIns="0" rtlCol="0" anchor="t"/>
          <a:lstStyle/>
          <a:p>
            <a:pPr indent="0" marL="0">
              <a:buNone/>
            </a:pPr>
            <a:r>
              <a:rPr lang="en-US" sz="1400" b="1" dirty="0">
                <a:solidFill>
                  <a:schemeClr val="tx2"/>
                </a:solidFill>
              </a:rPr>
              <a:t>Server  (기능을 도구로 제공)</a:t>
            </a:r>
            <a:endParaRPr lang="en-US" sz="1400" dirty="0"/>
          </a:p>
        </p:txBody>
      </p:sp>
      <p:sp>
        <p:nvSpPr>
          <p:cNvPr id="14" name="text_165"/>
          <p:cNvSpPr txBox="1"/>
          <p:nvPr/>
        </p:nvSpPr>
        <p:spPr>
          <a:xfrm>
            <a:off x="6903720" y="1920240"/>
            <a:ext cx="4572000" cy="365760"/>
          </a:xfrm>
          <a:prstGeom prst="rect">
            <a:avLst/>
          </a:prstGeom>
          <a:noFill/>
          <a:ln/>
        </p:spPr>
        <p:txBody>
          <a:bodyPr wrap="square" lIns="0" tIns="0" rIns="0" bIns="0" rtlCol="0" anchor="t"/>
          <a:lstStyle/>
          <a:p>
            <a:pPr indent="0" marL="0">
              <a:buNone/>
            </a:pPr>
            <a:r>
              <a:rPr lang="en-US" sz="1200" dirty="0">
                <a:solidFill>
                  <a:schemeClr val="accent6"/>
                </a:solidFill>
              </a:rPr>
              <a:t>오늘은 Tosca MCP Server</a:t>
            </a:r>
            <a:endParaRPr lang="en-US" sz="1200" dirty="0"/>
          </a:p>
        </p:txBody>
      </p:sp>
      <p:sp>
        <p:nvSpPr>
          <p:cNvPr id="15" name="chip_166"/>
          <p:cNvSpPr txBox="1"/>
          <p:nvPr/>
        </p:nvSpPr>
        <p:spPr>
          <a:xfrm>
            <a:off x="6903720" y="2468880"/>
            <a:ext cx="2194560" cy="411480"/>
          </a:xfrm>
          <a:prstGeom prst="roundRect">
            <a:avLst>
              <a:gd name="adj" fmla="val 13333"/>
            </a:avLst>
          </a:prstGeom>
          <a:solidFill>
            <a:schemeClr val="bg1"/>
          </a:solidFill>
          <a:ln/>
        </p:spPr>
        <p:txBody>
          <a:bodyPr wrap="square" lIns="0" tIns="50800" rIns="5080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get_workspace_info</a:t>
            </a:r>
            <a:endParaRPr lang="en-US" sz="1100" dirty="0"/>
          </a:p>
        </p:txBody>
      </p:sp>
      <p:sp>
        <p:nvSpPr>
          <p:cNvPr id="16" name="chip_167"/>
          <p:cNvSpPr txBox="1"/>
          <p:nvPr/>
        </p:nvSpPr>
        <p:spPr>
          <a:xfrm>
            <a:off x="9235440" y="2468880"/>
            <a:ext cx="2194560" cy="411480"/>
          </a:xfrm>
          <a:prstGeom prst="roundRect">
            <a:avLst>
              <a:gd name="adj" fmla="val 13333"/>
            </a:avLst>
          </a:prstGeom>
          <a:solidFill>
            <a:schemeClr val="bg1"/>
          </a:solidFill>
          <a:ln/>
        </p:spPr>
        <p:txBody>
          <a:bodyPr wrap="square" lIns="0" tIns="50800" rIns="5080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list_assets</a:t>
            </a:r>
            <a:endParaRPr lang="en-US" sz="1100" dirty="0"/>
          </a:p>
        </p:txBody>
      </p:sp>
      <p:sp>
        <p:nvSpPr>
          <p:cNvPr id="17" name="chip_168"/>
          <p:cNvSpPr txBox="1"/>
          <p:nvPr/>
        </p:nvSpPr>
        <p:spPr>
          <a:xfrm>
            <a:off x="6903720" y="3017520"/>
            <a:ext cx="2194560" cy="411480"/>
          </a:xfrm>
          <a:prstGeom prst="roundRect">
            <a:avLst>
              <a:gd name="adj" fmla="val 13333"/>
            </a:avLst>
          </a:prstGeom>
          <a:solidFill>
            <a:schemeClr val="bg1"/>
          </a:solidFill>
          <a:ln/>
        </p:spPr>
        <p:txBody>
          <a:bodyPr wrap="square" lIns="0" tIns="50800" rIns="5080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create_test_cases</a:t>
            </a:r>
            <a:endParaRPr lang="en-US" sz="1100" dirty="0"/>
          </a:p>
        </p:txBody>
      </p:sp>
      <p:sp>
        <p:nvSpPr>
          <p:cNvPr id="18" name="chip_169"/>
          <p:cNvSpPr txBox="1"/>
          <p:nvPr/>
        </p:nvSpPr>
        <p:spPr>
          <a:xfrm>
            <a:off x="9235440" y="3017520"/>
            <a:ext cx="2194560" cy="411480"/>
          </a:xfrm>
          <a:prstGeom prst="roundRect">
            <a:avLst>
              <a:gd name="adj" fmla="val 13333"/>
            </a:avLst>
          </a:prstGeom>
          <a:solidFill>
            <a:schemeClr val="bg1"/>
          </a:solidFill>
          <a:ln/>
        </p:spPr>
        <p:txBody>
          <a:bodyPr wrap="square" lIns="0" tIns="50800" rIns="5080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execute_test_suite</a:t>
            </a:r>
            <a:endParaRPr lang="en-US" sz="1100" dirty="0"/>
          </a:p>
        </p:txBody>
      </p:sp>
      <p:sp>
        <p:nvSpPr>
          <p:cNvPr id="19" name="text_170"/>
          <p:cNvSpPr txBox="1"/>
          <p:nvPr/>
        </p:nvSpPr>
        <p:spPr>
          <a:xfrm>
            <a:off x="548640" y="4069080"/>
            <a:ext cx="5486400" cy="320040"/>
          </a:xfrm>
          <a:prstGeom prst="rect">
            <a:avLst/>
          </a:prstGeom>
          <a:noFill/>
          <a:ln/>
        </p:spPr>
        <p:txBody>
          <a:bodyPr wrap="square" lIns="0" tIns="0" rIns="0" bIns="0" rtlCol="0" anchor="ctr"/>
          <a:lstStyle/>
          <a:p>
            <a:pPr indent="0" marL="0">
              <a:buNone/>
            </a:pPr>
            <a:r>
              <a:rPr lang="en-US" sz="1400" b="1" dirty="0">
                <a:solidFill>
                  <a:schemeClr val="tx2"/>
                </a:solidFill>
              </a:rPr>
              <a:t>요청 하나가 처리되는 순서</a:t>
            </a:r>
            <a:endParaRPr lang="en-US" sz="1400" dirty="0"/>
          </a:p>
        </p:txBody>
      </p:sp>
      <p:sp>
        <p:nvSpPr>
          <p:cNvPr id="20" name="card_171"/>
          <p:cNvSpPr/>
          <p:nvPr/>
        </p:nvSpPr>
        <p:spPr>
          <a:xfrm>
            <a:off x="548640" y="4526280"/>
            <a:ext cx="2103120" cy="1463040"/>
          </a:xfrm>
          <a:prstGeom prst="roundRect">
            <a:avLst>
              <a:gd name="adj" fmla="val 6250"/>
            </a:avLst>
          </a:prstGeom>
          <a:solidFill>
            <a:schemeClr val="bg1"/>
          </a:solidFill>
          <a:ln w="15875">
            <a:solidFill>
              <a:schemeClr val="bg2"/>
            </a:solidFill>
            <a:prstDash val="solid"/>
          </a:ln>
        </p:spPr>
      </p:sp>
      <p:sp>
        <p:nvSpPr>
          <p:cNvPr id="21" name="badge_172"/>
          <p:cNvSpPr txBox="1"/>
          <p:nvPr/>
        </p:nvSpPr>
        <p:spPr>
          <a:xfrm>
            <a:off x="713232" y="468172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2" name="text_173"/>
          <p:cNvSpPr txBox="1"/>
          <p:nvPr/>
        </p:nvSpPr>
        <p:spPr>
          <a:xfrm>
            <a:off x="1170432" y="4663440"/>
            <a:ext cx="1371600" cy="411480"/>
          </a:xfrm>
          <a:prstGeom prst="rect">
            <a:avLst/>
          </a:prstGeom>
          <a:noFill/>
          <a:ln/>
        </p:spPr>
        <p:txBody>
          <a:bodyPr wrap="square" lIns="0" tIns="0" rIns="0" bIns="0" rtlCol="0" anchor="ctr"/>
          <a:lstStyle/>
          <a:p>
            <a:pPr indent="0" marL="0">
              <a:buNone/>
            </a:pPr>
            <a:r>
              <a:rPr lang="en-US" sz="1400" b="1" dirty="0">
                <a:solidFill>
                  <a:schemeClr val="tx1"/>
                </a:solidFill>
              </a:rPr>
              <a:t>사람</a:t>
            </a:r>
            <a:endParaRPr lang="en-US" sz="1400" dirty="0"/>
          </a:p>
        </p:txBody>
      </p:sp>
      <p:sp>
        <p:nvSpPr>
          <p:cNvPr id="23" name="text_174"/>
          <p:cNvSpPr txBox="1"/>
          <p:nvPr/>
        </p:nvSpPr>
        <p:spPr>
          <a:xfrm>
            <a:off x="713232" y="5166360"/>
            <a:ext cx="1773936" cy="731520"/>
          </a:xfrm>
          <a:prstGeom prst="rect">
            <a:avLst/>
          </a:prstGeom>
          <a:noFill/>
          <a:ln/>
        </p:spPr>
        <p:txBody>
          <a:bodyPr wrap="square" lIns="0" tIns="0" rIns="0" bIns="0" rtlCol="0" anchor="t"/>
          <a:lstStyle/>
          <a:p>
            <a:pPr indent="0" marL="0">
              <a:buNone/>
            </a:pPr>
            <a:r>
              <a:rPr lang="en-US" sz="1300" dirty="0">
                <a:solidFill>
                  <a:schemeClr val="tx1"/>
                </a:solidFill>
              </a:rPr>
              <a:t>문장으로 요청</a:t>
            </a:r>
            <a:endParaRPr lang="en-US" sz="1300" dirty="0"/>
          </a:p>
        </p:txBody>
      </p:sp>
      <p:sp>
        <p:nvSpPr>
          <p:cNvPr id="24" name="card_175"/>
          <p:cNvSpPr/>
          <p:nvPr/>
        </p:nvSpPr>
        <p:spPr>
          <a:xfrm>
            <a:off x="2796235" y="4526280"/>
            <a:ext cx="2103120" cy="1463040"/>
          </a:xfrm>
          <a:prstGeom prst="roundRect">
            <a:avLst>
              <a:gd name="adj" fmla="val 6250"/>
            </a:avLst>
          </a:prstGeom>
          <a:solidFill>
            <a:schemeClr val="bg1"/>
          </a:solidFill>
          <a:ln w="15875">
            <a:solidFill>
              <a:schemeClr val="bg2"/>
            </a:solidFill>
            <a:prstDash val="solid"/>
          </a:ln>
        </p:spPr>
      </p:sp>
      <p:sp>
        <p:nvSpPr>
          <p:cNvPr id="25" name="badge_176"/>
          <p:cNvSpPr txBox="1"/>
          <p:nvPr/>
        </p:nvSpPr>
        <p:spPr>
          <a:xfrm>
            <a:off x="2960827" y="4681728"/>
            <a:ext cx="365760" cy="365760"/>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26" name="text_177"/>
          <p:cNvSpPr txBox="1"/>
          <p:nvPr/>
        </p:nvSpPr>
        <p:spPr>
          <a:xfrm>
            <a:off x="3418027" y="4663440"/>
            <a:ext cx="1371600" cy="411480"/>
          </a:xfrm>
          <a:prstGeom prst="rect">
            <a:avLst/>
          </a:prstGeom>
          <a:noFill/>
          <a:ln/>
        </p:spPr>
        <p:txBody>
          <a:bodyPr wrap="square" lIns="0" tIns="0" rIns="0" bIns="0" rtlCol="0" anchor="ctr"/>
          <a:lstStyle/>
          <a:p>
            <a:pPr indent="0" marL="0">
              <a:buNone/>
            </a:pPr>
            <a:r>
              <a:rPr lang="en-US" sz="1400" b="1" dirty="0">
                <a:solidFill>
                  <a:schemeClr val="tx1"/>
                </a:solidFill>
              </a:rPr>
              <a:t>AI</a:t>
            </a:r>
            <a:endParaRPr lang="en-US" sz="1400" dirty="0"/>
          </a:p>
        </p:txBody>
      </p:sp>
      <p:sp>
        <p:nvSpPr>
          <p:cNvPr id="27" name="text_178"/>
          <p:cNvSpPr txBox="1"/>
          <p:nvPr/>
        </p:nvSpPr>
        <p:spPr>
          <a:xfrm>
            <a:off x="2960827" y="5166360"/>
            <a:ext cx="1773936" cy="731520"/>
          </a:xfrm>
          <a:prstGeom prst="rect">
            <a:avLst/>
          </a:prstGeom>
          <a:noFill/>
          <a:ln/>
        </p:spPr>
        <p:txBody>
          <a:bodyPr wrap="square" lIns="0" tIns="0" rIns="0" bIns="0" rtlCol="0" anchor="t"/>
          <a:lstStyle/>
          <a:p>
            <a:pPr indent="0" marL="0">
              <a:buNone/>
            </a:pPr>
            <a:r>
              <a:rPr lang="en-US" sz="1300" dirty="0">
                <a:solidFill>
                  <a:schemeClr val="tx1"/>
                </a:solidFill>
              </a:rPr>
              <a:t>쓸 도구를 고름</a:t>
            </a:r>
            <a:endParaRPr lang="en-US" sz="1300" dirty="0"/>
          </a:p>
        </p:txBody>
      </p:sp>
      <p:sp>
        <p:nvSpPr>
          <p:cNvPr id="28" name="card_179"/>
          <p:cNvSpPr/>
          <p:nvPr/>
        </p:nvSpPr>
        <p:spPr>
          <a:xfrm>
            <a:off x="5043830" y="4526280"/>
            <a:ext cx="2103120" cy="1463040"/>
          </a:xfrm>
          <a:prstGeom prst="roundRect">
            <a:avLst>
              <a:gd name="adj" fmla="val 6250"/>
            </a:avLst>
          </a:prstGeom>
          <a:solidFill>
            <a:schemeClr val="bg1"/>
          </a:solidFill>
          <a:ln w="15875">
            <a:solidFill>
              <a:schemeClr val="bg2"/>
            </a:solidFill>
            <a:prstDash val="solid"/>
          </a:ln>
        </p:spPr>
      </p:sp>
      <p:sp>
        <p:nvSpPr>
          <p:cNvPr id="29" name="badge_180"/>
          <p:cNvSpPr txBox="1"/>
          <p:nvPr/>
        </p:nvSpPr>
        <p:spPr>
          <a:xfrm>
            <a:off x="5208422" y="468172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0" name="text_181"/>
          <p:cNvSpPr txBox="1"/>
          <p:nvPr/>
        </p:nvSpPr>
        <p:spPr>
          <a:xfrm>
            <a:off x="5665622" y="4663440"/>
            <a:ext cx="1371600" cy="411480"/>
          </a:xfrm>
          <a:prstGeom prst="rect">
            <a:avLst/>
          </a:prstGeom>
          <a:noFill/>
          <a:ln/>
        </p:spPr>
        <p:txBody>
          <a:bodyPr wrap="square" lIns="0" tIns="0" rIns="0" bIns="0" rtlCol="0" anchor="ctr"/>
          <a:lstStyle/>
          <a:p>
            <a:pPr indent="0" marL="0">
              <a:buNone/>
            </a:pPr>
            <a:r>
              <a:rPr lang="en-US" sz="1400" b="1" dirty="0">
                <a:solidFill>
                  <a:schemeClr val="tx1"/>
                </a:solidFill>
              </a:rPr>
              <a:t>Client</a:t>
            </a:r>
            <a:endParaRPr lang="en-US" sz="1400" dirty="0"/>
          </a:p>
        </p:txBody>
      </p:sp>
      <p:sp>
        <p:nvSpPr>
          <p:cNvPr id="31" name="text_182"/>
          <p:cNvSpPr txBox="1"/>
          <p:nvPr/>
        </p:nvSpPr>
        <p:spPr>
          <a:xfrm>
            <a:off x="5208422" y="5166360"/>
            <a:ext cx="1773936" cy="731520"/>
          </a:xfrm>
          <a:prstGeom prst="rect">
            <a:avLst/>
          </a:prstGeom>
          <a:noFill/>
          <a:ln/>
        </p:spPr>
        <p:txBody>
          <a:bodyPr wrap="square" lIns="0" tIns="0" rIns="0" bIns="0" rtlCol="0" anchor="t"/>
          <a:lstStyle/>
          <a:p>
            <a:pPr indent="0" marL="0">
              <a:buNone/>
            </a:pPr>
            <a:r>
              <a:rPr lang="en-US" sz="1300" dirty="0">
                <a:solidFill>
                  <a:schemeClr val="tx1"/>
                </a:solidFill>
              </a:rPr>
              <a:t>서버에 도구 호출</a:t>
            </a:r>
            <a:endParaRPr lang="en-US" sz="1300" dirty="0"/>
          </a:p>
        </p:txBody>
      </p:sp>
      <p:sp>
        <p:nvSpPr>
          <p:cNvPr id="32" name="card_183"/>
          <p:cNvSpPr/>
          <p:nvPr/>
        </p:nvSpPr>
        <p:spPr>
          <a:xfrm>
            <a:off x="7291426" y="4526280"/>
            <a:ext cx="2103120" cy="1463040"/>
          </a:xfrm>
          <a:prstGeom prst="roundRect">
            <a:avLst>
              <a:gd name="adj" fmla="val 6250"/>
            </a:avLst>
          </a:prstGeom>
          <a:solidFill>
            <a:schemeClr val="bg1"/>
          </a:solidFill>
          <a:ln w="15875">
            <a:solidFill>
              <a:schemeClr val="bg2"/>
            </a:solidFill>
            <a:prstDash val="solid"/>
          </a:ln>
        </p:spPr>
      </p:sp>
      <p:sp>
        <p:nvSpPr>
          <p:cNvPr id="33" name="badge_184"/>
          <p:cNvSpPr txBox="1"/>
          <p:nvPr/>
        </p:nvSpPr>
        <p:spPr>
          <a:xfrm>
            <a:off x="7456018" y="468172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4" name="text_185"/>
          <p:cNvSpPr txBox="1"/>
          <p:nvPr/>
        </p:nvSpPr>
        <p:spPr>
          <a:xfrm>
            <a:off x="7913218" y="4663440"/>
            <a:ext cx="1371600" cy="411480"/>
          </a:xfrm>
          <a:prstGeom prst="rect">
            <a:avLst/>
          </a:prstGeom>
          <a:noFill/>
          <a:ln/>
        </p:spPr>
        <p:txBody>
          <a:bodyPr wrap="square" lIns="0" tIns="0" rIns="0" bIns="0" rtlCol="0" anchor="ctr"/>
          <a:lstStyle/>
          <a:p>
            <a:pPr indent="0" marL="0">
              <a:buNone/>
            </a:pPr>
            <a:r>
              <a:rPr lang="en-US" sz="1400" b="1" dirty="0">
                <a:solidFill>
                  <a:schemeClr val="tx1"/>
                </a:solidFill>
              </a:rPr>
              <a:t>Server</a:t>
            </a:r>
            <a:endParaRPr lang="en-US" sz="1400" dirty="0"/>
          </a:p>
        </p:txBody>
      </p:sp>
      <p:sp>
        <p:nvSpPr>
          <p:cNvPr id="35" name="text_186"/>
          <p:cNvSpPr txBox="1"/>
          <p:nvPr/>
        </p:nvSpPr>
        <p:spPr>
          <a:xfrm>
            <a:off x="7456018" y="5166360"/>
            <a:ext cx="1773936" cy="731520"/>
          </a:xfrm>
          <a:prstGeom prst="rect">
            <a:avLst/>
          </a:prstGeom>
          <a:noFill/>
          <a:ln/>
        </p:spPr>
        <p:txBody>
          <a:bodyPr wrap="square" lIns="0" tIns="0" rIns="0" bIns="0" rtlCol="0" anchor="t"/>
          <a:lstStyle/>
          <a:p>
            <a:pPr indent="0" marL="0">
              <a:buNone/>
            </a:pPr>
            <a:r>
              <a:rPr lang="en-US" sz="1300" dirty="0">
                <a:solidFill>
                  <a:schemeClr val="tx1"/>
                </a:solidFill>
              </a:rPr>
              <a:t>Commander에서 실행 후 결과 반환</a:t>
            </a:r>
            <a:endParaRPr lang="en-US" sz="1300" dirty="0"/>
          </a:p>
        </p:txBody>
      </p:sp>
      <p:sp>
        <p:nvSpPr>
          <p:cNvPr id="36" name="card_187"/>
          <p:cNvSpPr/>
          <p:nvPr/>
        </p:nvSpPr>
        <p:spPr>
          <a:xfrm>
            <a:off x="9539021" y="4526280"/>
            <a:ext cx="2103120" cy="1463040"/>
          </a:xfrm>
          <a:prstGeom prst="roundRect">
            <a:avLst>
              <a:gd name="adj" fmla="val 6250"/>
            </a:avLst>
          </a:prstGeom>
          <a:solidFill>
            <a:schemeClr val="bg1"/>
          </a:solidFill>
          <a:ln w="15875">
            <a:solidFill>
              <a:schemeClr val="bg2"/>
            </a:solidFill>
            <a:prstDash val="solid"/>
          </a:ln>
        </p:spPr>
      </p:sp>
      <p:sp>
        <p:nvSpPr>
          <p:cNvPr id="37" name="badge_188"/>
          <p:cNvSpPr txBox="1"/>
          <p:nvPr/>
        </p:nvSpPr>
        <p:spPr>
          <a:xfrm>
            <a:off x="9703613" y="468172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8" name="text_189"/>
          <p:cNvSpPr txBox="1"/>
          <p:nvPr/>
        </p:nvSpPr>
        <p:spPr>
          <a:xfrm>
            <a:off x="10160813" y="4663440"/>
            <a:ext cx="1371600" cy="411480"/>
          </a:xfrm>
          <a:prstGeom prst="rect">
            <a:avLst/>
          </a:prstGeom>
          <a:noFill/>
          <a:ln/>
        </p:spPr>
        <p:txBody>
          <a:bodyPr wrap="square" lIns="0" tIns="0" rIns="0" bIns="0" rtlCol="0" anchor="ctr"/>
          <a:lstStyle/>
          <a:p>
            <a:pPr indent="0" marL="0">
              <a:buNone/>
            </a:pPr>
            <a:r>
              <a:rPr lang="en-US" sz="1400" b="1" dirty="0">
                <a:solidFill>
                  <a:schemeClr val="tx1"/>
                </a:solidFill>
              </a:rPr>
              <a:t>AI</a:t>
            </a:r>
            <a:endParaRPr lang="en-US" sz="1400" dirty="0"/>
          </a:p>
        </p:txBody>
      </p:sp>
      <p:sp>
        <p:nvSpPr>
          <p:cNvPr id="39" name="text_190"/>
          <p:cNvSpPr txBox="1"/>
          <p:nvPr/>
        </p:nvSpPr>
        <p:spPr>
          <a:xfrm>
            <a:off x="9703613" y="5166360"/>
            <a:ext cx="1773936" cy="731520"/>
          </a:xfrm>
          <a:prstGeom prst="rect">
            <a:avLst/>
          </a:prstGeom>
          <a:noFill/>
          <a:ln/>
        </p:spPr>
        <p:txBody>
          <a:bodyPr wrap="square" lIns="0" tIns="0" rIns="0" bIns="0" rtlCol="0" anchor="t"/>
          <a:lstStyle/>
          <a:p>
            <a:pPr indent="0" marL="0">
              <a:buNone/>
            </a:pPr>
            <a:r>
              <a:rPr lang="en-US" sz="1300" dirty="0">
                <a:solidFill>
                  <a:schemeClr val="tx1"/>
                </a:solidFill>
              </a:rPr>
              <a:t>결과를 정리해 답변</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Tosca MCP Server는 Commander 안에서 동작한다</a:t>
            </a:r>
            <a:endParaRPr lang="en-US" sz="3200" dirty="0"/>
          </a:p>
        </p:txBody>
      </p:sp>
      <p:sp>
        <p:nvSpPr>
          <p:cNvPr id="4" name="card_191"/>
          <p:cNvSpPr/>
          <p:nvPr/>
        </p:nvSpPr>
        <p:spPr>
          <a:xfrm>
            <a:off x="822960" y="1371600"/>
            <a:ext cx="2194560" cy="658368"/>
          </a:xfrm>
          <a:prstGeom prst="roundRect">
            <a:avLst>
              <a:gd name="adj" fmla="val 13889"/>
            </a:avLst>
          </a:prstGeom>
          <a:solidFill>
            <a:schemeClr val="bg1"/>
          </a:solidFill>
          <a:ln w="12700">
            <a:solidFill>
              <a:schemeClr val="accent6"/>
            </a:solidFill>
            <a:prstDash val="dash"/>
          </a:ln>
        </p:spPr>
      </p:sp>
      <p:pic>
        <p:nvPicPr>
          <p:cNvPr id="5" name="icon_192" descr="preencoded.png">    </p:cNvPr>
          <p:cNvPicPr>
            <a:picLocks noChangeAspect="1"/>
          </p:cNvPicPr>
          <p:nvPr/>
        </p:nvPicPr>
        <p:blipFill>
          <a:blip r:embed="rId1"/>
          <a:stretch>
            <a:fillRect/>
          </a:stretch>
        </p:blipFill>
        <p:spPr>
          <a:xfrm>
            <a:off x="960120" y="1499616"/>
            <a:ext cx="384048" cy="384048"/>
          </a:xfrm>
          <a:prstGeom prst="rect">
            <a:avLst/>
          </a:prstGeom>
        </p:spPr>
      </p:pic>
      <p:sp>
        <p:nvSpPr>
          <p:cNvPr id="6" name="text_193"/>
          <p:cNvSpPr txBox="1"/>
          <p:nvPr/>
        </p:nvSpPr>
        <p:spPr>
          <a:xfrm>
            <a:off x="1417320" y="1371600"/>
            <a:ext cx="1600200" cy="658368"/>
          </a:xfrm>
          <a:prstGeom prst="rect">
            <a:avLst/>
          </a:prstGeom>
          <a:noFill/>
          <a:ln/>
        </p:spPr>
        <p:txBody>
          <a:bodyPr wrap="square" lIns="0" tIns="0" rIns="0" bIns="0" rtlCol="0" anchor="ctr"/>
          <a:lstStyle/>
          <a:p>
            <a:pPr indent="0" marL="0">
              <a:buNone/>
            </a:pPr>
            <a:r>
              <a:rPr lang="en-US" sz="1200" b="1" dirty="0">
                <a:solidFill>
                  <a:schemeClr val="accent6"/>
                </a:solidFill>
              </a:rPr>
              <a:t>AI 모델 (클라우드)</a:t>
            </a:r>
            <a:endParaRPr lang="en-US" sz="1200" dirty="0"/>
          </a:p>
        </p:txBody>
      </p:sp>
      <p:sp>
        <p:nvSpPr>
          <p:cNvPr id="7" name="text_194"/>
          <p:cNvSpPr txBox="1"/>
          <p:nvPr/>
        </p:nvSpPr>
        <p:spPr>
          <a:xfrm>
            <a:off x="3200400" y="1371600"/>
            <a:ext cx="3931920" cy="658368"/>
          </a:xfrm>
          <a:prstGeom prst="rect">
            <a:avLst/>
          </a:prstGeom>
          <a:noFill/>
          <a:ln/>
        </p:spPr>
        <p:txBody>
          <a:bodyPr wrap="square" lIns="0" tIns="0" rIns="0" bIns="0" rtlCol="0" anchor="ctr"/>
          <a:lstStyle/>
          <a:p>
            <a:pPr indent="0" marL="0">
              <a:buNone/>
            </a:pPr>
            <a:r>
              <a:rPr lang="en-US" sz="1200" dirty="0">
                <a:solidFill>
                  <a:schemeClr val="accent6"/>
                </a:solidFill>
              </a:rPr>
              <a:t>요청과 결과 일부가 모델로 전달된다. 사내 AI 사용 정책을 확인한다.</a:t>
            </a:r>
            <a:endParaRPr lang="en-US" sz="1200" dirty="0"/>
          </a:p>
        </p:txBody>
      </p:sp>
      <p:sp>
        <p:nvSpPr>
          <p:cNvPr id="8" name="line_195"/>
          <p:cNvSpPr/>
          <p:nvPr/>
        </p:nvSpPr>
        <p:spPr>
          <a:xfrm>
            <a:off x="1920240" y="2029968"/>
            <a:ext cx="914" cy="987552"/>
          </a:xfrm>
          <a:prstGeom prst="line">
            <a:avLst/>
          </a:prstGeom>
          <a:noFill/>
          <a:ln w="15875">
            <a:solidFill>
              <a:schemeClr val="accent6"/>
            </a:solidFill>
            <a:prstDash val="dash"/>
          </a:ln>
        </p:spPr>
      </p:sp>
      <p:sp>
        <p:nvSpPr>
          <p:cNvPr id="9" name="pc_196"/>
          <p:cNvSpPr/>
          <p:nvPr/>
        </p:nvSpPr>
        <p:spPr>
          <a:xfrm>
            <a:off x="548640" y="2331720"/>
            <a:ext cx="6629400" cy="3657600"/>
          </a:xfrm>
          <a:prstGeom prst="roundRect">
            <a:avLst>
              <a:gd name="adj" fmla="val 3000"/>
            </a:avLst>
          </a:prstGeom>
          <a:solidFill>
            <a:schemeClr val="bg1"/>
          </a:solidFill>
          <a:ln w="15875">
            <a:solidFill>
              <a:schemeClr val="accent3"/>
            </a:solidFill>
            <a:prstDash val="dash"/>
          </a:ln>
        </p:spPr>
      </p:sp>
      <p:pic>
        <p:nvPicPr>
          <p:cNvPr id="10" name="icon_197" descr="preencoded.png">    </p:cNvPr>
          <p:cNvPicPr>
            <a:picLocks noChangeAspect="1"/>
          </p:cNvPicPr>
          <p:nvPr/>
        </p:nvPicPr>
        <p:blipFill>
          <a:blip r:embed="rId2"/>
          <a:stretch>
            <a:fillRect/>
          </a:stretch>
        </p:blipFill>
        <p:spPr>
          <a:xfrm>
            <a:off x="731520" y="2450592"/>
            <a:ext cx="274320" cy="274320"/>
          </a:xfrm>
          <a:prstGeom prst="rect">
            <a:avLst/>
          </a:prstGeom>
        </p:spPr>
      </p:pic>
      <p:sp>
        <p:nvSpPr>
          <p:cNvPr id="11" name="text_198"/>
          <p:cNvSpPr txBox="1"/>
          <p:nvPr/>
        </p:nvSpPr>
        <p:spPr>
          <a:xfrm>
            <a:off x="1078992" y="2432304"/>
            <a:ext cx="1371600" cy="310896"/>
          </a:xfrm>
          <a:prstGeom prst="rect">
            <a:avLst/>
          </a:prstGeom>
          <a:noFill/>
          <a:ln/>
        </p:spPr>
        <p:txBody>
          <a:bodyPr wrap="square" lIns="0" tIns="0" rIns="0" bIns="0" rtlCol="0" anchor="ctr"/>
          <a:lstStyle/>
          <a:p>
            <a:pPr indent="0" marL="0">
              <a:buNone/>
            </a:pPr>
            <a:r>
              <a:rPr lang="en-US" sz="1200" b="1" dirty="0">
                <a:solidFill>
                  <a:schemeClr val="accent3"/>
                </a:solidFill>
              </a:rPr>
              <a:t>내 PC</a:t>
            </a:r>
            <a:endParaRPr lang="en-US" sz="1200" dirty="0"/>
          </a:p>
        </p:txBody>
      </p:sp>
      <p:sp>
        <p:nvSpPr>
          <p:cNvPr id="12" name="card_199"/>
          <p:cNvSpPr/>
          <p:nvPr/>
        </p:nvSpPr>
        <p:spPr>
          <a:xfrm>
            <a:off x="822960" y="3017520"/>
            <a:ext cx="2194560" cy="1691640"/>
          </a:xfrm>
          <a:prstGeom prst="roundRect">
            <a:avLst>
              <a:gd name="adj" fmla="val 5405"/>
            </a:avLst>
          </a:prstGeom>
          <a:solidFill>
            <a:schemeClr val="bg2"/>
          </a:solidFill>
          <a:ln/>
          <a:effectLst>
            <a:outerShdw sx="100000" sy="100000" kx="0" ky="0" algn="bl" rotWithShape="0" blurRad="76200" dist="25400" dir="5400000">
              <a:srgbClr val="1E2B2F">
                <a:alpha val="12000"/>
              </a:srgbClr>
            </a:outerShdw>
          </a:effectLst>
        </p:spPr>
      </p:sp>
      <p:pic>
        <p:nvPicPr>
          <p:cNvPr id="13" name="icon_200" descr="preencoded.png">    </p:cNvPr>
          <p:cNvPicPr>
            <a:picLocks noChangeAspect="1"/>
          </p:cNvPicPr>
          <p:nvPr/>
        </p:nvPicPr>
        <p:blipFill>
          <a:blip r:embed="rId3"/>
          <a:stretch>
            <a:fillRect/>
          </a:stretch>
        </p:blipFill>
        <p:spPr>
          <a:xfrm>
            <a:off x="1005840" y="3182112"/>
            <a:ext cx="411480" cy="411480"/>
          </a:xfrm>
          <a:prstGeom prst="rect">
            <a:avLst/>
          </a:prstGeom>
        </p:spPr>
      </p:pic>
      <p:sp>
        <p:nvSpPr>
          <p:cNvPr id="14" name="text_201"/>
          <p:cNvSpPr txBox="1"/>
          <p:nvPr/>
        </p:nvSpPr>
        <p:spPr>
          <a:xfrm>
            <a:off x="1005840" y="3657600"/>
            <a:ext cx="1920240" cy="365760"/>
          </a:xfrm>
          <a:prstGeom prst="rect">
            <a:avLst/>
          </a:prstGeom>
          <a:noFill/>
          <a:ln/>
        </p:spPr>
        <p:txBody>
          <a:bodyPr wrap="square" lIns="0" tIns="0" rIns="0" bIns="0" rtlCol="0" anchor="t"/>
          <a:lstStyle/>
          <a:p>
            <a:pPr indent="0" marL="0">
              <a:buNone/>
            </a:pPr>
            <a:r>
              <a:rPr lang="en-US" sz="1500" b="1" dirty="0">
                <a:solidFill>
                  <a:schemeClr val="tx1"/>
                </a:solidFill>
              </a:rPr>
              <a:t>AI 어시스턴트</a:t>
            </a:r>
            <a:endParaRPr lang="en-US" sz="1500" dirty="0"/>
          </a:p>
        </p:txBody>
      </p:sp>
      <p:sp>
        <p:nvSpPr>
          <p:cNvPr id="15" name="text_202"/>
          <p:cNvSpPr txBox="1"/>
          <p:nvPr/>
        </p:nvSpPr>
        <p:spPr>
          <a:xfrm>
            <a:off x="1005840" y="4041648"/>
            <a:ext cx="1920240" cy="502920"/>
          </a:xfrm>
          <a:prstGeom prst="rect">
            <a:avLst/>
          </a:prstGeom>
          <a:noFill/>
          <a:ln/>
        </p:spPr>
        <p:txBody>
          <a:bodyPr wrap="square" lIns="0" tIns="0" rIns="0" bIns="0" rtlCol="0" anchor="t"/>
          <a:lstStyle/>
          <a:p>
            <a:pPr indent="0" marL="0">
              <a:buNone/>
            </a:pPr>
            <a:r>
              <a:rPr lang="en-US" sz="1100" dirty="0">
                <a:solidFill>
                  <a:schemeClr val="accent6"/>
                </a:solidFill>
              </a:rPr>
              <a:t>VS Code · Cursor · Claude</a:t>
            </a:r>
            <a:endParaRPr lang="en-US" sz="1100" dirty="0"/>
          </a:p>
        </p:txBody>
      </p:sp>
      <p:sp>
        <p:nvSpPr>
          <p:cNvPr id="16" name="card_203"/>
          <p:cNvSpPr/>
          <p:nvPr/>
        </p:nvSpPr>
        <p:spPr>
          <a:xfrm>
            <a:off x="3886200" y="2697480"/>
            <a:ext cx="3063240" cy="3063240"/>
          </a:xfrm>
          <a:prstGeom prst="roundRect">
            <a:avLst>
              <a:gd name="adj" fmla="val 2985"/>
            </a:avLst>
          </a:prstGeom>
          <a:solidFill>
            <a:schemeClr val="bg2"/>
          </a:solidFill>
          <a:ln/>
          <a:effectLst>
            <a:outerShdw sx="100000" sy="100000" kx="0" ky="0" algn="bl" rotWithShape="0" blurRad="76200" dist="25400" dir="5400000">
              <a:srgbClr val="1E2B2F">
                <a:alpha val="12000"/>
              </a:srgbClr>
            </a:outerShdw>
          </a:effectLst>
        </p:spPr>
      </p:sp>
      <p:sp>
        <p:nvSpPr>
          <p:cNvPr id="17" name="text_204"/>
          <p:cNvSpPr txBox="1"/>
          <p:nvPr/>
        </p:nvSpPr>
        <p:spPr>
          <a:xfrm>
            <a:off x="4069080" y="2788920"/>
            <a:ext cx="2743200" cy="365760"/>
          </a:xfrm>
          <a:prstGeom prst="rect">
            <a:avLst/>
          </a:prstGeom>
          <a:noFill/>
          <a:ln/>
        </p:spPr>
        <p:txBody>
          <a:bodyPr wrap="square" lIns="0" tIns="0" rIns="0" bIns="0" rtlCol="0" anchor="t"/>
          <a:lstStyle/>
          <a:p>
            <a:pPr indent="0" marL="0">
              <a:buNone/>
            </a:pPr>
            <a:r>
              <a:rPr lang="en-US" sz="1300" b="1" dirty="0">
                <a:solidFill>
                  <a:schemeClr val="tx2"/>
                </a:solidFill>
              </a:rPr>
              <a:t>Tosca Commander 2026.1</a:t>
            </a:r>
            <a:endParaRPr lang="en-US" sz="1300" dirty="0"/>
          </a:p>
        </p:txBody>
      </p:sp>
      <p:sp>
        <p:nvSpPr>
          <p:cNvPr id="18" name="card_205"/>
          <p:cNvSpPr/>
          <p:nvPr/>
        </p:nvSpPr>
        <p:spPr>
          <a:xfrm>
            <a:off x="4069080" y="3200400"/>
            <a:ext cx="2697480" cy="777240"/>
          </a:xfrm>
          <a:prstGeom prst="roundRect">
            <a:avLst>
              <a:gd name="adj" fmla="val 11765"/>
            </a:avLst>
          </a:prstGeom>
          <a:solidFill>
            <a:schemeClr val="accent2">
              <a:alpha val="45000"/>
            </a:schemeClr>
          </a:solidFill>
          <a:ln/>
        </p:spPr>
      </p:sp>
      <p:sp>
        <p:nvSpPr>
          <p:cNvPr id="19" name="text_206"/>
          <p:cNvSpPr txBox="1"/>
          <p:nvPr/>
        </p:nvSpPr>
        <p:spPr>
          <a:xfrm>
            <a:off x="4206240" y="3200400"/>
            <a:ext cx="2468880" cy="777240"/>
          </a:xfrm>
          <a:prstGeom prst="rect">
            <a:avLst/>
          </a:prstGeom>
          <a:noFill/>
          <a:ln/>
        </p:spPr>
        <p:txBody>
          <a:bodyPr wrap="square" lIns="0" tIns="0" rIns="0" bIns="0" rtlCol="0" anchor="ctr"/>
          <a:lstStyle/>
          <a:p>
            <a:pPr indent="0" marL="0">
              <a:buNone/>
            </a:pPr>
            <a:r>
              <a:rPr lang="en-US" sz="1300" b="1" dirty="0">
                <a:solidFill>
                  <a:schemeClr val="tx1"/>
                </a:solidFill>
              </a:rPr>
              <a:t>Tosca MCP Server Addin</a:t>
            </a:r>
            <a:endParaRPr lang="en-US" sz="1300" dirty="0"/>
          </a:p>
        </p:txBody>
      </p:sp>
      <p:sp>
        <p:nvSpPr>
          <p:cNvPr id="20" name="line_207"/>
          <p:cNvSpPr/>
          <p:nvPr/>
        </p:nvSpPr>
        <p:spPr>
          <a:xfrm>
            <a:off x="5413248" y="4005072"/>
            <a:ext cx="914" cy="310896"/>
          </a:xfrm>
          <a:prstGeom prst="line">
            <a:avLst/>
          </a:prstGeom>
          <a:noFill/>
          <a:ln w="19050">
            <a:solidFill>
              <a:schemeClr val="accent1"/>
            </a:solidFill>
            <a:prstDash val="solid"/>
            <a:tailEnd type="triangle"/>
          </a:ln>
        </p:spPr>
      </p:sp>
      <p:sp>
        <p:nvSpPr>
          <p:cNvPr id="21" name="card_208"/>
          <p:cNvSpPr/>
          <p:nvPr/>
        </p:nvSpPr>
        <p:spPr>
          <a:xfrm>
            <a:off x="4069080" y="4343400"/>
            <a:ext cx="2697480" cy="1234440"/>
          </a:xfrm>
          <a:prstGeom prst="roundRect">
            <a:avLst>
              <a:gd name="adj" fmla="val 7407"/>
            </a:avLst>
          </a:prstGeom>
          <a:solidFill>
            <a:schemeClr val="bg1"/>
          </a:solidFill>
          <a:ln w="12700">
            <a:solidFill>
              <a:schemeClr val="accent3"/>
            </a:solidFill>
            <a:prstDash val="solid"/>
          </a:ln>
        </p:spPr>
      </p:sp>
      <p:sp>
        <p:nvSpPr>
          <p:cNvPr id="22" name="text_209"/>
          <p:cNvSpPr txBox="1"/>
          <p:nvPr/>
        </p:nvSpPr>
        <p:spPr>
          <a:xfrm>
            <a:off x="4206240" y="4407408"/>
            <a:ext cx="2468880" cy="347472"/>
          </a:xfrm>
          <a:prstGeom prst="rect">
            <a:avLst/>
          </a:prstGeom>
          <a:noFill/>
          <a:ln/>
        </p:spPr>
        <p:txBody>
          <a:bodyPr wrap="square" lIns="0" tIns="0" rIns="0" bIns="0" rtlCol="0" anchor="t"/>
          <a:lstStyle/>
          <a:p>
            <a:pPr indent="0" marL="0">
              <a:buNone/>
            </a:pPr>
            <a:r>
              <a:rPr lang="en-US" sz="1300" b="1" dirty="0">
                <a:solidFill>
                  <a:schemeClr val="tx1"/>
                </a:solidFill>
              </a:rPr>
              <a:t>열린 워크스페이스</a:t>
            </a:r>
            <a:endParaRPr lang="en-US" sz="1300" dirty="0"/>
          </a:p>
        </p:txBody>
      </p:sp>
      <p:sp>
        <p:nvSpPr>
          <p:cNvPr id="23" name="text_210"/>
          <p:cNvSpPr txBox="1"/>
          <p:nvPr/>
        </p:nvSpPr>
        <p:spPr>
          <a:xfrm>
            <a:off x="4206240" y="4773168"/>
            <a:ext cx="2468880" cy="685800"/>
          </a:xfrm>
          <a:prstGeom prst="rect">
            <a:avLst/>
          </a:prstGeom>
          <a:noFill/>
          <a:ln/>
        </p:spPr>
        <p:txBody>
          <a:bodyPr wrap="square" lIns="0" tIns="0" rIns="0" bIns="0" rtlCol="0" anchor="t"/>
          <a:lstStyle/>
          <a:p>
            <a:pPr indent="0" marL="0">
              <a:buNone/>
            </a:pPr>
            <a:r>
              <a:rPr lang="en-US" sz="1100" dirty="0">
                <a:solidFill>
                  <a:schemeClr val="accent6"/>
                </a:solidFill>
              </a:rPr>
              <a:t>싱글 유저: 내 PC 파일</a:t>
            </a:r>
            <a:endParaRPr lang="en-US" sz="1100" dirty="0"/>
          </a:p>
          <a:p>
            <a:pPr indent="0" marL="0">
              <a:buNone/>
            </a:pPr>
            <a:r>
              <a:rPr lang="en-US" sz="1100" dirty="0">
                <a:solidFill>
                  <a:schemeClr val="accent6"/>
                </a:solidFill>
              </a:rPr>
              <a:t>멀티 유저: 공통 리포지토리</a:t>
            </a:r>
            <a:endParaRPr lang="en-US" sz="1100" dirty="0"/>
          </a:p>
        </p:txBody>
      </p:sp>
      <p:sp>
        <p:nvSpPr>
          <p:cNvPr id="24" name="line_211"/>
          <p:cNvSpPr/>
          <p:nvPr/>
        </p:nvSpPr>
        <p:spPr>
          <a:xfrm>
            <a:off x="3035808" y="3858768"/>
            <a:ext cx="822960" cy="0"/>
          </a:xfrm>
          <a:prstGeom prst="line">
            <a:avLst/>
          </a:prstGeom>
          <a:noFill/>
          <a:ln w="22225">
            <a:solidFill>
              <a:schemeClr val="accent1"/>
            </a:solidFill>
            <a:prstDash val="solid"/>
            <a:tailEnd type="triangle"/>
          </a:ln>
        </p:spPr>
      </p:sp>
      <p:sp>
        <p:nvSpPr>
          <p:cNvPr id="25" name="line_212"/>
          <p:cNvSpPr/>
          <p:nvPr/>
        </p:nvSpPr>
        <p:spPr>
          <a:xfrm flipH="1">
            <a:off x="3035808" y="4041648"/>
            <a:ext cx="822960" cy="0"/>
          </a:xfrm>
          <a:prstGeom prst="line">
            <a:avLst/>
          </a:prstGeom>
          <a:noFill/>
          <a:ln w="22225">
            <a:solidFill>
              <a:schemeClr val="accent1"/>
            </a:solidFill>
            <a:prstDash val="solid"/>
            <a:tailEnd type="triangle"/>
          </a:ln>
        </p:spPr>
      </p:sp>
      <p:sp>
        <p:nvSpPr>
          <p:cNvPr id="26" name="text_213"/>
          <p:cNvSpPr txBox="1"/>
          <p:nvPr/>
        </p:nvSpPr>
        <p:spPr>
          <a:xfrm>
            <a:off x="3017520" y="3493008"/>
            <a:ext cx="868680" cy="292608"/>
          </a:xfrm>
          <a:prstGeom prst="rect">
            <a:avLst/>
          </a:prstGeom>
          <a:noFill/>
          <a:ln/>
        </p:spPr>
        <p:txBody>
          <a:bodyPr wrap="square" lIns="0" tIns="0" rIns="0" bIns="0" rtlCol="0" anchor="t"/>
          <a:lstStyle/>
          <a:p>
            <a:pPr algn="ctr" indent="0" marL="0">
              <a:buNone/>
            </a:pPr>
            <a:r>
              <a:rPr lang="en-US" sz="1100" b="1" dirty="0">
                <a:solidFill>
                  <a:schemeClr val="tx2"/>
                </a:solidFill>
              </a:rPr>
              <a:t>HTTP</a:t>
            </a:r>
            <a:endParaRPr lang="en-US" sz="1100" dirty="0"/>
          </a:p>
        </p:txBody>
      </p:sp>
      <p:sp>
        <p:nvSpPr>
          <p:cNvPr id="27" name="text_214"/>
          <p:cNvSpPr txBox="1"/>
          <p:nvPr/>
        </p:nvSpPr>
        <p:spPr>
          <a:xfrm>
            <a:off x="822960" y="5257800"/>
            <a:ext cx="2926080" cy="457200"/>
          </a:xfrm>
          <a:prstGeom prst="rect">
            <a:avLst/>
          </a:prstGeom>
          <a:noFill/>
          <a:ln/>
        </p:spPr>
        <p:txBody>
          <a:bodyPr wrap="square" lIns="0" tIns="0" rIns="0" bIns="0" rtlCol="0" anchor="ctr"/>
          <a:lstStyle/>
          <a:p>
            <a:pPr indent="0" marL="0">
              <a:buNone/>
            </a:pPr>
            <a:r>
              <a:rPr lang="en-US" sz="1100" dirty="0">
                <a:solidFill>
                  <a:schemeClr val="tx2"/>
                </a:solidFill>
                <a:latin typeface="Consolas" pitchFamily="34" charset="0"/>
                <a:ea typeface="Consolas" pitchFamily="34" charset="-122"/>
                <a:cs typeface="Consolas" pitchFamily="34" charset="-120"/>
              </a:rPr>
              <a:t>http://127.0.0.1:46248/mcp</a:t>
            </a:r>
            <a:endParaRPr lang="en-US" sz="1100" dirty="0"/>
          </a:p>
        </p:txBody>
      </p:sp>
      <p:sp>
        <p:nvSpPr>
          <p:cNvPr id="28" name="iconbg_215"/>
          <p:cNvSpPr/>
          <p:nvPr/>
        </p:nvSpPr>
        <p:spPr>
          <a:xfrm>
            <a:off x="7543800" y="1417320"/>
            <a:ext cx="502920" cy="502920"/>
          </a:xfrm>
          <a:prstGeom prst="ellipse">
            <a:avLst/>
          </a:prstGeom>
          <a:solidFill>
            <a:schemeClr val="accent1"/>
          </a:solidFill>
          <a:ln/>
        </p:spPr>
      </p:sp>
      <p:pic>
        <p:nvPicPr>
          <p:cNvPr id="29" name="icon_216" descr="preencoded.png">    </p:cNvPr>
          <p:cNvPicPr>
            <a:picLocks noChangeAspect="1"/>
          </p:cNvPicPr>
          <p:nvPr/>
        </p:nvPicPr>
        <p:blipFill>
          <a:blip r:embed="rId4"/>
          <a:stretch>
            <a:fillRect/>
          </a:stretch>
        </p:blipFill>
        <p:spPr>
          <a:xfrm>
            <a:off x="7664501" y="1538021"/>
            <a:ext cx="261518" cy="261518"/>
          </a:xfrm>
          <a:prstGeom prst="rect">
            <a:avLst/>
          </a:prstGeom>
        </p:spPr>
      </p:pic>
      <p:sp>
        <p:nvSpPr>
          <p:cNvPr id="30" name="text_217"/>
          <p:cNvSpPr txBox="1"/>
          <p:nvPr/>
        </p:nvSpPr>
        <p:spPr>
          <a:xfrm>
            <a:off x="8229600" y="1399032"/>
            <a:ext cx="3410712" cy="365760"/>
          </a:xfrm>
          <a:prstGeom prst="rect">
            <a:avLst/>
          </a:prstGeom>
          <a:noFill/>
          <a:ln/>
        </p:spPr>
        <p:txBody>
          <a:bodyPr wrap="square" lIns="0" tIns="0" rIns="0" bIns="0" rtlCol="0" anchor="t"/>
          <a:lstStyle/>
          <a:p>
            <a:pPr indent="0" marL="0">
              <a:buNone/>
            </a:pPr>
            <a:r>
              <a:rPr lang="en-US" sz="1500" b="1" dirty="0">
                <a:solidFill>
                  <a:schemeClr val="tx1"/>
                </a:solidFill>
              </a:rPr>
              <a:t>2026.1 LTS Patch 1부터 제공</a:t>
            </a:r>
            <a:endParaRPr lang="en-US" sz="1500" dirty="0"/>
          </a:p>
        </p:txBody>
      </p:sp>
      <p:sp>
        <p:nvSpPr>
          <p:cNvPr id="31" name="text_218"/>
          <p:cNvSpPr txBox="1"/>
          <p:nvPr/>
        </p:nvSpPr>
        <p:spPr>
          <a:xfrm>
            <a:off x="8229600" y="1764792"/>
            <a:ext cx="3410712" cy="731520"/>
          </a:xfrm>
          <a:prstGeom prst="rect">
            <a:avLst/>
          </a:prstGeom>
          <a:noFill/>
          <a:ln/>
        </p:spPr>
        <p:txBody>
          <a:bodyPr wrap="square" lIns="0" tIns="0" rIns="0" bIns="0" rtlCol="0" anchor="t"/>
          <a:lstStyle/>
          <a:p>
            <a:pPr indent="0" marL="0">
              <a:buNone/>
            </a:pPr>
            <a:r>
              <a:rPr lang="en-US" sz="1300" dirty="0">
                <a:solidFill>
                  <a:schemeClr val="accent6"/>
                </a:solidFill>
              </a:rPr>
              <a:t>Patch 2부터 애드인이 기본으로 켜져 있다</a:t>
            </a:r>
            <a:endParaRPr lang="en-US" sz="1300" dirty="0"/>
          </a:p>
        </p:txBody>
      </p:sp>
      <p:sp>
        <p:nvSpPr>
          <p:cNvPr id="32" name="iconbg_219"/>
          <p:cNvSpPr/>
          <p:nvPr/>
        </p:nvSpPr>
        <p:spPr>
          <a:xfrm>
            <a:off x="7543800" y="2578608"/>
            <a:ext cx="502920" cy="502920"/>
          </a:xfrm>
          <a:prstGeom prst="ellipse">
            <a:avLst/>
          </a:prstGeom>
          <a:solidFill>
            <a:schemeClr val="accent1"/>
          </a:solidFill>
          <a:ln/>
        </p:spPr>
      </p:sp>
      <p:pic>
        <p:nvPicPr>
          <p:cNvPr id="33" name="icon_220" descr="preencoded.png">    </p:cNvPr>
          <p:cNvPicPr>
            <a:picLocks noChangeAspect="1"/>
          </p:cNvPicPr>
          <p:nvPr/>
        </p:nvPicPr>
        <p:blipFill>
          <a:blip r:embed="rId5"/>
          <a:stretch>
            <a:fillRect/>
          </a:stretch>
        </p:blipFill>
        <p:spPr>
          <a:xfrm>
            <a:off x="7664501" y="2699309"/>
            <a:ext cx="261518" cy="261518"/>
          </a:xfrm>
          <a:prstGeom prst="rect">
            <a:avLst/>
          </a:prstGeom>
        </p:spPr>
      </p:pic>
      <p:sp>
        <p:nvSpPr>
          <p:cNvPr id="34" name="text_221"/>
          <p:cNvSpPr txBox="1"/>
          <p:nvPr/>
        </p:nvSpPr>
        <p:spPr>
          <a:xfrm>
            <a:off x="8229600" y="2560320"/>
            <a:ext cx="3410712" cy="365760"/>
          </a:xfrm>
          <a:prstGeom prst="rect">
            <a:avLst/>
          </a:prstGeom>
          <a:noFill/>
          <a:ln/>
        </p:spPr>
        <p:txBody>
          <a:bodyPr wrap="square" lIns="0" tIns="0" rIns="0" bIns="0" rtlCol="0" anchor="t"/>
          <a:lstStyle/>
          <a:p>
            <a:pPr indent="0" marL="0">
              <a:buNone/>
            </a:pPr>
            <a:r>
              <a:rPr lang="en-US" sz="1500" b="1" dirty="0">
                <a:solidFill>
                  <a:schemeClr val="tx1"/>
                </a:solidFill>
              </a:rPr>
              <a:t>Commander가 열려 있는 동안만</a:t>
            </a:r>
            <a:endParaRPr lang="en-US" sz="1500" dirty="0"/>
          </a:p>
        </p:txBody>
      </p:sp>
      <p:sp>
        <p:nvSpPr>
          <p:cNvPr id="35" name="text_222"/>
          <p:cNvSpPr txBox="1"/>
          <p:nvPr/>
        </p:nvSpPr>
        <p:spPr>
          <a:xfrm>
            <a:off x="8229600" y="2926080"/>
            <a:ext cx="3410712" cy="731520"/>
          </a:xfrm>
          <a:prstGeom prst="rect">
            <a:avLst/>
          </a:prstGeom>
          <a:noFill/>
          <a:ln/>
        </p:spPr>
        <p:txBody>
          <a:bodyPr wrap="square" lIns="0" tIns="0" rIns="0" bIns="0" rtlCol="0" anchor="t"/>
          <a:lstStyle/>
          <a:p>
            <a:pPr indent="0" marL="0">
              <a:buNone/>
            </a:pPr>
            <a:r>
              <a:rPr lang="en-US" sz="1300" dirty="0">
                <a:solidFill>
                  <a:schemeClr val="accent6"/>
                </a:solidFill>
              </a:rPr>
              <a:t>Commander나 워크스페이스를 닫으면 연결도 끊긴다</a:t>
            </a:r>
            <a:endParaRPr lang="en-US" sz="1300" dirty="0"/>
          </a:p>
        </p:txBody>
      </p:sp>
      <p:sp>
        <p:nvSpPr>
          <p:cNvPr id="36" name="iconbg_223"/>
          <p:cNvSpPr/>
          <p:nvPr/>
        </p:nvSpPr>
        <p:spPr>
          <a:xfrm>
            <a:off x="7543800" y="3739896"/>
            <a:ext cx="502920" cy="502920"/>
          </a:xfrm>
          <a:prstGeom prst="ellipse">
            <a:avLst/>
          </a:prstGeom>
          <a:solidFill>
            <a:schemeClr val="accent1"/>
          </a:solidFill>
          <a:ln/>
        </p:spPr>
      </p:sp>
      <p:pic>
        <p:nvPicPr>
          <p:cNvPr id="37" name="icon_224" descr="preencoded.png">    </p:cNvPr>
          <p:cNvPicPr>
            <a:picLocks noChangeAspect="1"/>
          </p:cNvPicPr>
          <p:nvPr/>
        </p:nvPicPr>
        <p:blipFill>
          <a:blip r:embed="rId6"/>
          <a:stretch>
            <a:fillRect/>
          </a:stretch>
        </p:blipFill>
        <p:spPr>
          <a:xfrm>
            <a:off x="7664501" y="3860597"/>
            <a:ext cx="261518" cy="261518"/>
          </a:xfrm>
          <a:prstGeom prst="rect">
            <a:avLst/>
          </a:prstGeom>
        </p:spPr>
      </p:pic>
      <p:sp>
        <p:nvSpPr>
          <p:cNvPr id="38" name="text_225"/>
          <p:cNvSpPr txBox="1"/>
          <p:nvPr/>
        </p:nvSpPr>
        <p:spPr>
          <a:xfrm>
            <a:off x="8229600" y="3721608"/>
            <a:ext cx="3410712" cy="365760"/>
          </a:xfrm>
          <a:prstGeom prst="rect">
            <a:avLst/>
          </a:prstGeom>
          <a:noFill/>
          <a:ln/>
        </p:spPr>
        <p:txBody>
          <a:bodyPr wrap="square" lIns="0" tIns="0" rIns="0" bIns="0" rtlCol="0" anchor="t"/>
          <a:lstStyle/>
          <a:p>
            <a:pPr indent="0" marL="0">
              <a:buNone/>
            </a:pPr>
            <a:r>
              <a:rPr lang="en-US" sz="1500" b="1" dirty="0">
                <a:solidFill>
                  <a:schemeClr val="tx1"/>
                </a:solidFill>
              </a:rPr>
              <a:t>내 권한 그대로</a:t>
            </a:r>
            <a:endParaRPr lang="en-US" sz="1500" dirty="0"/>
          </a:p>
        </p:txBody>
      </p:sp>
      <p:sp>
        <p:nvSpPr>
          <p:cNvPr id="39" name="text_226"/>
          <p:cNvSpPr txBox="1"/>
          <p:nvPr/>
        </p:nvSpPr>
        <p:spPr>
          <a:xfrm>
            <a:off x="8229600" y="4087368"/>
            <a:ext cx="3410712" cy="731520"/>
          </a:xfrm>
          <a:prstGeom prst="rect">
            <a:avLst/>
          </a:prstGeom>
          <a:noFill/>
          <a:ln/>
        </p:spPr>
        <p:txBody>
          <a:bodyPr wrap="square" lIns="0" tIns="0" rIns="0" bIns="0" rtlCol="0" anchor="t"/>
          <a:lstStyle/>
          <a:p>
            <a:pPr indent="0" marL="0">
              <a:buNone/>
            </a:pPr>
            <a:r>
              <a:rPr lang="en-US" sz="1300" dirty="0">
                <a:solidFill>
                  <a:schemeClr val="accent6"/>
                </a:solidFill>
              </a:rPr>
              <a:t>워크스페이스를 연 사용자 권한으로 움직이고, 체크인·체크아웃 규칙도 같다</a:t>
            </a:r>
            <a:endParaRPr lang="en-US" sz="1300" dirty="0"/>
          </a:p>
        </p:txBody>
      </p:sp>
      <p:sp>
        <p:nvSpPr>
          <p:cNvPr id="40" name="iconbg_227"/>
          <p:cNvSpPr/>
          <p:nvPr/>
        </p:nvSpPr>
        <p:spPr>
          <a:xfrm>
            <a:off x="7543800" y="4901184"/>
            <a:ext cx="502920" cy="502920"/>
          </a:xfrm>
          <a:prstGeom prst="ellipse">
            <a:avLst/>
          </a:prstGeom>
          <a:solidFill>
            <a:schemeClr val="accent1"/>
          </a:solidFill>
          <a:ln/>
        </p:spPr>
      </p:sp>
      <p:pic>
        <p:nvPicPr>
          <p:cNvPr id="41" name="icon_228" descr="preencoded.png">    </p:cNvPr>
          <p:cNvPicPr>
            <a:picLocks noChangeAspect="1"/>
          </p:cNvPicPr>
          <p:nvPr/>
        </p:nvPicPr>
        <p:blipFill>
          <a:blip r:embed="rId7"/>
          <a:stretch>
            <a:fillRect/>
          </a:stretch>
        </p:blipFill>
        <p:spPr>
          <a:xfrm>
            <a:off x="7664501" y="5021885"/>
            <a:ext cx="261518" cy="261518"/>
          </a:xfrm>
          <a:prstGeom prst="rect">
            <a:avLst/>
          </a:prstGeom>
        </p:spPr>
      </p:pic>
      <p:sp>
        <p:nvSpPr>
          <p:cNvPr id="42" name="text_229"/>
          <p:cNvSpPr txBox="1"/>
          <p:nvPr/>
        </p:nvSpPr>
        <p:spPr>
          <a:xfrm>
            <a:off x="8229600" y="4882896"/>
            <a:ext cx="3410712" cy="365760"/>
          </a:xfrm>
          <a:prstGeom prst="rect">
            <a:avLst/>
          </a:prstGeom>
          <a:noFill/>
          <a:ln/>
        </p:spPr>
        <p:txBody>
          <a:bodyPr wrap="square" lIns="0" tIns="0" rIns="0" bIns="0" rtlCol="0" anchor="t"/>
          <a:lstStyle/>
          <a:p>
            <a:pPr indent="0" marL="0">
              <a:buNone/>
            </a:pPr>
            <a:r>
              <a:rPr lang="en-US" sz="1500" b="1" dirty="0">
                <a:solidFill>
                  <a:schemeClr val="tx1"/>
                </a:solidFill>
              </a:rPr>
              <a:t>Tosca Cloud MCP와는 별개</a:t>
            </a:r>
            <a:endParaRPr lang="en-US" sz="1500" dirty="0"/>
          </a:p>
        </p:txBody>
      </p:sp>
      <p:sp>
        <p:nvSpPr>
          <p:cNvPr id="43" name="text_230"/>
          <p:cNvSpPr txBox="1"/>
          <p:nvPr/>
        </p:nvSpPr>
        <p:spPr>
          <a:xfrm>
            <a:off x="8229600" y="5248656"/>
            <a:ext cx="3410712" cy="731520"/>
          </a:xfrm>
          <a:prstGeom prst="rect">
            <a:avLst/>
          </a:prstGeom>
          <a:noFill/>
          <a:ln/>
        </p:spPr>
        <p:txBody>
          <a:bodyPr wrap="square" lIns="0" tIns="0" rIns="0" bIns="0" rtlCol="0" anchor="t"/>
          <a:lstStyle/>
          <a:p>
            <a:pPr indent="0" marL="0">
              <a:buNone/>
            </a:pPr>
            <a:r>
              <a:rPr lang="en-US" sz="1300" dirty="0">
                <a:solidFill>
                  <a:schemeClr val="accent6"/>
                </a:solidFill>
              </a:rPr>
              <a:t>Cloud용은 원격 서버에 로그인해서 쓰는 다른 제품</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같은 일을 할 때 무엇이 달라지나</a:t>
            </a:r>
            <a:endParaRPr lang="en-US" sz="3200" dirty="0"/>
          </a:p>
        </p:txBody>
      </p:sp>
      <p:sp>
        <p:nvSpPr>
          <p:cNvPr id="4" name="card_231"/>
          <p:cNvSpPr/>
          <p:nvPr/>
        </p:nvSpPr>
        <p:spPr>
          <a:xfrm>
            <a:off x="548640" y="1371600"/>
            <a:ext cx="5394960" cy="4343400"/>
          </a:xfrm>
          <a:prstGeom prst="roundRect">
            <a:avLst>
              <a:gd name="adj" fmla="val 2105"/>
            </a:avLst>
          </a:prstGeom>
          <a:solidFill>
            <a:schemeClr val="bg1"/>
          </a:solidFill>
          <a:ln w="19050">
            <a:solidFill>
              <a:schemeClr val="bg2"/>
            </a:solidFill>
            <a:prstDash val="solid"/>
          </a:ln>
        </p:spPr>
      </p:sp>
      <p:sp>
        <p:nvSpPr>
          <p:cNvPr id="5" name="text_232"/>
          <p:cNvSpPr txBox="1"/>
          <p:nvPr/>
        </p:nvSpPr>
        <p:spPr>
          <a:xfrm>
            <a:off x="822960" y="1536192"/>
            <a:ext cx="4572000" cy="411480"/>
          </a:xfrm>
          <a:prstGeom prst="rect">
            <a:avLst/>
          </a:prstGeom>
          <a:noFill/>
          <a:ln/>
        </p:spPr>
        <p:txBody>
          <a:bodyPr wrap="square" lIns="0" tIns="0" rIns="0" bIns="0" rtlCol="0" anchor="t"/>
          <a:lstStyle/>
          <a:p>
            <a:pPr indent="0" marL="0">
              <a:buNone/>
            </a:pPr>
            <a:r>
              <a:rPr lang="en-US" sz="1800" b="1" dirty="0">
                <a:solidFill>
                  <a:schemeClr val="accent6"/>
                </a:solidFill>
              </a:rPr>
              <a:t>Commander에서 직접</a:t>
            </a:r>
            <a:endParaRPr lang="en-US" sz="1800" dirty="0"/>
          </a:p>
        </p:txBody>
      </p:sp>
      <p:sp>
        <p:nvSpPr>
          <p:cNvPr id="6" name="badge_233"/>
          <p:cNvSpPr txBox="1"/>
          <p:nvPr/>
        </p:nvSpPr>
        <p:spPr>
          <a:xfrm>
            <a:off x="822960" y="2157984"/>
            <a:ext cx="329184" cy="329184"/>
          </a:xfrm>
          <a:prstGeom prst="ellipse">
            <a:avLst/>
          </a:prstGeom>
          <a:solidFill>
            <a:schemeClr val="bg2"/>
          </a:solid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7" name="text_234"/>
          <p:cNvSpPr txBox="1"/>
          <p:nvPr/>
        </p:nvSpPr>
        <p:spPr>
          <a:xfrm>
            <a:off x="1298448" y="2103120"/>
            <a:ext cx="4480560" cy="438912"/>
          </a:xfrm>
          <a:prstGeom prst="rect">
            <a:avLst/>
          </a:prstGeom>
          <a:noFill/>
          <a:ln/>
        </p:spPr>
        <p:txBody>
          <a:bodyPr wrap="square" lIns="0" tIns="0" rIns="0" bIns="0" rtlCol="0" anchor="ctr"/>
          <a:lstStyle/>
          <a:p>
            <a:pPr indent="0" marL="0">
              <a:buNone/>
            </a:pPr>
            <a:r>
              <a:rPr lang="en-US" sz="1500" dirty="0">
                <a:solidFill>
                  <a:schemeClr val="tx1"/>
                </a:solidFill>
              </a:rPr>
              <a:t>폴더 만들기</a:t>
            </a:r>
            <a:endParaRPr lang="en-US" sz="1500" dirty="0"/>
          </a:p>
        </p:txBody>
      </p:sp>
      <p:sp>
        <p:nvSpPr>
          <p:cNvPr id="8" name="badge_235"/>
          <p:cNvSpPr txBox="1"/>
          <p:nvPr/>
        </p:nvSpPr>
        <p:spPr>
          <a:xfrm>
            <a:off x="822960" y="2651760"/>
            <a:ext cx="329184" cy="329184"/>
          </a:xfrm>
          <a:prstGeom prst="ellipse">
            <a:avLst/>
          </a:prstGeom>
          <a:solidFill>
            <a:schemeClr val="bg2"/>
          </a:solid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9" name="text_236"/>
          <p:cNvSpPr txBox="1"/>
          <p:nvPr/>
        </p:nvSpPr>
        <p:spPr>
          <a:xfrm>
            <a:off x="1298448" y="2596896"/>
            <a:ext cx="4480560" cy="438912"/>
          </a:xfrm>
          <a:prstGeom prst="rect">
            <a:avLst/>
          </a:prstGeom>
          <a:noFill/>
          <a:ln/>
        </p:spPr>
        <p:txBody>
          <a:bodyPr wrap="square" lIns="0" tIns="0" rIns="0" bIns="0" rtlCol="0" anchor="ctr"/>
          <a:lstStyle/>
          <a:p>
            <a:pPr indent="0" marL="0">
              <a:buNone/>
            </a:pPr>
            <a:r>
              <a:rPr lang="en-US" sz="1500" dirty="0">
                <a:solidFill>
                  <a:schemeClr val="tx1"/>
                </a:solidFill>
              </a:rPr>
              <a:t>테스트케이스 만들고 이름 바꾸기</a:t>
            </a:r>
            <a:endParaRPr lang="en-US" sz="1500" dirty="0"/>
          </a:p>
        </p:txBody>
      </p:sp>
      <p:sp>
        <p:nvSpPr>
          <p:cNvPr id="10" name="badge_237"/>
          <p:cNvSpPr txBox="1"/>
          <p:nvPr/>
        </p:nvSpPr>
        <p:spPr>
          <a:xfrm>
            <a:off x="822960" y="3145536"/>
            <a:ext cx="329184" cy="329184"/>
          </a:xfrm>
          <a:prstGeom prst="ellipse">
            <a:avLst/>
          </a:prstGeom>
          <a:solidFill>
            <a:schemeClr val="bg2"/>
          </a:solid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11" name="text_238"/>
          <p:cNvSpPr txBox="1"/>
          <p:nvPr/>
        </p:nvSpPr>
        <p:spPr>
          <a:xfrm>
            <a:off x="1298448" y="3090672"/>
            <a:ext cx="4480560" cy="438912"/>
          </a:xfrm>
          <a:prstGeom prst="rect">
            <a:avLst/>
          </a:prstGeom>
          <a:noFill/>
          <a:ln/>
        </p:spPr>
        <p:txBody>
          <a:bodyPr wrap="square" lIns="0" tIns="0" rIns="0" bIns="0" rtlCol="0" anchor="ctr"/>
          <a:lstStyle/>
          <a:p>
            <a:pPr indent="0" marL="0">
              <a:buNone/>
            </a:pPr>
            <a:r>
              <a:rPr lang="en-US" sz="1500" dirty="0">
                <a:solidFill>
                  <a:schemeClr val="tx1"/>
                </a:solidFill>
              </a:rPr>
              <a:t>모듈 5개를 순서대로 끌어다 놓기</a:t>
            </a:r>
            <a:endParaRPr lang="en-US" sz="1500" dirty="0"/>
          </a:p>
        </p:txBody>
      </p:sp>
      <p:sp>
        <p:nvSpPr>
          <p:cNvPr id="12" name="badge_239"/>
          <p:cNvSpPr txBox="1"/>
          <p:nvPr/>
        </p:nvSpPr>
        <p:spPr>
          <a:xfrm>
            <a:off x="822960" y="3639312"/>
            <a:ext cx="329184" cy="329184"/>
          </a:xfrm>
          <a:prstGeom prst="ellipse">
            <a:avLst/>
          </a:prstGeom>
          <a:solidFill>
            <a:schemeClr val="bg2"/>
          </a:solid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13" name="text_240"/>
          <p:cNvSpPr txBox="1"/>
          <p:nvPr/>
        </p:nvSpPr>
        <p:spPr>
          <a:xfrm>
            <a:off x="1298448" y="3584448"/>
            <a:ext cx="4480560" cy="438912"/>
          </a:xfrm>
          <a:prstGeom prst="rect">
            <a:avLst/>
          </a:prstGeom>
          <a:noFill/>
          <a:ln/>
        </p:spPr>
        <p:txBody>
          <a:bodyPr wrap="square" lIns="0" tIns="0" rIns="0" bIns="0" rtlCol="0" anchor="ctr"/>
          <a:lstStyle/>
          <a:p>
            <a:pPr indent="0" marL="0">
              <a:buNone/>
            </a:pPr>
            <a:r>
              <a:rPr lang="en-US" sz="1500" dirty="0">
                <a:solidFill>
                  <a:schemeClr val="tx1"/>
                </a:solidFill>
              </a:rPr>
              <a:t>값 8개 입력</a:t>
            </a:r>
            <a:endParaRPr lang="en-US" sz="1500" dirty="0"/>
          </a:p>
        </p:txBody>
      </p:sp>
      <p:sp>
        <p:nvSpPr>
          <p:cNvPr id="14" name="badge_241"/>
          <p:cNvSpPr txBox="1"/>
          <p:nvPr/>
        </p:nvSpPr>
        <p:spPr>
          <a:xfrm>
            <a:off x="822960" y="4133088"/>
            <a:ext cx="329184" cy="329184"/>
          </a:xfrm>
          <a:prstGeom prst="ellipse">
            <a:avLst/>
          </a:prstGeom>
          <a:solidFill>
            <a:schemeClr val="bg2"/>
          </a:solid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15" name="text_242"/>
          <p:cNvSpPr txBox="1"/>
          <p:nvPr/>
        </p:nvSpPr>
        <p:spPr>
          <a:xfrm>
            <a:off x="1298448" y="4078224"/>
            <a:ext cx="4480560" cy="438912"/>
          </a:xfrm>
          <a:prstGeom prst="rect">
            <a:avLst/>
          </a:prstGeom>
          <a:noFill/>
          <a:ln/>
        </p:spPr>
        <p:txBody>
          <a:bodyPr wrap="square" lIns="0" tIns="0" rIns="0" bIns="0" rtlCol="0" anchor="ctr"/>
          <a:lstStyle/>
          <a:p>
            <a:pPr indent="0" marL="0">
              <a:buNone/>
            </a:pPr>
            <a:r>
              <a:rPr lang="en-US" sz="1500" dirty="0">
                <a:solidFill>
                  <a:schemeClr val="tx1"/>
                </a:solidFill>
              </a:rPr>
              <a:t>검증 스텝의 ActionMode를 Verify로 변경</a:t>
            </a:r>
            <a:endParaRPr lang="en-US" sz="1500" dirty="0"/>
          </a:p>
        </p:txBody>
      </p:sp>
      <p:sp>
        <p:nvSpPr>
          <p:cNvPr id="16" name="badge_243"/>
          <p:cNvSpPr txBox="1"/>
          <p:nvPr/>
        </p:nvSpPr>
        <p:spPr>
          <a:xfrm>
            <a:off x="822960" y="4626864"/>
            <a:ext cx="329184" cy="329184"/>
          </a:xfrm>
          <a:prstGeom prst="ellipse">
            <a:avLst/>
          </a:prstGeom>
          <a:solidFill>
            <a:schemeClr val="bg2"/>
          </a:solidFill>
          <a:ln/>
        </p:spPr>
        <p:txBody>
          <a:bodyPr wrap="square" lIns="0" tIns="0" rIns="0" bIns="0" rtlCol="0" anchor="ctr"/>
          <a:lstStyle/>
          <a:p>
            <a:pPr algn="ctr" indent="0" marL="0">
              <a:buNone/>
            </a:pPr>
            <a:r>
              <a:rPr lang="en-US" sz="1100" b="1" dirty="0">
                <a:solidFill>
                  <a:schemeClr val="tx1"/>
                </a:solidFill>
              </a:rPr>
              <a:t>6</a:t>
            </a:r>
            <a:endParaRPr lang="en-US" sz="1100" dirty="0"/>
          </a:p>
        </p:txBody>
      </p:sp>
      <p:sp>
        <p:nvSpPr>
          <p:cNvPr id="17" name="text_244"/>
          <p:cNvSpPr txBox="1"/>
          <p:nvPr/>
        </p:nvSpPr>
        <p:spPr>
          <a:xfrm>
            <a:off x="1298448" y="4572000"/>
            <a:ext cx="4480560" cy="438912"/>
          </a:xfrm>
          <a:prstGeom prst="rect">
            <a:avLst/>
          </a:prstGeom>
          <a:noFill/>
          <a:ln/>
        </p:spPr>
        <p:txBody>
          <a:bodyPr wrap="square" lIns="0" tIns="0" rIns="0" bIns="0" rtlCol="0" anchor="ctr"/>
          <a:lstStyle/>
          <a:p>
            <a:pPr indent="0" marL="0">
              <a:buNone/>
            </a:pPr>
            <a:r>
              <a:rPr lang="en-US" sz="1500" dirty="0">
                <a:solidFill>
                  <a:schemeClr val="tx1"/>
                </a:solidFill>
              </a:rPr>
              <a:t>ScratchBook에서 실행</a:t>
            </a:r>
            <a:endParaRPr lang="en-US" sz="1500" dirty="0"/>
          </a:p>
        </p:txBody>
      </p:sp>
      <p:sp>
        <p:nvSpPr>
          <p:cNvPr id="18" name="badge_245"/>
          <p:cNvSpPr txBox="1"/>
          <p:nvPr/>
        </p:nvSpPr>
        <p:spPr>
          <a:xfrm>
            <a:off x="822960" y="5120640"/>
            <a:ext cx="329184" cy="329184"/>
          </a:xfrm>
          <a:prstGeom prst="ellipse">
            <a:avLst/>
          </a:prstGeom>
          <a:solidFill>
            <a:schemeClr val="bg2"/>
          </a:solidFill>
          <a:ln/>
        </p:spPr>
        <p:txBody>
          <a:bodyPr wrap="square" lIns="0" tIns="0" rIns="0" bIns="0" rtlCol="0" anchor="ctr"/>
          <a:lstStyle/>
          <a:p>
            <a:pPr algn="ctr" indent="0" marL="0">
              <a:buNone/>
            </a:pPr>
            <a:r>
              <a:rPr lang="en-US" sz="1100" b="1" dirty="0">
                <a:solidFill>
                  <a:schemeClr val="tx1"/>
                </a:solidFill>
              </a:rPr>
              <a:t>7</a:t>
            </a:r>
            <a:endParaRPr lang="en-US" sz="1100" dirty="0"/>
          </a:p>
        </p:txBody>
      </p:sp>
      <p:sp>
        <p:nvSpPr>
          <p:cNvPr id="19" name="text_246"/>
          <p:cNvSpPr txBox="1"/>
          <p:nvPr/>
        </p:nvSpPr>
        <p:spPr>
          <a:xfrm>
            <a:off x="1298448" y="5065776"/>
            <a:ext cx="4480560" cy="438912"/>
          </a:xfrm>
          <a:prstGeom prst="rect">
            <a:avLst/>
          </a:prstGeom>
          <a:noFill/>
          <a:ln/>
        </p:spPr>
        <p:txBody>
          <a:bodyPr wrap="square" lIns="0" tIns="0" rIns="0" bIns="0" rtlCol="0" anchor="ctr"/>
          <a:lstStyle/>
          <a:p>
            <a:pPr indent="0" marL="0">
              <a:buNone/>
            </a:pPr>
            <a:r>
              <a:rPr lang="en-US" sz="1500" dirty="0">
                <a:solidFill>
                  <a:schemeClr val="tx1"/>
                </a:solidFill>
              </a:rPr>
              <a:t>결과 확인 후 틀린 곳 수정</a:t>
            </a:r>
            <a:endParaRPr lang="en-US" sz="1500" dirty="0"/>
          </a:p>
        </p:txBody>
      </p:sp>
      <p:sp>
        <p:nvSpPr>
          <p:cNvPr id="20" name="card_247"/>
          <p:cNvSpPr/>
          <p:nvPr/>
        </p:nvSpPr>
        <p:spPr>
          <a:xfrm>
            <a:off x="6245352" y="1371600"/>
            <a:ext cx="5394960" cy="4343400"/>
          </a:xfrm>
          <a:prstGeom prst="roundRect">
            <a:avLst>
              <a:gd name="adj" fmla="val 2105"/>
            </a:avLst>
          </a:prstGeom>
          <a:solidFill>
            <a:schemeClr val="bg2"/>
          </a:solidFill>
          <a:ln/>
        </p:spPr>
      </p:sp>
      <p:sp>
        <p:nvSpPr>
          <p:cNvPr id="21" name="text_248"/>
          <p:cNvSpPr txBox="1"/>
          <p:nvPr/>
        </p:nvSpPr>
        <p:spPr>
          <a:xfrm>
            <a:off x="6519672" y="1536192"/>
            <a:ext cx="4572000" cy="411480"/>
          </a:xfrm>
          <a:prstGeom prst="rect">
            <a:avLst/>
          </a:prstGeom>
          <a:noFill/>
          <a:ln/>
        </p:spPr>
        <p:txBody>
          <a:bodyPr wrap="square" lIns="0" tIns="0" rIns="0" bIns="0" rtlCol="0" anchor="t"/>
          <a:lstStyle/>
          <a:p>
            <a:pPr indent="0" marL="0">
              <a:buNone/>
            </a:pPr>
            <a:r>
              <a:rPr lang="en-US" sz="1800" b="1" dirty="0">
                <a:solidFill>
                  <a:schemeClr val="tx2"/>
                </a:solidFill>
              </a:rPr>
              <a:t>MCP로 요청</a:t>
            </a:r>
            <a:endParaRPr lang="en-US" sz="1800" dirty="0"/>
          </a:p>
        </p:txBody>
      </p:sp>
      <p:sp>
        <p:nvSpPr>
          <p:cNvPr id="22" name="chip_249"/>
          <p:cNvSpPr txBox="1"/>
          <p:nvPr/>
        </p:nvSpPr>
        <p:spPr>
          <a:xfrm>
            <a:off x="6519672" y="2194560"/>
            <a:ext cx="685800" cy="365760"/>
          </a:xfrm>
          <a:prstGeom prst="roundRect">
            <a:avLst>
              <a:gd name="adj" fmla="val 15000"/>
            </a:avLst>
          </a:prstGeom>
          <a:solidFill>
            <a:schemeClr val="accent1"/>
          </a:solidFill>
          <a:ln/>
        </p:spPr>
        <p:txBody>
          <a:bodyPr wrap="square" lIns="0" tIns="50800" rIns="50800" bIns="0" rtlCol="0" anchor="ctr"/>
          <a:lstStyle/>
          <a:p>
            <a:pPr algn="ctr" indent="0" marL="0">
              <a:buNone/>
            </a:pPr>
            <a:r>
              <a:rPr lang="en-US" sz="1200" b="1" dirty="0">
                <a:solidFill>
                  <a:schemeClr val="bg1"/>
                </a:solidFill>
              </a:rPr>
              <a:t>사람</a:t>
            </a:r>
            <a:endParaRPr lang="en-US" sz="1200" dirty="0"/>
          </a:p>
        </p:txBody>
      </p:sp>
      <p:sp>
        <p:nvSpPr>
          <p:cNvPr id="23" name="text_250"/>
          <p:cNvSpPr txBox="1"/>
          <p:nvPr/>
        </p:nvSpPr>
        <p:spPr>
          <a:xfrm>
            <a:off x="7360920" y="2103120"/>
            <a:ext cx="4114800" cy="548640"/>
          </a:xfrm>
          <a:prstGeom prst="rect">
            <a:avLst/>
          </a:prstGeom>
          <a:noFill/>
          <a:ln/>
        </p:spPr>
        <p:txBody>
          <a:bodyPr wrap="square" lIns="0" tIns="0" rIns="0" bIns="0" rtlCol="0" anchor="ctr"/>
          <a:lstStyle/>
          <a:p>
            <a:pPr indent="0" marL="0">
              <a:buNone/>
            </a:pPr>
            <a:r>
              <a:rPr lang="en-US" sz="1500" b="1" dirty="0">
                <a:solidFill>
                  <a:schemeClr val="tx1"/>
                </a:solidFill>
              </a:rPr>
              <a:t>시나리오와 위치를 문장으로 요청</a:t>
            </a:r>
            <a:endParaRPr lang="en-US" sz="1500" dirty="0"/>
          </a:p>
        </p:txBody>
      </p:sp>
      <p:sp>
        <p:nvSpPr>
          <p:cNvPr id="24" name="chip_251"/>
          <p:cNvSpPr txBox="1"/>
          <p:nvPr/>
        </p:nvSpPr>
        <p:spPr>
          <a:xfrm>
            <a:off x="6519672" y="2889504"/>
            <a:ext cx="685800" cy="365760"/>
          </a:xfrm>
          <a:prstGeom prst="roundRect">
            <a:avLst>
              <a:gd name="adj" fmla="val 15000"/>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AI</a:t>
            </a:r>
            <a:endParaRPr lang="en-US" sz="1200" dirty="0"/>
          </a:p>
        </p:txBody>
      </p:sp>
      <p:sp>
        <p:nvSpPr>
          <p:cNvPr id="25" name="text_252"/>
          <p:cNvSpPr txBox="1"/>
          <p:nvPr/>
        </p:nvSpPr>
        <p:spPr>
          <a:xfrm>
            <a:off x="7360920" y="2798064"/>
            <a:ext cx="4114800" cy="548640"/>
          </a:xfrm>
          <a:prstGeom prst="rect">
            <a:avLst/>
          </a:prstGeom>
          <a:noFill/>
          <a:ln/>
        </p:spPr>
        <p:txBody>
          <a:bodyPr wrap="square" lIns="0" tIns="0" rIns="0" bIns="0" rtlCol="0" anchor="ctr"/>
          <a:lstStyle/>
          <a:p>
            <a:pPr indent="0" marL="0">
              <a:buNone/>
            </a:pPr>
            <a:r>
              <a:rPr lang="en-US" sz="1500" dirty="0">
                <a:solidFill>
                  <a:schemeClr val="tx1"/>
                </a:solidFill>
              </a:rPr>
              <a:t>모듈을 찾아 스텝 계획을 보여줌</a:t>
            </a:r>
            <a:endParaRPr lang="en-US" sz="1500" dirty="0"/>
          </a:p>
        </p:txBody>
      </p:sp>
      <p:sp>
        <p:nvSpPr>
          <p:cNvPr id="26" name="chip_253"/>
          <p:cNvSpPr txBox="1"/>
          <p:nvPr/>
        </p:nvSpPr>
        <p:spPr>
          <a:xfrm>
            <a:off x="6519672" y="3584448"/>
            <a:ext cx="685800" cy="365760"/>
          </a:xfrm>
          <a:prstGeom prst="roundRect">
            <a:avLst>
              <a:gd name="adj" fmla="val 15000"/>
            </a:avLst>
          </a:prstGeom>
          <a:solidFill>
            <a:schemeClr val="accent1"/>
          </a:solidFill>
          <a:ln/>
        </p:spPr>
        <p:txBody>
          <a:bodyPr wrap="square" lIns="0" tIns="50800" rIns="50800" bIns="0" rtlCol="0" anchor="ctr"/>
          <a:lstStyle/>
          <a:p>
            <a:pPr algn="ctr" indent="0" marL="0">
              <a:buNone/>
            </a:pPr>
            <a:r>
              <a:rPr lang="en-US" sz="1200" b="1" dirty="0">
                <a:solidFill>
                  <a:schemeClr val="bg1"/>
                </a:solidFill>
              </a:rPr>
              <a:t>사람</a:t>
            </a:r>
            <a:endParaRPr lang="en-US" sz="1200" dirty="0"/>
          </a:p>
        </p:txBody>
      </p:sp>
      <p:sp>
        <p:nvSpPr>
          <p:cNvPr id="27" name="text_254"/>
          <p:cNvSpPr txBox="1"/>
          <p:nvPr/>
        </p:nvSpPr>
        <p:spPr>
          <a:xfrm>
            <a:off x="7360920" y="3493008"/>
            <a:ext cx="4114800" cy="548640"/>
          </a:xfrm>
          <a:prstGeom prst="rect">
            <a:avLst/>
          </a:prstGeom>
          <a:noFill/>
          <a:ln/>
        </p:spPr>
        <p:txBody>
          <a:bodyPr wrap="square" lIns="0" tIns="0" rIns="0" bIns="0" rtlCol="0" anchor="ctr"/>
          <a:lstStyle/>
          <a:p>
            <a:pPr indent="0" marL="0">
              <a:buNone/>
            </a:pPr>
            <a:r>
              <a:rPr lang="en-US" sz="1500" b="1" dirty="0">
                <a:solidFill>
                  <a:schemeClr val="tx1"/>
                </a:solidFill>
              </a:rPr>
              <a:t>계획 확인 후 승인</a:t>
            </a:r>
            <a:endParaRPr lang="en-US" sz="1500" dirty="0"/>
          </a:p>
        </p:txBody>
      </p:sp>
      <p:sp>
        <p:nvSpPr>
          <p:cNvPr id="28" name="chip_255"/>
          <p:cNvSpPr txBox="1"/>
          <p:nvPr/>
        </p:nvSpPr>
        <p:spPr>
          <a:xfrm>
            <a:off x="6519672" y="4279392"/>
            <a:ext cx="685800" cy="365760"/>
          </a:xfrm>
          <a:prstGeom prst="roundRect">
            <a:avLst>
              <a:gd name="adj" fmla="val 15000"/>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AI</a:t>
            </a:r>
            <a:endParaRPr lang="en-US" sz="1200" dirty="0"/>
          </a:p>
        </p:txBody>
      </p:sp>
      <p:sp>
        <p:nvSpPr>
          <p:cNvPr id="29" name="text_256"/>
          <p:cNvSpPr txBox="1"/>
          <p:nvPr/>
        </p:nvSpPr>
        <p:spPr>
          <a:xfrm>
            <a:off x="7360920" y="4187952"/>
            <a:ext cx="4114800" cy="548640"/>
          </a:xfrm>
          <a:prstGeom prst="rect">
            <a:avLst/>
          </a:prstGeom>
          <a:noFill/>
          <a:ln/>
        </p:spPr>
        <p:txBody>
          <a:bodyPr wrap="square" lIns="0" tIns="0" rIns="0" bIns="0" rtlCol="0" anchor="ctr"/>
          <a:lstStyle/>
          <a:p>
            <a:pPr indent="0" marL="0">
              <a:buNone/>
            </a:pPr>
            <a:r>
              <a:rPr lang="en-US" sz="1500" dirty="0">
                <a:solidFill>
                  <a:schemeClr val="tx1"/>
                </a:solidFill>
              </a:rPr>
              <a:t>생성, 검증 실행, 결과 보고</a:t>
            </a:r>
            <a:endParaRPr lang="en-US" sz="1500" dirty="0"/>
          </a:p>
        </p:txBody>
      </p:sp>
      <p:sp>
        <p:nvSpPr>
          <p:cNvPr id="30" name="chip_257"/>
          <p:cNvSpPr txBox="1"/>
          <p:nvPr/>
        </p:nvSpPr>
        <p:spPr>
          <a:xfrm>
            <a:off x="6519672" y="4974336"/>
            <a:ext cx="685800" cy="365760"/>
          </a:xfrm>
          <a:prstGeom prst="roundRect">
            <a:avLst>
              <a:gd name="adj" fmla="val 15000"/>
            </a:avLst>
          </a:prstGeom>
          <a:solidFill>
            <a:schemeClr val="accent1"/>
          </a:solidFill>
          <a:ln/>
        </p:spPr>
        <p:txBody>
          <a:bodyPr wrap="square" lIns="0" tIns="50800" rIns="50800" bIns="0" rtlCol="0" anchor="ctr"/>
          <a:lstStyle/>
          <a:p>
            <a:pPr algn="ctr" indent="0" marL="0">
              <a:buNone/>
            </a:pPr>
            <a:r>
              <a:rPr lang="en-US" sz="1200" b="1" dirty="0">
                <a:solidFill>
                  <a:schemeClr val="bg1"/>
                </a:solidFill>
              </a:rPr>
              <a:t>사람</a:t>
            </a:r>
            <a:endParaRPr lang="en-US" sz="1200" dirty="0"/>
          </a:p>
        </p:txBody>
      </p:sp>
      <p:sp>
        <p:nvSpPr>
          <p:cNvPr id="31" name="text_258"/>
          <p:cNvSpPr txBox="1"/>
          <p:nvPr/>
        </p:nvSpPr>
        <p:spPr>
          <a:xfrm>
            <a:off x="7360920" y="4882896"/>
            <a:ext cx="4114800" cy="548640"/>
          </a:xfrm>
          <a:prstGeom prst="rect">
            <a:avLst/>
          </a:prstGeom>
          <a:noFill/>
          <a:ln/>
        </p:spPr>
        <p:txBody>
          <a:bodyPr wrap="square" lIns="0" tIns="0" rIns="0" bIns="0" rtlCol="0" anchor="ctr"/>
          <a:lstStyle/>
          <a:p>
            <a:pPr indent="0" marL="0">
              <a:buNone/>
            </a:pPr>
            <a:r>
              <a:rPr lang="en-US" sz="1500" b="1" dirty="0">
                <a:solidFill>
                  <a:schemeClr val="tx1"/>
                </a:solidFill>
              </a:rPr>
              <a:t>Commander에서 결과 검토</a:t>
            </a:r>
            <a:endParaRPr lang="en-US" sz="1500" dirty="0"/>
          </a:p>
        </p:txBody>
      </p:sp>
      <p:sp>
        <p:nvSpPr>
          <p:cNvPr id="32" name="text_259"/>
          <p:cNvSpPr txBox="1"/>
          <p:nvPr/>
        </p:nvSpPr>
        <p:spPr>
          <a:xfrm>
            <a:off x="548640" y="5852160"/>
            <a:ext cx="11091672" cy="411480"/>
          </a:xfrm>
          <a:prstGeom prst="rect">
            <a:avLst/>
          </a:prstGeom>
          <a:noFill/>
          <a:ln/>
        </p:spPr>
        <p:txBody>
          <a:bodyPr wrap="square" lIns="0" tIns="0" rIns="0" bIns="0" rtlCol="0" anchor="ctr"/>
          <a:lstStyle/>
          <a:p>
            <a:pPr indent="0" marL="0">
              <a:buNone/>
            </a:pPr>
            <a:r>
              <a:rPr lang="en-US" sz="1800" b="1" dirty="0">
                <a:solidFill>
                  <a:schemeClr val="tx2"/>
                </a:solidFill>
              </a:rPr>
              <a:t>반복 클릭은 AI가, 판단과 확인은 사람이 한다</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도구 32개, 여섯 묶음</a:t>
            </a:r>
            <a:endParaRPr lang="en-US" sz="3200" dirty="0"/>
          </a:p>
        </p:txBody>
      </p:sp>
      <p:sp>
        <p:nvSpPr>
          <p:cNvPr id="4" name="card_260"/>
          <p:cNvSpPr/>
          <p:nvPr/>
        </p:nvSpPr>
        <p:spPr>
          <a:xfrm>
            <a:off x="548640" y="1325880"/>
            <a:ext cx="3566160" cy="2194560"/>
          </a:xfrm>
          <a:prstGeom prst="roundRect">
            <a:avLst>
              <a:gd name="adj" fmla="val 4167"/>
            </a:avLst>
          </a:prstGeom>
          <a:solidFill>
            <a:schemeClr val="bg2"/>
          </a:solidFill>
          <a:ln/>
        </p:spPr>
      </p:sp>
      <p:sp>
        <p:nvSpPr>
          <p:cNvPr id="5" name="iconbg_261"/>
          <p:cNvSpPr/>
          <p:nvPr/>
        </p:nvSpPr>
        <p:spPr>
          <a:xfrm>
            <a:off x="749808" y="1527048"/>
            <a:ext cx="548640" cy="548640"/>
          </a:xfrm>
          <a:prstGeom prst="ellipse">
            <a:avLst/>
          </a:prstGeom>
          <a:solidFill>
            <a:schemeClr val="accent1"/>
          </a:solidFill>
          <a:ln/>
        </p:spPr>
      </p:sp>
      <p:pic>
        <p:nvPicPr>
          <p:cNvPr id="6" name="icon_262" descr="preencoded.png">    </p:cNvPr>
          <p:cNvPicPr>
            <a:picLocks noChangeAspect="1"/>
          </p:cNvPicPr>
          <p:nvPr/>
        </p:nvPicPr>
        <p:blipFill>
          <a:blip r:embed="rId1"/>
          <a:stretch>
            <a:fillRect/>
          </a:stretch>
        </p:blipFill>
        <p:spPr>
          <a:xfrm>
            <a:off x="881482" y="1658722"/>
            <a:ext cx="285293" cy="285293"/>
          </a:xfrm>
          <a:prstGeom prst="rect">
            <a:avLst/>
          </a:prstGeom>
        </p:spPr>
      </p:pic>
      <p:sp>
        <p:nvSpPr>
          <p:cNvPr id="7" name="text_263"/>
          <p:cNvSpPr txBox="1"/>
          <p:nvPr/>
        </p:nvSpPr>
        <p:spPr>
          <a:xfrm>
            <a:off x="1444752" y="1527048"/>
            <a:ext cx="1828800" cy="548640"/>
          </a:xfrm>
          <a:prstGeom prst="rect">
            <a:avLst/>
          </a:prstGeom>
          <a:noFill/>
          <a:ln/>
        </p:spPr>
        <p:txBody>
          <a:bodyPr wrap="square" lIns="0" tIns="0" rIns="0" bIns="0" rtlCol="0" anchor="ctr"/>
          <a:lstStyle/>
          <a:p>
            <a:pPr indent="0" marL="0">
              <a:buNone/>
            </a:pPr>
            <a:r>
              <a:rPr lang="en-US" sz="1900" b="1" dirty="0">
                <a:solidFill>
                  <a:schemeClr val="tx1"/>
                </a:solidFill>
              </a:rPr>
              <a:t>조회</a:t>
            </a:r>
            <a:endParaRPr lang="en-US" sz="1900" dirty="0"/>
          </a:p>
        </p:txBody>
      </p:sp>
      <p:sp>
        <p:nvSpPr>
          <p:cNvPr id="8" name="chip_264"/>
          <p:cNvSpPr txBox="1"/>
          <p:nvPr/>
        </p:nvSpPr>
        <p:spPr>
          <a:xfrm>
            <a:off x="3246120" y="1636776"/>
            <a:ext cx="658368" cy="329184"/>
          </a:xfrm>
          <a:prstGeom prst="roundRect">
            <a:avLst>
              <a:gd name="adj" fmla="val 1666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6개</a:t>
            </a:r>
            <a:endParaRPr lang="en-US" sz="1200" dirty="0"/>
          </a:p>
        </p:txBody>
      </p:sp>
      <p:sp>
        <p:nvSpPr>
          <p:cNvPr id="9" name="text_265"/>
          <p:cNvSpPr txBox="1"/>
          <p:nvPr/>
        </p:nvSpPr>
        <p:spPr>
          <a:xfrm>
            <a:off x="749808" y="2221992"/>
            <a:ext cx="3163824" cy="594360"/>
          </a:xfrm>
          <a:prstGeom prst="rect">
            <a:avLst/>
          </a:prstGeom>
          <a:noFill/>
          <a:ln/>
        </p:spPr>
        <p:txBody>
          <a:bodyPr wrap="square" lIns="0" tIns="0" rIns="0" bIns="0" rtlCol="0" anchor="t"/>
          <a:lstStyle/>
          <a:p>
            <a:pPr indent="0" marL="0">
              <a:buNone/>
            </a:pPr>
            <a:r>
              <a:rPr lang="en-US" sz="1400" dirty="0">
                <a:solidFill>
                  <a:schemeClr val="tx1"/>
                </a:solidFill>
              </a:rPr>
              <a:t>워크스페이스 구조, 객체, 속성을 읽는다</a:t>
            </a:r>
            <a:endParaRPr lang="en-US" sz="1400" dirty="0"/>
          </a:p>
        </p:txBody>
      </p:sp>
      <p:sp>
        <p:nvSpPr>
          <p:cNvPr id="10" name="text_266"/>
          <p:cNvSpPr txBox="1"/>
          <p:nvPr/>
        </p:nvSpPr>
        <p:spPr>
          <a:xfrm>
            <a:off x="749808" y="2788920"/>
            <a:ext cx="3163824" cy="658368"/>
          </a:xfrm>
          <a:prstGeom prst="rect">
            <a:avLst/>
          </a:prstGeom>
          <a:noFill/>
          <a:ln/>
        </p:spPr>
        <p:txBody>
          <a:bodyPr wrap="square" lIns="0" tIns="0" rIns="0" bIns="0" rtlCol="0" anchor="t"/>
          <a:lstStyle/>
          <a:p>
            <a:pPr indent="0" marL="0">
              <a:buNone/>
            </a:pPr>
            <a:r>
              <a:rPr lang="en-US" sz="1000" dirty="0">
                <a:solidFill>
                  <a:schemeClr val="accent6"/>
                </a:solidFill>
                <a:latin typeface="Consolas" pitchFamily="34" charset="0"/>
                <a:ea typeface="Consolas" pitchFamily="34" charset="-122"/>
                <a:cs typeface="Consolas" pitchFamily="34" charset="-120"/>
              </a:rPr>
              <a:t>get_workspace_info</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get_object_info</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list_assets</a:t>
            </a:r>
            <a:endParaRPr lang="en-US" sz="1000" dirty="0"/>
          </a:p>
        </p:txBody>
      </p:sp>
      <p:sp>
        <p:nvSpPr>
          <p:cNvPr id="11" name="card_267"/>
          <p:cNvSpPr/>
          <p:nvPr/>
        </p:nvSpPr>
        <p:spPr>
          <a:xfrm>
            <a:off x="4311396" y="1325880"/>
            <a:ext cx="3566160" cy="2194560"/>
          </a:xfrm>
          <a:prstGeom prst="roundRect">
            <a:avLst>
              <a:gd name="adj" fmla="val 4167"/>
            </a:avLst>
          </a:prstGeom>
          <a:solidFill>
            <a:schemeClr val="bg2"/>
          </a:solidFill>
          <a:ln/>
        </p:spPr>
      </p:sp>
      <p:sp>
        <p:nvSpPr>
          <p:cNvPr id="12" name="iconbg_268"/>
          <p:cNvSpPr/>
          <p:nvPr/>
        </p:nvSpPr>
        <p:spPr>
          <a:xfrm>
            <a:off x="4512564" y="1527048"/>
            <a:ext cx="548640" cy="548640"/>
          </a:xfrm>
          <a:prstGeom prst="ellipse">
            <a:avLst/>
          </a:prstGeom>
          <a:solidFill>
            <a:schemeClr val="accent1"/>
          </a:solidFill>
          <a:ln/>
        </p:spPr>
      </p:sp>
      <p:pic>
        <p:nvPicPr>
          <p:cNvPr id="13" name="icon_269" descr="preencoded.png">    </p:cNvPr>
          <p:cNvPicPr>
            <a:picLocks noChangeAspect="1"/>
          </p:cNvPicPr>
          <p:nvPr/>
        </p:nvPicPr>
        <p:blipFill>
          <a:blip r:embed="rId2"/>
          <a:stretch>
            <a:fillRect/>
          </a:stretch>
        </p:blipFill>
        <p:spPr>
          <a:xfrm>
            <a:off x="4644238" y="1658722"/>
            <a:ext cx="285293" cy="285293"/>
          </a:xfrm>
          <a:prstGeom prst="rect">
            <a:avLst/>
          </a:prstGeom>
        </p:spPr>
      </p:pic>
      <p:sp>
        <p:nvSpPr>
          <p:cNvPr id="14" name="text_270"/>
          <p:cNvSpPr txBox="1"/>
          <p:nvPr/>
        </p:nvSpPr>
        <p:spPr>
          <a:xfrm>
            <a:off x="5207508" y="1527048"/>
            <a:ext cx="1828800" cy="548640"/>
          </a:xfrm>
          <a:prstGeom prst="rect">
            <a:avLst/>
          </a:prstGeom>
          <a:noFill/>
          <a:ln/>
        </p:spPr>
        <p:txBody>
          <a:bodyPr wrap="square" lIns="0" tIns="0" rIns="0" bIns="0" rtlCol="0" anchor="ctr"/>
          <a:lstStyle/>
          <a:p>
            <a:pPr indent="0" marL="0">
              <a:buNone/>
            </a:pPr>
            <a:r>
              <a:rPr lang="en-US" sz="1900" b="1" dirty="0">
                <a:solidFill>
                  <a:schemeClr val="tx1"/>
                </a:solidFill>
              </a:rPr>
              <a:t>편집</a:t>
            </a:r>
            <a:endParaRPr lang="en-US" sz="1900" dirty="0"/>
          </a:p>
        </p:txBody>
      </p:sp>
      <p:sp>
        <p:nvSpPr>
          <p:cNvPr id="15" name="chip_271"/>
          <p:cNvSpPr txBox="1"/>
          <p:nvPr/>
        </p:nvSpPr>
        <p:spPr>
          <a:xfrm>
            <a:off x="7008876" y="1636776"/>
            <a:ext cx="658368" cy="329184"/>
          </a:xfrm>
          <a:prstGeom prst="roundRect">
            <a:avLst>
              <a:gd name="adj" fmla="val 1666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5개</a:t>
            </a:r>
            <a:endParaRPr lang="en-US" sz="1200" dirty="0"/>
          </a:p>
        </p:txBody>
      </p:sp>
      <p:sp>
        <p:nvSpPr>
          <p:cNvPr id="16" name="text_272"/>
          <p:cNvSpPr txBox="1"/>
          <p:nvPr/>
        </p:nvSpPr>
        <p:spPr>
          <a:xfrm>
            <a:off x="4512564" y="2221992"/>
            <a:ext cx="3163824" cy="594360"/>
          </a:xfrm>
          <a:prstGeom prst="rect">
            <a:avLst/>
          </a:prstGeom>
          <a:noFill/>
          <a:ln/>
        </p:spPr>
        <p:txBody>
          <a:bodyPr wrap="square" lIns="0" tIns="0" rIns="0" bIns="0" rtlCol="0" anchor="t"/>
          <a:lstStyle/>
          <a:p>
            <a:pPr indent="0" marL="0">
              <a:buNone/>
            </a:pPr>
            <a:r>
              <a:rPr lang="en-US" sz="1400" dirty="0">
                <a:solidFill>
                  <a:schemeClr val="tx1"/>
                </a:solidFill>
              </a:rPr>
              <a:t>속성 값과 설정을 바꾸고 객체를 정리한다</a:t>
            </a:r>
            <a:endParaRPr lang="en-US" sz="1400" dirty="0"/>
          </a:p>
        </p:txBody>
      </p:sp>
      <p:sp>
        <p:nvSpPr>
          <p:cNvPr id="17" name="text_273"/>
          <p:cNvSpPr txBox="1"/>
          <p:nvPr/>
        </p:nvSpPr>
        <p:spPr>
          <a:xfrm>
            <a:off x="4512564" y="2788920"/>
            <a:ext cx="3163824" cy="658368"/>
          </a:xfrm>
          <a:prstGeom prst="rect">
            <a:avLst/>
          </a:prstGeom>
          <a:noFill/>
          <a:ln/>
        </p:spPr>
        <p:txBody>
          <a:bodyPr wrap="square" lIns="0" tIns="0" rIns="0" bIns="0" rtlCol="0" anchor="t"/>
          <a:lstStyle/>
          <a:p>
            <a:pPr indent="0" marL="0">
              <a:buNone/>
            </a:pPr>
            <a:r>
              <a:rPr lang="en-US" sz="1000" dirty="0">
                <a:solidFill>
                  <a:schemeClr val="accent6"/>
                </a:solidFill>
                <a:latin typeface="Consolas" pitchFamily="34" charset="0"/>
                <a:ea typeface="Consolas" pitchFamily="34" charset="-122"/>
                <a:cs typeface="Consolas" pitchFamily="34" charset="-120"/>
              </a:rPr>
              <a:t>set_attribute</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list_test_configuration_parameters</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create_test_configuration_parameters</a:t>
            </a:r>
            <a:endParaRPr lang="en-US" sz="1000" dirty="0"/>
          </a:p>
        </p:txBody>
      </p:sp>
      <p:sp>
        <p:nvSpPr>
          <p:cNvPr id="18" name="card_274"/>
          <p:cNvSpPr/>
          <p:nvPr/>
        </p:nvSpPr>
        <p:spPr>
          <a:xfrm>
            <a:off x="8074152" y="1325880"/>
            <a:ext cx="3566160" cy="2194560"/>
          </a:xfrm>
          <a:prstGeom prst="roundRect">
            <a:avLst>
              <a:gd name="adj" fmla="val 4167"/>
            </a:avLst>
          </a:prstGeom>
          <a:solidFill>
            <a:schemeClr val="bg2"/>
          </a:solidFill>
          <a:ln/>
        </p:spPr>
      </p:sp>
      <p:sp>
        <p:nvSpPr>
          <p:cNvPr id="19" name="iconbg_275"/>
          <p:cNvSpPr/>
          <p:nvPr/>
        </p:nvSpPr>
        <p:spPr>
          <a:xfrm>
            <a:off x="8275320" y="1527048"/>
            <a:ext cx="548640" cy="548640"/>
          </a:xfrm>
          <a:prstGeom prst="ellipse">
            <a:avLst/>
          </a:prstGeom>
          <a:solidFill>
            <a:schemeClr val="accent1"/>
          </a:solidFill>
          <a:ln/>
        </p:spPr>
      </p:sp>
      <p:pic>
        <p:nvPicPr>
          <p:cNvPr id="20" name="icon_276" descr="preencoded.png">    </p:cNvPr>
          <p:cNvPicPr>
            <a:picLocks noChangeAspect="1"/>
          </p:cNvPicPr>
          <p:nvPr/>
        </p:nvPicPr>
        <p:blipFill>
          <a:blip r:embed="rId3"/>
          <a:stretch>
            <a:fillRect/>
          </a:stretch>
        </p:blipFill>
        <p:spPr>
          <a:xfrm>
            <a:off x="8406994" y="1658722"/>
            <a:ext cx="285293" cy="285293"/>
          </a:xfrm>
          <a:prstGeom prst="rect">
            <a:avLst/>
          </a:prstGeom>
        </p:spPr>
      </p:pic>
      <p:sp>
        <p:nvSpPr>
          <p:cNvPr id="21" name="text_277"/>
          <p:cNvSpPr txBox="1"/>
          <p:nvPr/>
        </p:nvSpPr>
        <p:spPr>
          <a:xfrm>
            <a:off x="8970264" y="1527048"/>
            <a:ext cx="1828800" cy="548640"/>
          </a:xfrm>
          <a:prstGeom prst="rect">
            <a:avLst/>
          </a:prstGeom>
          <a:noFill/>
          <a:ln/>
        </p:spPr>
        <p:txBody>
          <a:bodyPr wrap="square" lIns="0" tIns="0" rIns="0" bIns="0" rtlCol="0" anchor="ctr"/>
          <a:lstStyle/>
          <a:p>
            <a:pPr indent="0" marL="0">
              <a:buNone/>
            </a:pPr>
            <a:r>
              <a:rPr lang="en-US" sz="1900" b="1" dirty="0">
                <a:solidFill>
                  <a:schemeClr val="tx1"/>
                </a:solidFill>
              </a:rPr>
              <a:t>작성·작업</a:t>
            </a:r>
            <a:endParaRPr lang="en-US" sz="1900" dirty="0"/>
          </a:p>
        </p:txBody>
      </p:sp>
      <p:sp>
        <p:nvSpPr>
          <p:cNvPr id="22" name="chip_278"/>
          <p:cNvSpPr txBox="1"/>
          <p:nvPr/>
        </p:nvSpPr>
        <p:spPr>
          <a:xfrm>
            <a:off x="10771632" y="1636776"/>
            <a:ext cx="658368" cy="329184"/>
          </a:xfrm>
          <a:prstGeom prst="roundRect">
            <a:avLst>
              <a:gd name="adj" fmla="val 1666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5개</a:t>
            </a:r>
            <a:endParaRPr lang="en-US" sz="1200" dirty="0"/>
          </a:p>
        </p:txBody>
      </p:sp>
      <p:sp>
        <p:nvSpPr>
          <p:cNvPr id="23" name="text_279"/>
          <p:cNvSpPr txBox="1"/>
          <p:nvPr/>
        </p:nvSpPr>
        <p:spPr>
          <a:xfrm>
            <a:off x="8275320" y="2221992"/>
            <a:ext cx="3163824" cy="594360"/>
          </a:xfrm>
          <a:prstGeom prst="rect">
            <a:avLst/>
          </a:prstGeom>
          <a:noFill/>
          <a:ln/>
        </p:spPr>
        <p:txBody>
          <a:bodyPr wrap="square" lIns="0" tIns="0" rIns="0" bIns="0" rtlCol="0" anchor="t"/>
          <a:lstStyle/>
          <a:p>
            <a:pPr indent="0" marL="0">
              <a:buNone/>
            </a:pPr>
            <a:r>
              <a:rPr lang="en-US" sz="1400" dirty="0">
                <a:solidFill>
                  <a:schemeClr val="tx1"/>
                </a:solidFill>
              </a:rPr>
              <a:t>테스트케이스를 만들고 메뉴 작업을 실행한다</a:t>
            </a:r>
            <a:endParaRPr lang="en-US" sz="1400" dirty="0"/>
          </a:p>
        </p:txBody>
      </p:sp>
      <p:sp>
        <p:nvSpPr>
          <p:cNvPr id="24" name="text_280"/>
          <p:cNvSpPr txBox="1"/>
          <p:nvPr/>
        </p:nvSpPr>
        <p:spPr>
          <a:xfrm>
            <a:off x="8275320" y="2788920"/>
            <a:ext cx="3163824" cy="658368"/>
          </a:xfrm>
          <a:prstGeom prst="rect">
            <a:avLst/>
          </a:prstGeom>
          <a:noFill/>
          <a:ln/>
        </p:spPr>
        <p:txBody>
          <a:bodyPr wrap="square" lIns="0" tIns="0" rIns="0" bIns="0" rtlCol="0" anchor="t"/>
          <a:lstStyle/>
          <a:p>
            <a:pPr indent="0" marL="0">
              <a:buNone/>
            </a:pPr>
            <a:r>
              <a:rPr lang="en-US" sz="1000" dirty="0">
                <a:solidFill>
                  <a:schemeClr val="accent6"/>
                </a:solidFill>
                <a:latin typeface="Consolas" pitchFamily="34" charset="0"/>
                <a:ea typeface="Consolas" pitchFamily="34" charset="-122"/>
                <a:cs typeface="Consolas" pitchFamily="34" charset="-120"/>
              </a:rPr>
              <a:t>create_test_cases</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execute_drop_task</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import_automation_objects</a:t>
            </a:r>
            <a:endParaRPr lang="en-US" sz="1000" dirty="0"/>
          </a:p>
        </p:txBody>
      </p:sp>
      <p:sp>
        <p:nvSpPr>
          <p:cNvPr id="25" name="card_281"/>
          <p:cNvSpPr/>
          <p:nvPr/>
        </p:nvSpPr>
        <p:spPr>
          <a:xfrm>
            <a:off x="548640" y="3703320"/>
            <a:ext cx="3566160" cy="2194560"/>
          </a:xfrm>
          <a:prstGeom prst="roundRect">
            <a:avLst>
              <a:gd name="adj" fmla="val 4167"/>
            </a:avLst>
          </a:prstGeom>
          <a:solidFill>
            <a:schemeClr val="bg2"/>
          </a:solidFill>
          <a:ln/>
        </p:spPr>
      </p:sp>
      <p:sp>
        <p:nvSpPr>
          <p:cNvPr id="26" name="iconbg_282"/>
          <p:cNvSpPr/>
          <p:nvPr/>
        </p:nvSpPr>
        <p:spPr>
          <a:xfrm>
            <a:off x="749808" y="3904488"/>
            <a:ext cx="548640" cy="548640"/>
          </a:xfrm>
          <a:prstGeom prst="ellipse">
            <a:avLst/>
          </a:prstGeom>
          <a:solidFill>
            <a:schemeClr val="accent1"/>
          </a:solidFill>
          <a:ln/>
        </p:spPr>
      </p:sp>
      <p:pic>
        <p:nvPicPr>
          <p:cNvPr id="27" name="icon_283" descr="preencoded.png">    </p:cNvPr>
          <p:cNvPicPr>
            <a:picLocks noChangeAspect="1"/>
          </p:cNvPicPr>
          <p:nvPr/>
        </p:nvPicPr>
        <p:blipFill>
          <a:blip r:embed="rId4"/>
          <a:stretch>
            <a:fillRect/>
          </a:stretch>
        </p:blipFill>
        <p:spPr>
          <a:xfrm>
            <a:off x="881482" y="4036162"/>
            <a:ext cx="285293" cy="285293"/>
          </a:xfrm>
          <a:prstGeom prst="rect">
            <a:avLst/>
          </a:prstGeom>
        </p:spPr>
      </p:pic>
      <p:sp>
        <p:nvSpPr>
          <p:cNvPr id="28" name="text_284"/>
          <p:cNvSpPr txBox="1"/>
          <p:nvPr/>
        </p:nvSpPr>
        <p:spPr>
          <a:xfrm>
            <a:off x="1444752" y="3904488"/>
            <a:ext cx="1828800" cy="548640"/>
          </a:xfrm>
          <a:prstGeom prst="rect">
            <a:avLst/>
          </a:prstGeom>
          <a:noFill/>
          <a:ln/>
        </p:spPr>
        <p:txBody>
          <a:bodyPr wrap="square" lIns="0" tIns="0" rIns="0" bIns="0" rtlCol="0" anchor="ctr"/>
          <a:lstStyle/>
          <a:p>
            <a:pPr indent="0" marL="0">
              <a:buNone/>
            </a:pPr>
            <a:r>
              <a:rPr lang="en-US" sz="1900" b="1" dirty="0">
                <a:solidFill>
                  <a:schemeClr val="tx1"/>
                </a:solidFill>
              </a:rPr>
              <a:t>실행·저장</a:t>
            </a:r>
            <a:endParaRPr lang="en-US" sz="1900" dirty="0"/>
          </a:p>
        </p:txBody>
      </p:sp>
      <p:sp>
        <p:nvSpPr>
          <p:cNvPr id="29" name="chip_285"/>
          <p:cNvSpPr txBox="1"/>
          <p:nvPr/>
        </p:nvSpPr>
        <p:spPr>
          <a:xfrm>
            <a:off x="3246120" y="4014216"/>
            <a:ext cx="658368" cy="329184"/>
          </a:xfrm>
          <a:prstGeom prst="roundRect">
            <a:avLst>
              <a:gd name="adj" fmla="val 1666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5개</a:t>
            </a:r>
            <a:endParaRPr lang="en-US" sz="1200" dirty="0"/>
          </a:p>
        </p:txBody>
      </p:sp>
      <p:sp>
        <p:nvSpPr>
          <p:cNvPr id="30" name="text_286"/>
          <p:cNvSpPr txBox="1"/>
          <p:nvPr/>
        </p:nvSpPr>
        <p:spPr>
          <a:xfrm>
            <a:off x="749808" y="4599432"/>
            <a:ext cx="3163824" cy="594360"/>
          </a:xfrm>
          <a:prstGeom prst="rect">
            <a:avLst/>
          </a:prstGeom>
          <a:noFill/>
          <a:ln/>
        </p:spPr>
        <p:txBody>
          <a:bodyPr wrap="square" lIns="0" tIns="0" rIns="0" bIns="0" rtlCol="0" anchor="t"/>
          <a:lstStyle/>
          <a:p>
            <a:pPr indent="0" marL="0">
              <a:buNone/>
            </a:pPr>
            <a:r>
              <a:rPr lang="en-US" sz="1400" dirty="0">
                <a:solidFill>
                  <a:schemeClr val="tx1"/>
                </a:solidFill>
              </a:rPr>
              <a:t>검증 실행을 돌리고 변경 내용을 저장한다</a:t>
            </a:r>
            <a:endParaRPr lang="en-US" sz="1400" dirty="0"/>
          </a:p>
        </p:txBody>
      </p:sp>
      <p:sp>
        <p:nvSpPr>
          <p:cNvPr id="31" name="text_287"/>
          <p:cNvSpPr txBox="1"/>
          <p:nvPr/>
        </p:nvSpPr>
        <p:spPr>
          <a:xfrm>
            <a:off x="749808" y="5166360"/>
            <a:ext cx="3163824" cy="658368"/>
          </a:xfrm>
          <a:prstGeom prst="rect">
            <a:avLst/>
          </a:prstGeom>
          <a:noFill/>
          <a:ln/>
        </p:spPr>
        <p:txBody>
          <a:bodyPr wrap="square" lIns="0" tIns="0" rIns="0" bIns="0" rtlCol="0" anchor="t"/>
          <a:lstStyle/>
          <a:p>
            <a:pPr indent="0" marL="0">
              <a:buNone/>
            </a:pPr>
            <a:r>
              <a:rPr lang="en-US" sz="1000" dirty="0">
                <a:solidFill>
                  <a:schemeClr val="accent6"/>
                </a:solidFill>
                <a:latin typeface="Consolas" pitchFamily="34" charset="0"/>
                <a:ea typeface="Consolas" pitchFamily="34" charset="-122"/>
                <a:cs typeface="Consolas" pitchFamily="34" charset="-120"/>
              </a:rPr>
              <a:t>execute_test_suite</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execute_test_suite_status</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save_workspace</a:t>
            </a:r>
            <a:endParaRPr lang="en-US" sz="1000" dirty="0"/>
          </a:p>
        </p:txBody>
      </p:sp>
      <p:sp>
        <p:nvSpPr>
          <p:cNvPr id="32" name="card_288"/>
          <p:cNvSpPr/>
          <p:nvPr/>
        </p:nvSpPr>
        <p:spPr>
          <a:xfrm>
            <a:off x="4311396" y="3703320"/>
            <a:ext cx="3566160" cy="2194560"/>
          </a:xfrm>
          <a:prstGeom prst="roundRect">
            <a:avLst>
              <a:gd name="adj" fmla="val 4167"/>
            </a:avLst>
          </a:prstGeom>
          <a:solidFill>
            <a:schemeClr val="bg2"/>
          </a:solidFill>
          <a:ln/>
        </p:spPr>
      </p:sp>
      <p:sp>
        <p:nvSpPr>
          <p:cNvPr id="33" name="iconbg_289"/>
          <p:cNvSpPr/>
          <p:nvPr/>
        </p:nvSpPr>
        <p:spPr>
          <a:xfrm>
            <a:off x="4512564" y="3904488"/>
            <a:ext cx="548640" cy="548640"/>
          </a:xfrm>
          <a:prstGeom prst="ellipse">
            <a:avLst/>
          </a:prstGeom>
          <a:solidFill>
            <a:schemeClr val="accent1"/>
          </a:solidFill>
          <a:ln/>
        </p:spPr>
      </p:sp>
      <p:pic>
        <p:nvPicPr>
          <p:cNvPr id="34" name="icon_290" descr="preencoded.png">    </p:cNvPr>
          <p:cNvPicPr>
            <a:picLocks noChangeAspect="1"/>
          </p:cNvPicPr>
          <p:nvPr/>
        </p:nvPicPr>
        <p:blipFill>
          <a:blip r:embed="rId5"/>
          <a:stretch>
            <a:fillRect/>
          </a:stretch>
        </p:blipFill>
        <p:spPr>
          <a:xfrm>
            <a:off x="4644238" y="4036162"/>
            <a:ext cx="285293" cy="285293"/>
          </a:xfrm>
          <a:prstGeom prst="rect">
            <a:avLst/>
          </a:prstGeom>
        </p:spPr>
      </p:pic>
      <p:sp>
        <p:nvSpPr>
          <p:cNvPr id="35" name="text_291"/>
          <p:cNvSpPr txBox="1"/>
          <p:nvPr/>
        </p:nvSpPr>
        <p:spPr>
          <a:xfrm>
            <a:off x="5207508" y="3904488"/>
            <a:ext cx="1828800" cy="548640"/>
          </a:xfrm>
          <a:prstGeom prst="rect">
            <a:avLst/>
          </a:prstGeom>
          <a:noFill/>
          <a:ln/>
        </p:spPr>
        <p:txBody>
          <a:bodyPr wrap="square" lIns="0" tIns="0" rIns="0" bIns="0" rtlCol="0" anchor="ctr"/>
          <a:lstStyle/>
          <a:p>
            <a:pPr indent="0" marL="0">
              <a:buNone/>
            </a:pPr>
            <a:r>
              <a:rPr lang="en-US" sz="1900" b="1" dirty="0">
                <a:solidFill>
                  <a:schemeClr val="tx1"/>
                </a:solidFill>
              </a:rPr>
              <a:t>API</a:t>
            </a:r>
            <a:endParaRPr lang="en-US" sz="1900" dirty="0"/>
          </a:p>
        </p:txBody>
      </p:sp>
      <p:sp>
        <p:nvSpPr>
          <p:cNvPr id="36" name="chip_292"/>
          <p:cNvSpPr txBox="1"/>
          <p:nvPr/>
        </p:nvSpPr>
        <p:spPr>
          <a:xfrm>
            <a:off x="7008876" y="4014216"/>
            <a:ext cx="658368" cy="329184"/>
          </a:xfrm>
          <a:prstGeom prst="roundRect">
            <a:avLst>
              <a:gd name="adj" fmla="val 1666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4개</a:t>
            </a:r>
            <a:endParaRPr lang="en-US" sz="1200" dirty="0"/>
          </a:p>
        </p:txBody>
      </p:sp>
      <p:sp>
        <p:nvSpPr>
          <p:cNvPr id="37" name="text_293"/>
          <p:cNvSpPr txBox="1"/>
          <p:nvPr/>
        </p:nvSpPr>
        <p:spPr>
          <a:xfrm>
            <a:off x="4512564" y="4599432"/>
            <a:ext cx="3163824" cy="594360"/>
          </a:xfrm>
          <a:prstGeom prst="rect">
            <a:avLst/>
          </a:prstGeom>
          <a:noFill/>
          <a:ln/>
        </p:spPr>
        <p:txBody>
          <a:bodyPr wrap="square" lIns="0" tIns="0" rIns="0" bIns="0" rtlCol="0" anchor="t"/>
          <a:lstStyle/>
          <a:p>
            <a:pPr indent="0" marL="0">
              <a:buNone/>
            </a:pPr>
            <a:r>
              <a:rPr lang="en-US" sz="1400" dirty="0">
                <a:solidFill>
                  <a:schemeClr val="tx1"/>
                </a:solidFill>
              </a:rPr>
              <a:t>API 연결과 요청/응답 모듈을 만든다</a:t>
            </a:r>
            <a:endParaRPr lang="en-US" sz="1400" dirty="0"/>
          </a:p>
        </p:txBody>
      </p:sp>
      <p:sp>
        <p:nvSpPr>
          <p:cNvPr id="38" name="text_294"/>
          <p:cNvSpPr txBox="1"/>
          <p:nvPr/>
        </p:nvSpPr>
        <p:spPr>
          <a:xfrm>
            <a:off x="4512564" y="5166360"/>
            <a:ext cx="3163824" cy="658368"/>
          </a:xfrm>
          <a:prstGeom prst="rect">
            <a:avLst/>
          </a:prstGeom>
          <a:noFill/>
          <a:ln/>
        </p:spPr>
        <p:txBody>
          <a:bodyPr wrap="square" lIns="0" tIns="0" rIns="0" bIns="0" rtlCol="0" anchor="t"/>
          <a:lstStyle/>
          <a:p>
            <a:pPr indent="0" marL="0">
              <a:buNone/>
            </a:pPr>
            <a:r>
              <a:rPr lang="en-US" sz="1000" dirty="0">
                <a:solidFill>
                  <a:schemeClr val="accent6"/>
                </a:solidFill>
                <a:latin typeface="Consolas" pitchFamily="34" charset="0"/>
                <a:ea typeface="Consolas" pitchFamily="34" charset="-122"/>
                <a:cs typeface="Consolas" pitchFamily="34" charset="-120"/>
              </a:rPr>
              <a:t>list_api_connections</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create_api_connection</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create_api_module</a:t>
            </a:r>
            <a:endParaRPr lang="en-US" sz="1000" dirty="0"/>
          </a:p>
        </p:txBody>
      </p:sp>
      <p:sp>
        <p:nvSpPr>
          <p:cNvPr id="39" name="card_295"/>
          <p:cNvSpPr/>
          <p:nvPr/>
        </p:nvSpPr>
        <p:spPr>
          <a:xfrm>
            <a:off x="8074152" y="3703320"/>
            <a:ext cx="3566160" cy="2194560"/>
          </a:xfrm>
          <a:prstGeom prst="roundRect">
            <a:avLst>
              <a:gd name="adj" fmla="val 4167"/>
            </a:avLst>
          </a:prstGeom>
          <a:solidFill>
            <a:schemeClr val="bg2"/>
          </a:solidFill>
          <a:ln/>
        </p:spPr>
      </p:sp>
      <p:sp>
        <p:nvSpPr>
          <p:cNvPr id="40" name="iconbg_296"/>
          <p:cNvSpPr/>
          <p:nvPr/>
        </p:nvSpPr>
        <p:spPr>
          <a:xfrm>
            <a:off x="8275320" y="3904488"/>
            <a:ext cx="548640" cy="548640"/>
          </a:xfrm>
          <a:prstGeom prst="ellipse">
            <a:avLst/>
          </a:prstGeom>
          <a:solidFill>
            <a:schemeClr val="accent1"/>
          </a:solidFill>
          <a:ln/>
        </p:spPr>
      </p:sp>
      <p:pic>
        <p:nvPicPr>
          <p:cNvPr id="41" name="icon_297" descr="preencoded.png">    </p:cNvPr>
          <p:cNvPicPr>
            <a:picLocks noChangeAspect="1"/>
          </p:cNvPicPr>
          <p:nvPr/>
        </p:nvPicPr>
        <p:blipFill>
          <a:blip r:embed="rId6"/>
          <a:stretch>
            <a:fillRect/>
          </a:stretch>
        </p:blipFill>
        <p:spPr>
          <a:xfrm>
            <a:off x="8406994" y="4036162"/>
            <a:ext cx="285293" cy="285293"/>
          </a:xfrm>
          <a:prstGeom prst="rect">
            <a:avLst/>
          </a:prstGeom>
        </p:spPr>
      </p:pic>
      <p:sp>
        <p:nvSpPr>
          <p:cNvPr id="42" name="text_298"/>
          <p:cNvSpPr txBox="1"/>
          <p:nvPr/>
        </p:nvSpPr>
        <p:spPr>
          <a:xfrm>
            <a:off x="8970264" y="3904488"/>
            <a:ext cx="1828800" cy="548640"/>
          </a:xfrm>
          <a:prstGeom prst="rect">
            <a:avLst/>
          </a:prstGeom>
          <a:noFill/>
          <a:ln/>
        </p:spPr>
        <p:txBody>
          <a:bodyPr wrap="square" lIns="0" tIns="0" rIns="0" bIns="0" rtlCol="0" anchor="ctr"/>
          <a:lstStyle/>
          <a:p>
            <a:pPr indent="0" marL="0">
              <a:buNone/>
            </a:pPr>
            <a:r>
              <a:rPr lang="en-US" sz="1900" b="1" dirty="0">
                <a:solidFill>
                  <a:schemeClr val="tx1"/>
                </a:solidFill>
              </a:rPr>
              <a:t>Data Integrity</a:t>
            </a:r>
            <a:endParaRPr lang="en-US" sz="1900" dirty="0"/>
          </a:p>
        </p:txBody>
      </p:sp>
      <p:sp>
        <p:nvSpPr>
          <p:cNvPr id="43" name="chip_299"/>
          <p:cNvSpPr txBox="1"/>
          <p:nvPr/>
        </p:nvSpPr>
        <p:spPr>
          <a:xfrm>
            <a:off x="10771632" y="4014216"/>
            <a:ext cx="658368" cy="329184"/>
          </a:xfrm>
          <a:prstGeom prst="roundRect">
            <a:avLst>
              <a:gd name="adj" fmla="val 1666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7개</a:t>
            </a:r>
            <a:endParaRPr lang="en-US" sz="1200" dirty="0"/>
          </a:p>
        </p:txBody>
      </p:sp>
      <p:sp>
        <p:nvSpPr>
          <p:cNvPr id="44" name="text_300"/>
          <p:cNvSpPr txBox="1"/>
          <p:nvPr/>
        </p:nvSpPr>
        <p:spPr>
          <a:xfrm>
            <a:off x="8275320" y="4599432"/>
            <a:ext cx="3163824" cy="594360"/>
          </a:xfrm>
          <a:prstGeom prst="rect">
            <a:avLst/>
          </a:prstGeom>
          <a:noFill/>
          <a:ln/>
        </p:spPr>
        <p:txBody>
          <a:bodyPr wrap="square" lIns="0" tIns="0" rIns="0" bIns="0" rtlCol="0" anchor="t"/>
          <a:lstStyle/>
          <a:p>
            <a:pPr indent="0" marL="0">
              <a:buNone/>
            </a:pPr>
            <a:r>
              <a:rPr lang="en-US" sz="1400" dirty="0">
                <a:solidFill>
                  <a:schemeClr val="tx1"/>
                </a:solidFill>
              </a:rPr>
              <a:t>DB 연결과 데이터 비교 테스트를 만든다 (라이선스 필요)</a:t>
            </a:r>
            <a:endParaRPr lang="en-US" sz="1400" dirty="0"/>
          </a:p>
        </p:txBody>
      </p:sp>
      <p:sp>
        <p:nvSpPr>
          <p:cNvPr id="45" name="text_301"/>
          <p:cNvSpPr txBox="1"/>
          <p:nvPr/>
        </p:nvSpPr>
        <p:spPr>
          <a:xfrm>
            <a:off x="8275320" y="5166360"/>
            <a:ext cx="3163824" cy="658368"/>
          </a:xfrm>
          <a:prstGeom prst="rect">
            <a:avLst/>
          </a:prstGeom>
          <a:noFill/>
          <a:ln/>
        </p:spPr>
        <p:txBody>
          <a:bodyPr wrap="square" lIns="0" tIns="0" rIns="0" bIns="0" rtlCol="0" anchor="t"/>
          <a:lstStyle/>
          <a:p>
            <a:pPr indent="0" marL="0">
              <a:buNone/>
            </a:pPr>
            <a:r>
              <a:rPr lang="en-US" sz="1000" dirty="0">
                <a:solidFill>
                  <a:schemeClr val="accent6"/>
                </a:solidFill>
                <a:latin typeface="Consolas" pitchFamily="34" charset="0"/>
                <a:ea typeface="Consolas" pitchFamily="34" charset="-122"/>
                <a:cs typeface="Consolas" pitchFamily="34" charset="-120"/>
              </a:rPr>
              <a:t>di_connection</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get_di_connection_schema</a:t>
            </a:r>
            <a:endParaRPr lang="en-US" sz="1000" dirty="0"/>
          </a:p>
          <a:p>
            <a:pPr indent="0" marL="0">
              <a:buNone/>
            </a:pPr>
            <a:r>
              <a:rPr lang="en-US" sz="1000" dirty="0">
                <a:solidFill>
                  <a:schemeClr val="accent6"/>
                </a:solidFill>
                <a:latin typeface="Consolas" pitchFamily="34" charset="0"/>
                <a:ea typeface="Consolas" pitchFamily="34" charset="-122"/>
                <a:cs typeface="Consolas" pitchFamily="34" charset="-120"/>
              </a:rPr>
              <a:t>run_di_sql_statement</a:t>
            </a:r>
            <a:endParaRPr lang="en-US" sz="1000" dirty="0"/>
          </a:p>
        </p:txBody>
      </p:sp>
      <p:sp>
        <p:nvSpPr>
          <p:cNvPr id="46" name="text_302"/>
          <p:cNvSpPr txBox="1"/>
          <p:nvPr/>
        </p:nvSpPr>
        <p:spPr>
          <a:xfrm>
            <a:off x="548640" y="5943600"/>
            <a:ext cx="11091672" cy="320040"/>
          </a:xfrm>
          <a:prstGeom prst="rect">
            <a:avLst/>
          </a:prstGeom>
          <a:noFill/>
          <a:ln/>
        </p:spPr>
        <p:txBody>
          <a:bodyPr wrap="square" lIns="0" tIns="0" rIns="0" bIns="0" rtlCol="0" anchor="ctr"/>
          <a:lstStyle/>
          <a:p>
            <a:pPr indent="0" marL="0">
              <a:buNone/>
            </a:pPr>
            <a:r>
              <a:rPr lang="en-US" sz="1100" dirty="0">
                <a:solidFill>
                  <a:schemeClr val="accent6"/>
                </a:solidFill>
              </a:rPr>
              <a:t>commander-mcp 스킬팩 1.2.1 도구 카탈로그 기준. 전체 목록과 설명은 워크북 부록 A.</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AI에게 맡기지 않는 일</a:t>
            </a:r>
            <a:endParaRPr lang="en-US" sz="3200" dirty="0"/>
          </a:p>
        </p:txBody>
      </p:sp>
      <p:sp>
        <p:nvSpPr>
          <p:cNvPr id="4" name="card_303"/>
          <p:cNvSpPr/>
          <p:nvPr/>
        </p:nvSpPr>
        <p:spPr>
          <a:xfrm>
            <a:off x="548640" y="1371600"/>
            <a:ext cx="5440680" cy="1417320"/>
          </a:xfrm>
          <a:prstGeom prst="roundRect">
            <a:avLst>
              <a:gd name="adj" fmla="val 6452"/>
            </a:avLst>
          </a:prstGeom>
          <a:solidFill>
            <a:schemeClr val="bg2"/>
          </a:solidFill>
          <a:ln/>
        </p:spPr>
      </p:sp>
      <p:sp>
        <p:nvSpPr>
          <p:cNvPr id="5" name="iconbg_304"/>
          <p:cNvSpPr/>
          <p:nvPr/>
        </p:nvSpPr>
        <p:spPr>
          <a:xfrm>
            <a:off x="777240" y="1755648"/>
            <a:ext cx="640080" cy="640080"/>
          </a:xfrm>
          <a:prstGeom prst="ellipse">
            <a:avLst/>
          </a:prstGeom>
          <a:solidFill>
            <a:schemeClr val="bg1"/>
          </a:solidFill>
          <a:ln/>
        </p:spPr>
      </p:sp>
      <p:pic>
        <p:nvPicPr>
          <p:cNvPr id="6" name="icon_305" descr="preencoded.png">    </p:cNvPr>
          <p:cNvPicPr>
            <a:picLocks noChangeAspect="1"/>
          </p:cNvPicPr>
          <p:nvPr/>
        </p:nvPicPr>
        <p:blipFill>
          <a:blip r:embed="rId1"/>
          <a:stretch>
            <a:fillRect/>
          </a:stretch>
        </p:blipFill>
        <p:spPr>
          <a:xfrm>
            <a:off x="930859" y="1909267"/>
            <a:ext cx="332842" cy="332842"/>
          </a:xfrm>
          <a:prstGeom prst="rect">
            <a:avLst/>
          </a:prstGeom>
        </p:spPr>
      </p:pic>
      <p:sp>
        <p:nvSpPr>
          <p:cNvPr id="7" name="text_306"/>
          <p:cNvSpPr txBox="1"/>
          <p:nvPr/>
        </p:nvSpPr>
        <p:spPr>
          <a:xfrm>
            <a:off x="1627632" y="1554480"/>
            <a:ext cx="4160520" cy="411480"/>
          </a:xfrm>
          <a:prstGeom prst="rect">
            <a:avLst/>
          </a:prstGeom>
          <a:noFill/>
          <a:ln/>
        </p:spPr>
        <p:txBody>
          <a:bodyPr wrap="square" lIns="0" tIns="0" rIns="0" bIns="0" rtlCol="0" anchor="ctr"/>
          <a:lstStyle/>
          <a:p>
            <a:pPr indent="0" marL="0">
              <a:buNone/>
            </a:pPr>
            <a:r>
              <a:rPr lang="en-US" sz="1700" b="1" dirty="0">
                <a:solidFill>
                  <a:schemeClr val="tx1"/>
                </a:solidFill>
              </a:rPr>
              <a:t>화면 스캔(XScan)</a:t>
            </a:r>
            <a:endParaRPr lang="en-US" sz="1700" dirty="0"/>
          </a:p>
        </p:txBody>
      </p:sp>
      <p:sp>
        <p:nvSpPr>
          <p:cNvPr id="8" name="text_307"/>
          <p:cNvSpPr txBox="1"/>
          <p:nvPr/>
        </p:nvSpPr>
        <p:spPr>
          <a:xfrm>
            <a:off x="1627632" y="1975104"/>
            <a:ext cx="4160520" cy="731520"/>
          </a:xfrm>
          <a:prstGeom prst="rect">
            <a:avLst/>
          </a:prstGeom>
          <a:noFill/>
          <a:ln/>
        </p:spPr>
        <p:txBody>
          <a:bodyPr wrap="square" lIns="0" tIns="0" rIns="0" bIns="0" rtlCol="0" anchor="t"/>
          <a:lstStyle/>
          <a:p>
            <a:pPr indent="0" marL="0">
              <a:buNone/>
            </a:pPr>
            <a:r>
              <a:rPr lang="en-US" sz="1400" dirty="0">
                <a:solidFill>
                  <a:schemeClr val="tx1"/>
                </a:solidFill>
              </a:rPr>
              <a:t>AI는 이미 있는 모듈만 재사용한다. 새 화면은 사람이 XScan으로 스캔한다.</a:t>
            </a:r>
            <a:endParaRPr lang="en-US" sz="1400" dirty="0"/>
          </a:p>
        </p:txBody>
      </p:sp>
      <p:sp>
        <p:nvSpPr>
          <p:cNvPr id="9" name="card_308"/>
          <p:cNvSpPr/>
          <p:nvPr/>
        </p:nvSpPr>
        <p:spPr>
          <a:xfrm>
            <a:off x="6199632" y="1371600"/>
            <a:ext cx="5440680" cy="1417320"/>
          </a:xfrm>
          <a:prstGeom prst="roundRect">
            <a:avLst>
              <a:gd name="adj" fmla="val 6452"/>
            </a:avLst>
          </a:prstGeom>
          <a:solidFill>
            <a:schemeClr val="bg2"/>
          </a:solidFill>
          <a:ln/>
        </p:spPr>
      </p:sp>
      <p:sp>
        <p:nvSpPr>
          <p:cNvPr id="10" name="iconbg_309"/>
          <p:cNvSpPr/>
          <p:nvPr/>
        </p:nvSpPr>
        <p:spPr>
          <a:xfrm>
            <a:off x="6428232" y="1755648"/>
            <a:ext cx="640080" cy="640080"/>
          </a:xfrm>
          <a:prstGeom prst="ellipse">
            <a:avLst/>
          </a:prstGeom>
          <a:solidFill>
            <a:schemeClr val="bg1"/>
          </a:solidFill>
          <a:ln/>
        </p:spPr>
      </p:sp>
      <p:pic>
        <p:nvPicPr>
          <p:cNvPr id="11" name="icon_310" descr="preencoded.png">    </p:cNvPr>
          <p:cNvPicPr>
            <a:picLocks noChangeAspect="1"/>
          </p:cNvPicPr>
          <p:nvPr/>
        </p:nvPicPr>
        <p:blipFill>
          <a:blip r:embed="rId2"/>
          <a:stretch>
            <a:fillRect/>
          </a:stretch>
        </p:blipFill>
        <p:spPr>
          <a:xfrm>
            <a:off x="6581851" y="1909267"/>
            <a:ext cx="332842" cy="332842"/>
          </a:xfrm>
          <a:prstGeom prst="rect">
            <a:avLst/>
          </a:prstGeom>
        </p:spPr>
      </p:pic>
      <p:sp>
        <p:nvSpPr>
          <p:cNvPr id="12" name="text_311"/>
          <p:cNvSpPr txBox="1"/>
          <p:nvPr/>
        </p:nvSpPr>
        <p:spPr>
          <a:xfrm>
            <a:off x="7278624" y="1554480"/>
            <a:ext cx="4160520" cy="411480"/>
          </a:xfrm>
          <a:prstGeom prst="rect">
            <a:avLst/>
          </a:prstGeom>
          <a:noFill/>
          <a:ln/>
        </p:spPr>
        <p:txBody>
          <a:bodyPr wrap="square" lIns="0" tIns="0" rIns="0" bIns="0" rtlCol="0" anchor="ctr"/>
          <a:lstStyle/>
          <a:p>
            <a:pPr indent="0" marL="0">
              <a:buNone/>
            </a:pPr>
            <a:r>
              <a:rPr lang="en-US" sz="1700" b="1" dirty="0">
                <a:solidFill>
                  <a:schemeClr val="tx1"/>
                </a:solidFill>
              </a:rPr>
              <a:t>비밀번호와 접속 정보</a:t>
            </a:r>
            <a:endParaRPr lang="en-US" sz="1700" dirty="0"/>
          </a:p>
        </p:txBody>
      </p:sp>
      <p:sp>
        <p:nvSpPr>
          <p:cNvPr id="13" name="text_312"/>
          <p:cNvSpPr txBox="1"/>
          <p:nvPr/>
        </p:nvSpPr>
        <p:spPr>
          <a:xfrm>
            <a:off x="7278624" y="1975104"/>
            <a:ext cx="4160520" cy="731520"/>
          </a:xfrm>
          <a:prstGeom prst="rect">
            <a:avLst/>
          </a:prstGeom>
          <a:noFill/>
          <a:ln/>
        </p:spPr>
        <p:txBody>
          <a:bodyPr wrap="square" lIns="0" tIns="0" rIns="0" bIns="0" rtlCol="0" anchor="t"/>
          <a:lstStyle/>
          <a:p>
            <a:pPr indent="0" marL="0">
              <a:buNone/>
            </a:pPr>
            <a:r>
              <a:rPr lang="en-US" sz="1400" dirty="0">
                <a:solidFill>
                  <a:schemeClr val="tx1"/>
                </a:solidFill>
              </a:rPr>
              <a:t>민감한 값은 사람이 넣는다. AI가 만든 DI 연결은 'Allow AI queries'가 꺼진 채로 생긴다.</a:t>
            </a:r>
            <a:endParaRPr lang="en-US" sz="1400" dirty="0"/>
          </a:p>
        </p:txBody>
      </p:sp>
      <p:sp>
        <p:nvSpPr>
          <p:cNvPr id="14" name="card_313"/>
          <p:cNvSpPr/>
          <p:nvPr/>
        </p:nvSpPr>
        <p:spPr>
          <a:xfrm>
            <a:off x="548640" y="2971800"/>
            <a:ext cx="5440680" cy="1417320"/>
          </a:xfrm>
          <a:prstGeom prst="roundRect">
            <a:avLst>
              <a:gd name="adj" fmla="val 6452"/>
            </a:avLst>
          </a:prstGeom>
          <a:solidFill>
            <a:schemeClr val="bg2"/>
          </a:solidFill>
          <a:ln/>
        </p:spPr>
      </p:sp>
      <p:sp>
        <p:nvSpPr>
          <p:cNvPr id="15" name="iconbg_314"/>
          <p:cNvSpPr/>
          <p:nvPr/>
        </p:nvSpPr>
        <p:spPr>
          <a:xfrm>
            <a:off x="777240" y="3355848"/>
            <a:ext cx="640080" cy="640080"/>
          </a:xfrm>
          <a:prstGeom prst="ellipse">
            <a:avLst/>
          </a:prstGeom>
          <a:solidFill>
            <a:schemeClr val="bg1"/>
          </a:solidFill>
          <a:ln/>
        </p:spPr>
      </p:sp>
      <p:pic>
        <p:nvPicPr>
          <p:cNvPr id="16" name="icon_315" descr="preencoded.png">    </p:cNvPr>
          <p:cNvPicPr>
            <a:picLocks noChangeAspect="1"/>
          </p:cNvPicPr>
          <p:nvPr/>
        </p:nvPicPr>
        <p:blipFill>
          <a:blip r:embed="rId3"/>
          <a:stretch>
            <a:fillRect/>
          </a:stretch>
        </p:blipFill>
        <p:spPr>
          <a:xfrm>
            <a:off x="930859" y="3509467"/>
            <a:ext cx="332842" cy="332842"/>
          </a:xfrm>
          <a:prstGeom prst="rect">
            <a:avLst/>
          </a:prstGeom>
        </p:spPr>
      </p:pic>
      <p:sp>
        <p:nvSpPr>
          <p:cNvPr id="17" name="text_316"/>
          <p:cNvSpPr txBox="1"/>
          <p:nvPr/>
        </p:nvSpPr>
        <p:spPr>
          <a:xfrm>
            <a:off x="1627632" y="3154680"/>
            <a:ext cx="4160520" cy="411480"/>
          </a:xfrm>
          <a:prstGeom prst="rect">
            <a:avLst/>
          </a:prstGeom>
          <a:noFill/>
          <a:ln/>
        </p:spPr>
        <p:txBody>
          <a:bodyPr wrap="square" lIns="0" tIns="0" rIns="0" bIns="0" rtlCol="0" anchor="ctr"/>
          <a:lstStyle/>
          <a:p>
            <a:pPr indent="0" marL="0">
              <a:buNone/>
            </a:pPr>
            <a:r>
              <a:rPr lang="en-US" sz="1700" b="1" dirty="0">
                <a:solidFill>
                  <a:schemeClr val="tx1"/>
                </a:solidFill>
              </a:rPr>
              <a:t>삭제 결정</a:t>
            </a:r>
            <a:endParaRPr lang="en-US" sz="1700" dirty="0"/>
          </a:p>
        </p:txBody>
      </p:sp>
      <p:sp>
        <p:nvSpPr>
          <p:cNvPr id="18" name="text_317"/>
          <p:cNvSpPr txBox="1"/>
          <p:nvPr/>
        </p:nvSpPr>
        <p:spPr>
          <a:xfrm>
            <a:off x="1627632" y="3575304"/>
            <a:ext cx="4160520" cy="731520"/>
          </a:xfrm>
          <a:prstGeom prst="rect">
            <a:avLst/>
          </a:prstGeom>
          <a:noFill/>
          <a:ln/>
        </p:spPr>
        <p:txBody>
          <a:bodyPr wrap="square" lIns="0" tIns="0" rIns="0" bIns="0" rtlCol="0" anchor="t"/>
          <a:lstStyle/>
          <a:p>
            <a:pPr indent="0" marL="0">
              <a:buNone/>
            </a:pPr>
            <a:r>
              <a:rPr lang="en-US" sz="1400" dirty="0">
                <a:solidFill>
                  <a:schemeClr val="tx1"/>
                </a:solidFill>
              </a:rPr>
              <a:t>삭제는 되돌릴 수 없다. 대상 목록을 먼저 보고 따로 승인한다.</a:t>
            </a:r>
            <a:endParaRPr lang="en-US" sz="1400" dirty="0"/>
          </a:p>
        </p:txBody>
      </p:sp>
      <p:sp>
        <p:nvSpPr>
          <p:cNvPr id="19" name="card_318"/>
          <p:cNvSpPr/>
          <p:nvPr/>
        </p:nvSpPr>
        <p:spPr>
          <a:xfrm>
            <a:off x="6199632" y="2971800"/>
            <a:ext cx="5440680" cy="1417320"/>
          </a:xfrm>
          <a:prstGeom prst="roundRect">
            <a:avLst>
              <a:gd name="adj" fmla="val 6452"/>
            </a:avLst>
          </a:prstGeom>
          <a:solidFill>
            <a:schemeClr val="bg2"/>
          </a:solidFill>
          <a:ln/>
        </p:spPr>
      </p:sp>
      <p:sp>
        <p:nvSpPr>
          <p:cNvPr id="20" name="iconbg_319"/>
          <p:cNvSpPr/>
          <p:nvPr/>
        </p:nvSpPr>
        <p:spPr>
          <a:xfrm>
            <a:off x="6428232" y="3355848"/>
            <a:ext cx="640080" cy="640080"/>
          </a:xfrm>
          <a:prstGeom prst="ellipse">
            <a:avLst/>
          </a:prstGeom>
          <a:solidFill>
            <a:schemeClr val="bg1"/>
          </a:solidFill>
          <a:ln/>
        </p:spPr>
      </p:sp>
      <p:pic>
        <p:nvPicPr>
          <p:cNvPr id="21" name="icon_320" descr="preencoded.png">    </p:cNvPr>
          <p:cNvPicPr>
            <a:picLocks noChangeAspect="1"/>
          </p:cNvPicPr>
          <p:nvPr/>
        </p:nvPicPr>
        <p:blipFill>
          <a:blip r:embed="rId4"/>
          <a:stretch>
            <a:fillRect/>
          </a:stretch>
        </p:blipFill>
        <p:spPr>
          <a:xfrm>
            <a:off x="6581851" y="3509467"/>
            <a:ext cx="332842" cy="332842"/>
          </a:xfrm>
          <a:prstGeom prst="rect">
            <a:avLst/>
          </a:prstGeom>
        </p:spPr>
      </p:pic>
      <p:sp>
        <p:nvSpPr>
          <p:cNvPr id="22" name="text_321"/>
          <p:cNvSpPr txBox="1"/>
          <p:nvPr/>
        </p:nvSpPr>
        <p:spPr>
          <a:xfrm>
            <a:off x="7278624" y="3154680"/>
            <a:ext cx="4160520" cy="411480"/>
          </a:xfrm>
          <a:prstGeom prst="rect">
            <a:avLst/>
          </a:prstGeom>
          <a:noFill/>
          <a:ln/>
        </p:spPr>
        <p:txBody>
          <a:bodyPr wrap="square" lIns="0" tIns="0" rIns="0" bIns="0" rtlCol="0" anchor="ctr"/>
          <a:lstStyle/>
          <a:p>
            <a:pPr indent="0" marL="0">
              <a:buNone/>
            </a:pPr>
            <a:r>
              <a:rPr lang="en-US" sz="1700" b="1" dirty="0">
                <a:solidFill>
                  <a:schemeClr val="tx1"/>
                </a:solidFill>
              </a:rPr>
              <a:t>결함 판단</a:t>
            </a:r>
            <a:endParaRPr lang="en-US" sz="1700" dirty="0"/>
          </a:p>
        </p:txBody>
      </p:sp>
      <p:sp>
        <p:nvSpPr>
          <p:cNvPr id="23" name="text_322"/>
          <p:cNvSpPr txBox="1"/>
          <p:nvPr/>
        </p:nvSpPr>
        <p:spPr>
          <a:xfrm>
            <a:off x="7278624" y="3575304"/>
            <a:ext cx="4160520" cy="731520"/>
          </a:xfrm>
          <a:prstGeom prst="rect">
            <a:avLst/>
          </a:prstGeom>
          <a:noFill/>
          <a:ln/>
        </p:spPr>
        <p:txBody>
          <a:bodyPr wrap="square" lIns="0" tIns="0" rIns="0" bIns="0" rtlCol="0" anchor="t"/>
          <a:lstStyle/>
          <a:p>
            <a:pPr indent="0" marL="0">
              <a:buNone/>
            </a:pPr>
            <a:r>
              <a:rPr lang="en-US" sz="1400" dirty="0">
                <a:solidFill>
                  <a:schemeClr val="tx1"/>
                </a:solidFill>
              </a:rPr>
              <a:t>실패가 앱 결함인지는 사람이 판단한다. 테스트를 고쳐서 결함을 덮지 않는다.</a:t>
            </a:r>
            <a:endParaRPr lang="en-US" sz="1400" dirty="0"/>
          </a:p>
        </p:txBody>
      </p:sp>
      <p:sp>
        <p:nvSpPr>
          <p:cNvPr id="24" name="card_323"/>
          <p:cNvSpPr/>
          <p:nvPr/>
        </p:nvSpPr>
        <p:spPr>
          <a:xfrm>
            <a:off x="548640" y="4572000"/>
            <a:ext cx="5440680" cy="1417320"/>
          </a:xfrm>
          <a:prstGeom prst="roundRect">
            <a:avLst>
              <a:gd name="adj" fmla="val 6452"/>
            </a:avLst>
          </a:prstGeom>
          <a:solidFill>
            <a:schemeClr val="bg2"/>
          </a:solidFill>
          <a:ln/>
        </p:spPr>
      </p:sp>
      <p:sp>
        <p:nvSpPr>
          <p:cNvPr id="25" name="iconbg_324"/>
          <p:cNvSpPr/>
          <p:nvPr/>
        </p:nvSpPr>
        <p:spPr>
          <a:xfrm>
            <a:off x="777240" y="4956048"/>
            <a:ext cx="640080" cy="640080"/>
          </a:xfrm>
          <a:prstGeom prst="ellipse">
            <a:avLst/>
          </a:prstGeom>
          <a:solidFill>
            <a:schemeClr val="bg1"/>
          </a:solidFill>
          <a:ln/>
        </p:spPr>
      </p:sp>
      <p:pic>
        <p:nvPicPr>
          <p:cNvPr id="26" name="icon_325" descr="preencoded.png">    </p:cNvPr>
          <p:cNvPicPr>
            <a:picLocks noChangeAspect="1"/>
          </p:cNvPicPr>
          <p:nvPr/>
        </p:nvPicPr>
        <p:blipFill>
          <a:blip r:embed="rId5"/>
          <a:stretch>
            <a:fillRect/>
          </a:stretch>
        </p:blipFill>
        <p:spPr>
          <a:xfrm>
            <a:off x="930859" y="5109667"/>
            <a:ext cx="332842" cy="332842"/>
          </a:xfrm>
          <a:prstGeom prst="rect">
            <a:avLst/>
          </a:prstGeom>
        </p:spPr>
      </p:pic>
      <p:sp>
        <p:nvSpPr>
          <p:cNvPr id="27" name="text_326"/>
          <p:cNvSpPr txBox="1"/>
          <p:nvPr/>
        </p:nvSpPr>
        <p:spPr>
          <a:xfrm>
            <a:off x="1627632" y="4754880"/>
            <a:ext cx="4160520" cy="411480"/>
          </a:xfrm>
          <a:prstGeom prst="rect">
            <a:avLst/>
          </a:prstGeom>
          <a:noFill/>
          <a:ln/>
        </p:spPr>
        <p:txBody>
          <a:bodyPr wrap="square" lIns="0" tIns="0" rIns="0" bIns="0" rtlCol="0" anchor="ctr"/>
          <a:lstStyle/>
          <a:p>
            <a:pPr indent="0" marL="0">
              <a:buNone/>
            </a:pPr>
            <a:r>
              <a:rPr lang="en-US" sz="1700" b="1" dirty="0">
                <a:solidFill>
                  <a:schemeClr val="tx1"/>
                </a:solidFill>
              </a:rPr>
              <a:t>Commander 밖의 일</a:t>
            </a:r>
            <a:endParaRPr lang="en-US" sz="1700" dirty="0"/>
          </a:p>
        </p:txBody>
      </p:sp>
      <p:sp>
        <p:nvSpPr>
          <p:cNvPr id="28" name="text_327"/>
          <p:cNvSpPr txBox="1"/>
          <p:nvPr/>
        </p:nvSpPr>
        <p:spPr>
          <a:xfrm>
            <a:off x="1627632" y="5175504"/>
            <a:ext cx="4160520" cy="731520"/>
          </a:xfrm>
          <a:prstGeom prst="rect">
            <a:avLst/>
          </a:prstGeom>
          <a:noFill/>
          <a:ln/>
        </p:spPr>
        <p:txBody>
          <a:bodyPr wrap="square" lIns="0" tIns="0" rIns="0" bIns="0" rtlCol="0" anchor="t"/>
          <a:lstStyle/>
          <a:p>
            <a:pPr indent="0" marL="0">
              <a:buNone/>
            </a:pPr>
            <a:r>
              <a:rPr lang="en-US" sz="1400" dirty="0">
                <a:solidFill>
                  <a:schemeClr val="tx1"/>
                </a:solidFill>
              </a:rPr>
              <a:t>Commander가 닫혀 있으면 동작하지 않는다. 야간 배치나 CI는 TCShell 같은 방식을 쓴다.</a:t>
            </a:r>
            <a:endParaRPr lang="en-US" sz="1400" dirty="0"/>
          </a:p>
        </p:txBody>
      </p:sp>
      <p:sp>
        <p:nvSpPr>
          <p:cNvPr id="29" name="card_328"/>
          <p:cNvSpPr/>
          <p:nvPr/>
        </p:nvSpPr>
        <p:spPr>
          <a:xfrm>
            <a:off x="6199632" y="4572000"/>
            <a:ext cx="5440680" cy="1417320"/>
          </a:xfrm>
          <a:prstGeom prst="roundRect">
            <a:avLst>
              <a:gd name="adj" fmla="val 6452"/>
            </a:avLst>
          </a:prstGeom>
          <a:solidFill>
            <a:schemeClr val="bg2"/>
          </a:solidFill>
          <a:ln/>
        </p:spPr>
      </p:sp>
      <p:sp>
        <p:nvSpPr>
          <p:cNvPr id="30" name="iconbg_329"/>
          <p:cNvSpPr/>
          <p:nvPr/>
        </p:nvSpPr>
        <p:spPr>
          <a:xfrm>
            <a:off x="6428232" y="4956048"/>
            <a:ext cx="640080" cy="640080"/>
          </a:xfrm>
          <a:prstGeom prst="ellipse">
            <a:avLst/>
          </a:prstGeom>
          <a:solidFill>
            <a:schemeClr val="bg1"/>
          </a:solidFill>
          <a:ln/>
        </p:spPr>
      </p:sp>
      <p:pic>
        <p:nvPicPr>
          <p:cNvPr id="31" name="icon_330" descr="preencoded.png">    </p:cNvPr>
          <p:cNvPicPr>
            <a:picLocks noChangeAspect="1"/>
          </p:cNvPicPr>
          <p:nvPr/>
        </p:nvPicPr>
        <p:blipFill>
          <a:blip r:embed="rId6"/>
          <a:stretch>
            <a:fillRect/>
          </a:stretch>
        </p:blipFill>
        <p:spPr>
          <a:xfrm>
            <a:off x="6581851" y="5109667"/>
            <a:ext cx="332842" cy="332842"/>
          </a:xfrm>
          <a:prstGeom prst="rect">
            <a:avLst/>
          </a:prstGeom>
        </p:spPr>
      </p:pic>
      <p:sp>
        <p:nvSpPr>
          <p:cNvPr id="32" name="text_331"/>
          <p:cNvSpPr txBox="1"/>
          <p:nvPr/>
        </p:nvSpPr>
        <p:spPr>
          <a:xfrm>
            <a:off x="7278624" y="4754880"/>
            <a:ext cx="4160520" cy="411480"/>
          </a:xfrm>
          <a:prstGeom prst="rect">
            <a:avLst/>
          </a:prstGeom>
          <a:noFill/>
          <a:ln/>
        </p:spPr>
        <p:txBody>
          <a:bodyPr wrap="square" lIns="0" tIns="0" rIns="0" bIns="0" rtlCol="0" anchor="ctr"/>
          <a:lstStyle/>
          <a:p>
            <a:pPr indent="0" marL="0">
              <a:buNone/>
            </a:pPr>
            <a:r>
              <a:rPr lang="en-US" sz="1700" b="1" dirty="0">
                <a:solidFill>
                  <a:schemeClr val="tx1"/>
                </a:solidFill>
              </a:rPr>
              <a:t>동시 실행</a:t>
            </a:r>
            <a:endParaRPr lang="en-US" sz="1700" dirty="0"/>
          </a:p>
        </p:txBody>
      </p:sp>
      <p:sp>
        <p:nvSpPr>
          <p:cNvPr id="33" name="text_332"/>
          <p:cNvSpPr txBox="1"/>
          <p:nvPr/>
        </p:nvSpPr>
        <p:spPr>
          <a:xfrm>
            <a:off x="7278624" y="5175504"/>
            <a:ext cx="4160520" cy="731520"/>
          </a:xfrm>
          <a:prstGeom prst="rect">
            <a:avLst/>
          </a:prstGeom>
          <a:noFill/>
          <a:ln/>
        </p:spPr>
        <p:txBody>
          <a:bodyPr wrap="square" lIns="0" tIns="0" rIns="0" bIns="0" rtlCol="0" anchor="t"/>
          <a:lstStyle/>
          <a:p>
            <a:pPr indent="0" marL="0">
              <a:buNone/>
            </a:pPr>
            <a:r>
              <a:rPr lang="en-US" sz="1400" dirty="0">
                <a:solidFill>
                  <a:schemeClr val="tx1"/>
                </a:solidFill>
              </a:rPr>
              <a:t>실행은 워크스페이스 전체에서 한 번에 하나만 된다.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준비물과 연결 설정</a:t>
            </a:r>
            <a:endParaRPr lang="en-US" sz="3200" dirty="0"/>
          </a:p>
        </p:txBody>
      </p:sp>
      <p:sp>
        <p:nvSpPr>
          <p:cNvPr id="4" name="iconbg_333"/>
          <p:cNvSpPr/>
          <p:nvPr/>
        </p:nvSpPr>
        <p:spPr>
          <a:xfrm>
            <a:off x="548640" y="1499616"/>
            <a:ext cx="438912" cy="438912"/>
          </a:xfrm>
          <a:prstGeom prst="ellipse">
            <a:avLst/>
          </a:prstGeom>
          <a:solidFill>
            <a:schemeClr val="accent4"/>
          </a:solidFill>
          <a:ln/>
        </p:spPr>
      </p:sp>
      <p:pic>
        <p:nvPicPr>
          <p:cNvPr id="5" name="icon_334" descr="preencoded.png">    </p:cNvPr>
          <p:cNvPicPr>
            <a:picLocks noChangeAspect="1"/>
          </p:cNvPicPr>
          <p:nvPr/>
        </p:nvPicPr>
        <p:blipFill>
          <a:blip r:embed="rId1"/>
          <a:stretch>
            <a:fillRect/>
          </a:stretch>
        </p:blipFill>
        <p:spPr>
          <a:xfrm>
            <a:off x="653979" y="1604955"/>
            <a:ext cx="228234" cy="228234"/>
          </a:xfrm>
          <a:prstGeom prst="rect">
            <a:avLst/>
          </a:prstGeom>
        </p:spPr>
      </p:pic>
      <p:sp>
        <p:nvSpPr>
          <p:cNvPr id="6" name="text_335"/>
          <p:cNvSpPr txBox="1"/>
          <p:nvPr/>
        </p:nvSpPr>
        <p:spPr>
          <a:xfrm>
            <a:off x="1188720" y="1463040"/>
            <a:ext cx="4846320" cy="411480"/>
          </a:xfrm>
          <a:prstGeom prst="rect">
            <a:avLst/>
          </a:prstGeom>
          <a:noFill/>
          <a:ln/>
        </p:spPr>
        <p:txBody>
          <a:bodyPr wrap="square" lIns="0" tIns="0" rIns="0" bIns="0" rtlCol="0" anchor="ctr"/>
          <a:lstStyle/>
          <a:p>
            <a:pPr indent="0" marL="0">
              <a:buNone/>
            </a:pPr>
            <a:r>
              <a:rPr lang="en-US" sz="1600" b="1" dirty="0">
                <a:solidFill>
                  <a:schemeClr val="tx1"/>
                </a:solidFill>
              </a:rPr>
              <a:t>Tosca Commander 2026.1 LTS Patch 1 이상</a:t>
            </a:r>
            <a:endParaRPr lang="en-US" sz="1600" dirty="0"/>
          </a:p>
        </p:txBody>
      </p:sp>
      <p:sp>
        <p:nvSpPr>
          <p:cNvPr id="7" name="text_336"/>
          <p:cNvSpPr txBox="1"/>
          <p:nvPr/>
        </p:nvSpPr>
        <p:spPr>
          <a:xfrm>
            <a:off x="1188720" y="1883664"/>
            <a:ext cx="4846320" cy="548640"/>
          </a:xfrm>
          <a:prstGeom prst="rect">
            <a:avLst/>
          </a:prstGeom>
          <a:noFill/>
          <a:ln/>
        </p:spPr>
        <p:txBody>
          <a:bodyPr wrap="square" lIns="0" tIns="0" rIns="0" bIns="0" rtlCol="0" anchor="t"/>
          <a:lstStyle/>
          <a:p>
            <a:pPr indent="0" marL="0">
              <a:buNone/>
            </a:pPr>
            <a:r>
              <a:rPr lang="en-US" sz="1300" dirty="0">
                <a:solidFill>
                  <a:schemeClr val="accent6"/>
                </a:solidFill>
              </a:rPr>
              <a:t>Patch 2 이상이면 MCP Server 애드인이 기본으로 켜져 있다</a:t>
            </a:r>
            <a:endParaRPr lang="en-US" sz="1300" dirty="0"/>
          </a:p>
        </p:txBody>
      </p:sp>
      <p:sp>
        <p:nvSpPr>
          <p:cNvPr id="8" name="iconbg_337"/>
          <p:cNvSpPr/>
          <p:nvPr/>
        </p:nvSpPr>
        <p:spPr>
          <a:xfrm>
            <a:off x="548640" y="2596896"/>
            <a:ext cx="438912" cy="438912"/>
          </a:xfrm>
          <a:prstGeom prst="ellipse">
            <a:avLst/>
          </a:prstGeom>
          <a:solidFill>
            <a:schemeClr val="accent4"/>
          </a:solidFill>
          <a:ln/>
        </p:spPr>
      </p:sp>
      <p:pic>
        <p:nvPicPr>
          <p:cNvPr id="9" name="icon_338" descr="preencoded.png">    </p:cNvPr>
          <p:cNvPicPr>
            <a:picLocks noChangeAspect="1"/>
          </p:cNvPicPr>
          <p:nvPr/>
        </p:nvPicPr>
        <p:blipFill>
          <a:blip r:embed="rId2"/>
          <a:stretch>
            <a:fillRect/>
          </a:stretch>
        </p:blipFill>
        <p:spPr>
          <a:xfrm>
            <a:off x="653979" y="2702235"/>
            <a:ext cx="228234" cy="228234"/>
          </a:xfrm>
          <a:prstGeom prst="rect">
            <a:avLst/>
          </a:prstGeom>
        </p:spPr>
      </p:pic>
      <p:sp>
        <p:nvSpPr>
          <p:cNvPr id="10" name="text_339"/>
          <p:cNvSpPr txBox="1"/>
          <p:nvPr/>
        </p:nvSpPr>
        <p:spPr>
          <a:xfrm>
            <a:off x="1188720" y="2560320"/>
            <a:ext cx="4846320" cy="411480"/>
          </a:xfrm>
          <a:prstGeom prst="rect">
            <a:avLst/>
          </a:prstGeom>
          <a:noFill/>
          <a:ln/>
        </p:spPr>
        <p:txBody>
          <a:bodyPr wrap="square" lIns="0" tIns="0" rIns="0" bIns="0" rtlCol="0" anchor="ctr"/>
          <a:lstStyle/>
          <a:p>
            <a:pPr indent="0" marL="0">
              <a:buNone/>
            </a:pPr>
            <a:r>
              <a:rPr lang="en-US" sz="1600" b="1" dirty="0">
                <a:solidFill>
                  <a:schemeClr val="tx1"/>
                </a:solidFill>
              </a:rPr>
              <a:t>실습 워크스페이스 열기</a:t>
            </a:r>
            <a:endParaRPr lang="en-US" sz="1600" dirty="0"/>
          </a:p>
        </p:txBody>
      </p:sp>
      <p:sp>
        <p:nvSpPr>
          <p:cNvPr id="11" name="text_340"/>
          <p:cNvSpPr txBox="1"/>
          <p:nvPr/>
        </p:nvSpPr>
        <p:spPr>
          <a:xfrm>
            <a:off x="1188720" y="2980944"/>
            <a:ext cx="4846320" cy="548640"/>
          </a:xfrm>
          <a:prstGeom prst="rect">
            <a:avLst/>
          </a:prstGeom>
          <a:noFill/>
          <a:ln/>
        </p:spPr>
        <p:txBody>
          <a:bodyPr wrap="square" lIns="0" tIns="0" rIns="0" bIns="0" rtlCol="0" anchor="t"/>
          <a:lstStyle/>
          <a:p>
            <a:pPr indent="0" marL="0">
              <a:buNone/>
            </a:pPr>
            <a:r>
              <a:rPr lang="en-US" sz="1300" dirty="0">
                <a:solidFill>
                  <a:schemeClr val="accent6"/>
                </a:solidFill>
              </a:rPr>
              <a:t>실습 내내 열어 둔다. 닫으면 연결이 끊긴다</a:t>
            </a:r>
            <a:endParaRPr lang="en-US" sz="1300" dirty="0"/>
          </a:p>
        </p:txBody>
      </p:sp>
      <p:sp>
        <p:nvSpPr>
          <p:cNvPr id="12" name="iconbg_341"/>
          <p:cNvSpPr/>
          <p:nvPr/>
        </p:nvSpPr>
        <p:spPr>
          <a:xfrm>
            <a:off x="548640" y="3694176"/>
            <a:ext cx="438912" cy="438912"/>
          </a:xfrm>
          <a:prstGeom prst="ellipse">
            <a:avLst/>
          </a:prstGeom>
          <a:solidFill>
            <a:schemeClr val="accent4"/>
          </a:solidFill>
          <a:ln/>
        </p:spPr>
      </p:sp>
      <p:pic>
        <p:nvPicPr>
          <p:cNvPr id="13" name="icon_342" descr="preencoded.png">    </p:cNvPr>
          <p:cNvPicPr>
            <a:picLocks noChangeAspect="1"/>
          </p:cNvPicPr>
          <p:nvPr/>
        </p:nvPicPr>
        <p:blipFill>
          <a:blip r:embed="rId3"/>
          <a:stretch>
            <a:fillRect/>
          </a:stretch>
        </p:blipFill>
        <p:spPr>
          <a:xfrm>
            <a:off x="653979" y="3799515"/>
            <a:ext cx="228234" cy="228234"/>
          </a:xfrm>
          <a:prstGeom prst="rect">
            <a:avLst/>
          </a:prstGeom>
        </p:spPr>
      </p:pic>
      <p:sp>
        <p:nvSpPr>
          <p:cNvPr id="14" name="text_343"/>
          <p:cNvSpPr txBox="1"/>
          <p:nvPr/>
        </p:nvSpPr>
        <p:spPr>
          <a:xfrm>
            <a:off x="1188720" y="3657600"/>
            <a:ext cx="4846320" cy="411480"/>
          </a:xfrm>
          <a:prstGeom prst="rect">
            <a:avLst/>
          </a:prstGeom>
          <a:noFill/>
          <a:ln/>
        </p:spPr>
        <p:txBody>
          <a:bodyPr wrap="square" lIns="0" tIns="0" rIns="0" bIns="0" rtlCol="0" anchor="ctr"/>
          <a:lstStyle/>
          <a:p>
            <a:pPr indent="0" marL="0">
              <a:buNone/>
            </a:pPr>
            <a:r>
              <a:rPr lang="en-US" sz="1600" b="1" dirty="0">
                <a:solidFill>
                  <a:schemeClr val="tx1"/>
                </a:solidFill>
              </a:rPr>
              <a:t>AI 클라이언트 하나</a:t>
            </a:r>
            <a:endParaRPr lang="en-US" sz="1600" dirty="0"/>
          </a:p>
        </p:txBody>
      </p:sp>
      <p:sp>
        <p:nvSpPr>
          <p:cNvPr id="15" name="text_344"/>
          <p:cNvSpPr txBox="1"/>
          <p:nvPr/>
        </p:nvSpPr>
        <p:spPr>
          <a:xfrm>
            <a:off x="1188720" y="4078224"/>
            <a:ext cx="4846320" cy="548640"/>
          </a:xfrm>
          <a:prstGeom prst="rect">
            <a:avLst/>
          </a:prstGeom>
          <a:noFill/>
          <a:ln/>
        </p:spPr>
        <p:txBody>
          <a:bodyPr wrap="square" lIns="0" tIns="0" rIns="0" bIns="0" rtlCol="0" anchor="t"/>
          <a:lstStyle/>
          <a:p>
            <a:pPr indent="0" marL="0">
              <a:buNone/>
            </a:pPr>
            <a:r>
              <a:rPr lang="en-US" sz="1300" dirty="0">
                <a:solidFill>
                  <a:schemeClr val="accent6"/>
                </a:solidFill>
              </a:rPr>
              <a:t>VS Code + GitHub Copilot, Cursor, Claude Code, Claude Desktop</a:t>
            </a:r>
            <a:endParaRPr lang="en-US" sz="1300" dirty="0"/>
          </a:p>
        </p:txBody>
      </p:sp>
      <p:sp>
        <p:nvSpPr>
          <p:cNvPr id="16" name="iconbg_345"/>
          <p:cNvSpPr/>
          <p:nvPr/>
        </p:nvSpPr>
        <p:spPr>
          <a:xfrm>
            <a:off x="548640" y="4791456"/>
            <a:ext cx="438912" cy="438912"/>
          </a:xfrm>
          <a:prstGeom prst="ellipse">
            <a:avLst/>
          </a:prstGeom>
          <a:solidFill>
            <a:schemeClr val="accent4"/>
          </a:solidFill>
          <a:ln/>
        </p:spPr>
      </p:sp>
      <p:pic>
        <p:nvPicPr>
          <p:cNvPr id="17" name="icon_346" descr="preencoded.png">    </p:cNvPr>
          <p:cNvPicPr>
            <a:picLocks noChangeAspect="1"/>
          </p:cNvPicPr>
          <p:nvPr/>
        </p:nvPicPr>
        <p:blipFill>
          <a:blip r:embed="rId4"/>
          <a:stretch>
            <a:fillRect/>
          </a:stretch>
        </p:blipFill>
        <p:spPr>
          <a:xfrm>
            <a:off x="653979" y="4896795"/>
            <a:ext cx="228234" cy="228234"/>
          </a:xfrm>
          <a:prstGeom prst="rect">
            <a:avLst/>
          </a:prstGeom>
        </p:spPr>
      </p:pic>
      <p:sp>
        <p:nvSpPr>
          <p:cNvPr id="18" name="text_347"/>
          <p:cNvSpPr txBox="1"/>
          <p:nvPr/>
        </p:nvSpPr>
        <p:spPr>
          <a:xfrm>
            <a:off x="1188720" y="4754880"/>
            <a:ext cx="4846320" cy="411480"/>
          </a:xfrm>
          <a:prstGeom prst="rect">
            <a:avLst/>
          </a:prstGeom>
          <a:noFill/>
          <a:ln/>
        </p:spPr>
        <p:txBody>
          <a:bodyPr wrap="square" lIns="0" tIns="0" rIns="0" bIns="0" rtlCol="0" anchor="ctr"/>
          <a:lstStyle/>
          <a:p>
            <a:pPr indent="0" marL="0">
              <a:buNone/>
            </a:pPr>
            <a:r>
              <a:rPr lang="en-US" sz="1600" b="1" dirty="0">
                <a:solidFill>
                  <a:schemeClr val="tx1"/>
                </a:solidFill>
              </a:rPr>
              <a:t>commander-mcp 스킬팩 (권장)</a:t>
            </a:r>
            <a:endParaRPr lang="en-US" sz="1600" dirty="0"/>
          </a:p>
        </p:txBody>
      </p:sp>
      <p:sp>
        <p:nvSpPr>
          <p:cNvPr id="19" name="text_348"/>
          <p:cNvSpPr txBox="1"/>
          <p:nvPr/>
        </p:nvSpPr>
        <p:spPr>
          <a:xfrm>
            <a:off x="1188720" y="5175504"/>
            <a:ext cx="4846320" cy="548640"/>
          </a:xfrm>
          <a:prstGeom prst="rect">
            <a:avLst/>
          </a:prstGeom>
          <a:noFill/>
          <a:ln/>
        </p:spPr>
        <p:txBody>
          <a:bodyPr wrap="square" lIns="0" tIns="0" rIns="0" bIns="0" rtlCol="0" anchor="t"/>
          <a:lstStyle/>
          <a:p>
            <a:pPr indent="0" marL="0">
              <a:buNone/>
            </a:pPr>
            <a:r>
              <a:rPr lang="en-US" sz="1300" dirty="0">
                <a:solidFill>
                  <a:schemeClr val="accent6"/>
                </a:solidFill>
              </a:rPr>
              <a:t>github.com/Tricentis/mcp-skills 의 Tosca/Commander/MCP</a:t>
            </a:r>
            <a:endParaRPr lang="en-US" sz="1300" dirty="0"/>
          </a:p>
        </p:txBody>
      </p:sp>
      <p:sp>
        <p:nvSpPr>
          <p:cNvPr id="20" name="text_349"/>
          <p:cNvSpPr txBox="1"/>
          <p:nvPr/>
        </p:nvSpPr>
        <p:spPr>
          <a:xfrm>
            <a:off x="6492240" y="1371600"/>
            <a:ext cx="5120640" cy="347472"/>
          </a:xfrm>
          <a:prstGeom prst="rect">
            <a:avLst/>
          </a:prstGeom>
          <a:noFill/>
          <a:ln/>
        </p:spPr>
        <p:txBody>
          <a:bodyPr wrap="square" lIns="0" tIns="0" rIns="0" bIns="0" rtlCol="0" anchor="ctr"/>
          <a:lstStyle/>
          <a:p>
            <a:pPr indent="0" marL="0">
              <a:buNone/>
            </a:pPr>
            <a:r>
              <a:rPr lang="en-US" sz="1300" b="1" dirty="0">
                <a:solidFill>
                  <a:schemeClr val="tx2"/>
                </a:solidFill>
              </a:rPr>
              <a:t>VS Code 예시  ·  .vscode/mcp.json</a:t>
            </a:r>
            <a:endParaRPr lang="en-US" sz="1300" dirty="0"/>
          </a:p>
        </p:txBody>
      </p:sp>
      <p:sp>
        <p:nvSpPr>
          <p:cNvPr id="21" name="code_350"/>
          <p:cNvSpPr/>
          <p:nvPr/>
        </p:nvSpPr>
        <p:spPr>
          <a:xfrm>
            <a:off x="6492240" y="1783080"/>
            <a:ext cx="5148072" cy="2240280"/>
          </a:xfrm>
          <a:prstGeom prst="roundRect">
            <a:avLst>
              <a:gd name="adj" fmla="val 3265"/>
            </a:avLst>
          </a:prstGeom>
          <a:solidFill>
            <a:schemeClr val="tx1"/>
          </a:solidFill>
          <a:ln/>
        </p:spPr>
      </p:sp>
      <p:sp>
        <p:nvSpPr>
          <p:cNvPr id="22" name="text_351"/>
          <p:cNvSpPr txBox="1"/>
          <p:nvPr/>
        </p:nvSpPr>
        <p:spPr>
          <a:xfrm>
            <a:off x="6720840" y="1965960"/>
            <a:ext cx="4690872" cy="1874520"/>
          </a:xfrm>
          <a:prstGeom prst="rect">
            <a:avLst/>
          </a:prstGeom>
          <a:noFill/>
          <a:ln/>
        </p:spPr>
        <p:txBody>
          <a:bodyPr wrap="square" lIns="0" tIns="0" rIns="0" bIns="0" rtlCol="0" anchor="t"/>
          <a:lstStyle/>
          <a:p>
            <a:pPr indent="0" marL="0">
              <a:buNone/>
            </a:pPr>
            <a:r>
              <a:rPr lang="en-US" sz="1300" dirty="0">
                <a:solidFill>
                  <a:schemeClr val="bg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  "servers": {</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    "tosca-commander": {</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      "type": "http",</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      "url": "http://127.0.0.1:46248/mcp"</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a:t>
            </a:r>
            <a:endParaRPr lang="en-US" sz="1300" dirty="0"/>
          </a:p>
        </p:txBody>
      </p:sp>
      <p:sp>
        <p:nvSpPr>
          <p:cNvPr id="23" name="card_352"/>
          <p:cNvSpPr/>
          <p:nvPr/>
        </p:nvSpPr>
        <p:spPr>
          <a:xfrm>
            <a:off x="6492240" y="4251960"/>
            <a:ext cx="5148072" cy="1325880"/>
          </a:xfrm>
          <a:prstGeom prst="roundRect">
            <a:avLst>
              <a:gd name="adj" fmla="val 6897"/>
            </a:avLst>
          </a:prstGeom>
          <a:solidFill>
            <a:schemeClr val="accent2">
              <a:alpha val="14000"/>
            </a:schemeClr>
          </a:solidFill>
          <a:ln/>
        </p:spPr>
      </p:sp>
      <p:sp>
        <p:nvSpPr>
          <p:cNvPr id="24" name="text_353"/>
          <p:cNvSpPr txBox="1"/>
          <p:nvPr/>
        </p:nvSpPr>
        <p:spPr>
          <a:xfrm>
            <a:off x="6720840" y="4389120"/>
            <a:ext cx="4709160" cy="1097280"/>
          </a:xfrm>
          <a:prstGeom prst="rect">
            <a:avLst/>
          </a:prstGeom>
          <a:noFill/>
          <a:ln/>
        </p:spPr>
        <p:txBody>
          <a:bodyPr wrap="square" lIns="0" tIns="0" rIns="0" bIns="0" rtlCol="0" anchor="t"/>
          <a:lstStyle/>
          <a:p>
            <a:pPr indent="0" marL="0">
              <a:buNone/>
            </a:pPr>
            <a:r>
              <a:rPr lang="en-US" sz="1300" b="1" dirty="0">
                <a:solidFill>
                  <a:schemeClr val="tx1"/>
                </a:solidFill>
              </a:rPr>
              <a:t>포트 46248</a:t>
            </a:r>
            <a:endParaRPr lang="en-US" sz="1300" dirty="0"/>
          </a:p>
          <a:p>
            <a:pPr indent="0" marL="0">
              <a:buNone/>
            </a:pPr>
            <a:r>
              <a:rPr lang="en-US" sz="1300" dirty="0">
                <a:solidFill>
                  <a:schemeClr val="tx1"/>
                </a:solidFill>
              </a:rPr>
              <a:t>기본값이다. 디버그 빌드는 8080, Commander MCP 설정에서 바꿨다면 그 값을 쓴다. Cursor, Claude 설정은 워크북 2장.</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3657600" cy="1280160"/>
          </a:xfrm>
          <a:prstGeom prst="rect">
            <a:avLst/>
          </a:prstGeom>
          <a:noFill/>
          <a:ln/>
        </p:spPr>
        <p:txBody>
          <a:bodyPr wrap="square" lIns="0" tIns="0" rIns="0" bIns="0" rtlCol="0" anchor="b"/>
          <a:lstStyle/>
          <a:p>
            <a:pPr algn="l" indent="0" marL="0">
              <a:buNone/>
            </a:pPr>
            <a:r>
              <a:rPr lang="en-US" sz="7200" b="1" dirty="0">
                <a:solidFill>
                  <a:schemeClr val="accent2"/>
                </a:solidFill>
              </a:rPr>
              <a:t>02</a:t>
            </a:r>
            <a:endParaRPr lang="en-US" sz="7200" dirty="0"/>
          </a:p>
        </p:txBody>
      </p:sp>
      <p:sp>
        <p:nvSpPr>
          <p:cNvPr id="3" name="Text 0"/>
          <p:cNvSpPr/>
          <p:nvPr>
            <p:ph idx="101" type="title" hasCustomPrompt="1"/>
          </p:nvPr>
        </p:nvSpPr>
        <p:spPr>
          <a:xfrm>
            <a:off x="731520" y="2971800"/>
            <a:ext cx="10515600" cy="914400"/>
          </a:xfrm>
          <a:prstGeom prst="rect">
            <a:avLst/>
          </a:prstGeom>
          <a:noFill/>
          <a:ln/>
        </p:spPr>
        <p:txBody>
          <a:bodyPr wrap="square" lIns="0" tIns="0" rIns="0" bIns="0" rtlCol="0" anchor="ctr"/>
          <a:lstStyle/>
          <a:p>
            <a:pPr algn="l" indent="0" marL="0">
              <a:buNone/>
            </a:pPr>
            <a:r>
              <a:rPr lang="en-US" sz="3800" b="1" dirty="0">
                <a:solidFill>
                  <a:schemeClr val="bg1"/>
                </a:solidFill>
              </a:rPr>
              <a:t>실습: 테스트케이스 만들기</a:t>
            </a:r>
            <a:endParaRPr lang="en-US" sz="3800" dirty="0"/>
          </a:p>
        </p:txBody>
      </p:sp>
      <p:sp>
        <p:nvSpPr>
          <p:cNvPr id="4" name="Text 0"/>
          <p:cNvSpPr/>
          <p:nvPr>
            <p:ph idx="102" type="body" hasCustomPrompt="1"/>
          </p:nvPr>
        </p:nvSpPr>
        <p:spPr>
          <a:xfrm>
            <a:off x="731520" y="3977640"/>
            <a:ext cx="10515600" cy="731520"/>
          </a:xfrm>
          <a:prstGeom prst="rect">
            <a:avLst/>
          </a:prstGeom>
          <a:noFill/>
          <a:ln/>
        </p:spPr>
        <p:txBody>
          <a:bodyPr wrap="square" lIns="0" tIns="0" rIns="0" bIns="0" rtlCol="0" anchor="t"/>
          <a:lstStyle/>
          <a:p>
            <a:pPr algn="l" indent="0" marL="0">
              <a:buNone/>
            </a:pPr>
            <a:r>
              <a:rPr lang="en-US" sz="1800" dirty="0">
                <a:solidFill>
                  <a:schemeClr val="bg2"/>
                </a:solidFill>
              </a:rPr>
              <a:t>Lab 0 연결 확인부터 Lab 5 저장까지, 90분</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실습 시나리오: Demo Web Shop 로그인</a:t>
            </a:r>
            <a:endParaRPr lang="en-US" sz="3200" dirty="0"/>
          </a:p>
        </p:txBody>
      </p:sp>
      <p:sp>
        <p:nvSpPr>
          <p:cNvPr id="4" name="card_354"/>
          <p:cNvSpPr/>
          <p:nvPr/>
        </p:nvSpPr>
        <p:spPr>
          <a:xfrm>
            <a:off x="548640" y="1371600"/>
            <a:ext cx="5120640" cy="4572000"/>
          </a:xfrm>
          <a:prstGeom prst="roundRect">
            <a:avLst>
              <a:gd name="adj" fmla="val 2000"/>
            </a:avLst>
          </a:prstGeom>
          <a:solidFill>
            <a:schemeClr val="bg2"/>
          </a:solidFill>
          <a:ln/>
        </p:spPr>
      </p:sp>
      <p:sp>
        <p:nvSpPr>
          <p:cNvPr id="5" name="iconbg_355"/>
          <p:cNvSpPr/>
          <p:nvPr/>
        </p:nvSpPr>
        <p:spPr>
          <a:xfrm>
            <a:off x="822960" y="1645920"/>
            <a:ext cx="640080" cy="640080"/>
          </a:xfrm>
          <a:prstGeom prst="ellipse">
            <a:avLst/>
          </a:prstGeom>
          <a:solidFill>
            <a:schemeClr val="accent1"/>
          </a:solidFill>
          <a:ln/>
        </p:spPr>
      </p:sp>
      <p:pic>
        <p:nvPicPr>
          <p:cNvPr id="6" name="icon_356" descr="preencoded.png">    </p:cNvPr>
          <p:cNvPicPr>
            <a:picLocks noChangeAspect="1"/>
          </p:cNvPicPr>
          <p:nvPr/>
        </p:nvPicPr>
        <p:blipFill>
          <a:blip r:embed="rId1"/>
          <a:stretch>
            <a:fillRect/>
          </a:stretch>
        </p:blipFill>
        <p:spPr>
          <a:xfrm>
            <a:off x="976579" y="1799539"/>
            <a:ext cx="332842" cy="332842"/>
          </a:xfrm>
          <a:prstGeom prst="rect">
            <a:avLst/>
          </a:prstGeom>
        </p:spPr>
      </p:pic>
      <p:sp>
        <p:nvSpPr>
          <p:cNvPr id="7" name="text_357"/>
          <p:cNvSpPr txBox="1"/>
          <p:nvPr/>
        </p:nvSpPr>
        <p:spPr>
          <a:xfrm>
            <a:off x="1645920" y="1645920"/>
            <a:ext cx="3840480" cy="365760"/>
          </a:xfrm>
          <a:prstGeom prst="rect">
            <a:avLst/>
          </a:prstGeom>
          <a:noFill/>
          <a:ln/>
        </p:spPr>
        <p:txBody>
          <a:bodyPr wrap="square" lIns="0" tIns="0" rIns="0" bIns="0" rtlCol="0" anchor="t"/>
          <a:lstStyle/>
          <a:p>
            <a:pPr indent="0" marL="0">
              <a:buNone/>
            </a:pPr>
            <a:r>
              <a:rPr lang="en-US" sz="1800" b="1" dirty="0">
                <a:solidFill>
                  <a:schemeClr val="tx1"/>
                </a:solidFill>
              </a:rPr>
              <a:t>Tricentis Demo Web Shop</a:t>
            </a:r>
            <a:endParaRPr lang="en-US" sz="1800" dirty="0"/>
          </a:p>
        </p:txBody>
      </p:sp>
      <p:sp>
        <p:nvSpPr>
          <p:cNvPr id="8" name="text_358"/>
          <p:cNvSpPr txBox="1"/>
          <p:nvPr/>
        </p:nvSpPr>
        <p:spPr>
          <a:xfrm>
            <a:off x="1645920" y="2011680"/>
            <a:ext cx="3840480" cy="32004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https://demowebshop.tricentis.com</a:t>
            </a:r>
            <a:endParaRPr lang="en-US" sz="1200" dirty="0"/>
          </a:p>
        </p:txBody>
      </p:sp>
      <p:sp>
        <p:nvSpPr>
          <p:cNvPr id="9" name="text_359"/>
          <p:cNvSpPr txBox="1"/>
          <p:nvPr/>
        </p:nvSpPr>
        <p:spPr>
          <a:xfrm>
            <a:off x="822960" y="2606040"/>
            <a:ext cx="4572000" cy="365760"/>
          </a:xfrm>
          <a:prstGeom prst="rect">
            <a:avLst/>
          </a:prstGeom>
          <a:noFill/>
          <a:ln/>
        </p:spPr>
        <p:txBody>
          <a:bodyPr wrap="square" lIns="0" tIns="0" rIns="0" bIns="0" rtlCol="0" anchor="t"/>
          <a:lstStyle/>
          <a:p>
            <a:pPr indent="0" marL="0">
              <a:buNone/>
            </a:pPr>
            <a:r>
              <a:rPr lang="en-US" sz="1400" dirty="0">
                <a:solidFill>
                  <a:schemeClr val="accent6"/>
                </a:solidFill>
              </a:rPr>
              <a:t>테스트 연습용으로 공개된 쇼핑몰 사이트</a:t>
            </a:r>
            <a:endParaRPr lang="en-US" sz="1400" dirty="0"/>
          </a:p>
        </p:txBody>
      </p:sp>
      <p:sp>
        <p:nvSpPr>
          <p:cNvPr id="10" name="text_360"/>
          <p:cNvSpPr txBox="1"/>
          <p:nvPr/>
        </p:nvSpPr>
        <p:spPr>
          <a:xfrm>
            <a:off x="822960" y="3154680"/>
            <a:ext cx="4572000" cy="320040"/>
          </a:xfrm>
          <a:prstGeom prst="rect">
            <a:avLst/>
          </a:prstGeom>
          <a:noFill/>
          <a:ln/>
        </p:spPr>
        <p:txBody>
          <a:bodyPr wrap="square" lIns="0" tIns="0" rIns="0" bIns="0" rtlCol="0" anchor="ctr"/>
          <a:lstStyle/>
          <a:p>
            <a:pPr indent="0" marL="0">
              <a:buNone/>
            </a:pPr>
            <a:r>
              <a:rPr lang="en-US" sz="1400" b="1" dirty="0">
                <a:solidFill>
                  <a:schemeClr val="tx2"/>
                </a:solidFill>
              </a:rPr>
              <a:t>시나리오</a:t>
            </a:r>
            <a:endParaRPr lang="en-US" sz="1400" dirty="0"/>
          </a:p>
        </p:txBody>
      </p:sp>
      <p:sp>
        <p:nvSpPr>
          <p:cNvPr id="11" name="badge_361"/>
          <p:cNvSpPr txBox="1"/>
          <p:nvPr/>
        </p:nvSpPr>
        <p:spPr>
          <a:xfrm>
            <a:off x="822960" y="3611880"/>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2" name="text_362"/>
          <p:cNvSpPr txBox="1"/>
          <p:nvPr/>
        </p:nvSpPr>
        <p:spPr>
          <a:xfrm>
            <a:off x="1325880" y="3593592"/>
            <a:ext cx="4114800" cy="411480"/>
          </a:xfrm>
          <a:prstGeom prst="rect">
            <a:avLst/>
          </a:prstGeom>
          <a:noFill/>
          <a:ln/>
        </p:spPr>
        <p:txBody>
          <a:bodyPr wrap="square" lIns="0" tIns="0" rIns="0" bIns="0" rtlCol="0" anchor="ctr"/>
          <a:lstStyle/>
          <a:p>
            <a:pPr indent="0" marL="0">
              <a:buNone/>
            </a:pPr>
            <a:r>
              <a:rPr lang="en-US" sz="1500" dirty="0">
                <a:solidFill>
                  <a:schemeClr val="tx1"/>
                </a:solidFill>
              </a:rPr>
              <a:t>로그인 화면에서 실습 계정으로 로그인</a:t>
            </a:r>
            <a:endParaRPr lang="en-US" sz="1500" dirty="0"/>
          </a:p>
        </p:txBody>
      </p:sp>
      <p:sp>
        <p:nvSpPr>
          <p:cNvPr id="13" name="badge_363"/>
          <p:cNvSpPr txBox="1"/>
          <p:nvPr/>
        </p:nvSpPr>
        <p:spPr>
          <a:xfrm>
            <a:off x="822960" y="417880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4" name="text_364"/>
          <p:cNvSpPr txBox="1"/>
          <p:nvPr/>
        </p:nvSpPr>
        <p:spPr>
          <a:xfrm>
            <a:off x="1325880" y="4160520"/>
            <a:ext cx="4114800" cy="411480"/>
          </a:xfrm>
          <a:prstGeom prst="rect">
            <a:avLst/>
          </a:prstGeom>
          <a:noFill/>
          <a:ln/>
        </p:spPr>
        <p:txBody>
          <a:bodyPr wrap="square" lIns="0" tIns="0" rIns="0" bIns="0" rtlCol="0" anchor="ctr"/>
          <a:lstStyle/>
          <a:p>
            <a:pPr indent="0" marL="0">
              <a:buNone/>
            </a:pPr>
            <a:r>
              <a:rPr lang="en-US" sz="1500" dirty="0">
                <a:solidFill>
                  <a:schemeClr val="tx1"/>
                </a:solidFill>
              </a:rPr>
              <a:t>상단에 계정 이메일이 맞게 보이는지 검증</a:t>
            </a:r>
            <a:endParaRPr lang="en-US" sz="1500" dirty="0"/>
          </a:p>
        </p:txBody>
      </p:sp>
      <p:sp>
        <p:nvSpPr>
          <p:cNvPr id="15" name="badge_365"/>
          <p:cNvSpPr txBox="1"/>
          <p:nvPr/>
        </p:nvSpPr>
        <p:spPr>
          <a:xfrm>
            <a:off x="822960" y="4745736"/>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_366"/>
          <p:cNvSpPr txBox="1"/>
          <p:nvPr/>
        </p:nvSpPr>
        <p:spPr>
          <a:xfrm>
            <a:off x="1325880" y="4727448"/>
            <a:ext cx="4114800" cy="411480"/>
          </a:xfrm>
          <a:prstGeom prst="rect">
            <a:avLst/>
          </a:prstGeom>
          <a:noFill/>
          <a:ln/>
        </p:spPr>
        <p:txBody>
          <a:bodyPr wrap="square" lIns="0" tIns="0" rIns="0" bIns="0" rtlCol="0" anchor="ctr"/>
          <a:lstStyle/>
          <a:p>
            <a:pPr indent="0" marL="0">
              <a:buNone/>
            </a:pPr>
            <a:r>
              <a:rPr lang="en-US" sz="1500" dirty="0">
                <a:solidFill>
                  <a:schemeClr val="tx1"/>
                </a:solidFill>
              </a:rPr>
              <a:t>로그아웃 후 브라우저 닫기</a:t>
            </a:r>
            <a:endParaRPr lang="en-US" sz="1500" dirty="0"/>
          </a:p>
        </p:txBody>
      </p:sp>
      <p:sp>
        <p:nvSpPr>
          <p:cNvPr id="17" name="text_367"/>
          <p:cNvSpPr txBox="1"/>
          <p:nvPr/>
        </p:nvSpPr>
        <p:spPr>
          <a:xfrm>
            <a:off x="822960" y="5349240"/>
            <a:ext cx="4572000" cy="365760"/>
          </a:xfrm>
          <a:prstGeom prst="rect">
            <a:avLst/>
          </a:prstGeom>
          <a:noFill/>
          <a:ln/>
        </p:spPr>
        <p:txBody>
          <a:bodyPr wrap="square" lIns="0" tIns="0" rIns="0" bIns="0" rtlCol="0" anchor="t"/>
          <a:lstStyle/>
          <a:p>
            <a:pPr indent="0" marL="0">
              <a:buNone/>
            </a:pPr>
            <a:r>
              <a:rPr lang="en-US" sz="1200" dirty="0">
                <a:solidFill>
                  <a:schemeClr val="accent6"/>
                </a:solidFill>
              </a:rPr>
              <a:t>사내 앱으로 바꿔도 진행 순서는 같다.</a:t>
            </a:r>
            <a:endParaRPr lang="en-US" sz="1200" dirty="0"/>
          </a:p>
        </p:txBody>
      </p:sp>
      <p:sp>
        <p:nvSpPr>
          <p:cNvPr id="18" name="text_368"/>
          <p:cNvSpPr txBox="1"/>
          <p:nvPr/>
        </p:nvSpPr>
        <p:spPr>
          <a:xfrm>
            <a:off x="6035040" y="1371600"/>
            <a:ext cx="5486400" cy="320040"/>
          </a:xfrm>
          <a:prstGeom prst="rect">
            <a:avLst/>
          </a:prstGeom>
          <a:noFill/>
          <a:ln/>
        </p:spPr>
        <p:txBody>
          <a:bodyPr wrap="square" lIns="0" tIns="0" rIns="0" bIns="0" rtlCol="0" anchor="ctr"/>
          <a:lstStyle/>
          <a:p>
            <a:pPr indent="0" marL="0">
              <a:buNone/>
            </a:pPr>
            <a:r>
              <a:rPr lang="en-US" sz="1400" b="1" dirty="0">
                <a:solidFill>
                  <a:schemeClr val="tx2"/>
                </a:solidFill>
              </a:rPr>
              <a:t>미리 준비해 둔 모듈</a:t>
            </a:r>
            <a:endParaRPr lang="en-US" sz="1400" dirty="0"/>
          </a:p>
        </p:txBody>
      </p:sp>
      <p:graphicFrame>
        <p:nvGraphicFramePr>
          <p:cNvPr id="15" name="table_369"/>
          <p:cNvGraphicFramePr>
            <a:graphicFrameLocks noGrp="1"/>
          </p:cNvGraphicFramePr>
          <p:nvPr>
            <p:extLst>
              <p:ext uri="{D42A27DB-BD31-4B8C-83A1-F6EECF244321}">
                <p14:modId xmlns:p14="http://schemas.microsoft.com/office/powerpoint/2010/main" val="1579011935"/>
              </p:ext>
            </p:extLst>
          </p:nvPr>
        </p:nvGraphicFramePr>
        <p:xfrm>
          <a:off x="6035040" y="1783080"/>
          <a:ext cx="5605272" cy="914400"/>
        </p:xfrm>
        <a:graphic>
          <a:graphicData uri="http://schemas.openxmlformats.org/drawingml/2006/table">
            <a:tbl>
              <a:tblPr/>
              <a:tblGrid>
                <a:gridCol w="1417320"/>
                <a:gridCol w="1691640"/>
                <a:gridCol w="2496312"/>
              </a:tblGrid>
              <a:tr h="502920">
                <a:tc>
                  <a:txBody>
                    <a:bodyPr/>
                    <a:lstStyle/>
                    <a:p>
                      <a:pPr indent="0" marL="0">
                        <a:buNone/>
                      </a:pPr>
                      <a:r>
                        <a:rPr lang="en-US" sz="1300" b="1" dirty="0">
                          <a:solidFill>
                            <a:schemeClr val="bg1"/>
                          </a:solidFill>
                        </a:rPr>
                        <a:t>모듈</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위치</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주요 속성</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02920">
                <a:tc>
                  <a:txBody>
                    <a:bodyPr/>
                    <a:lstStyle/>
                    <a:p>
                      <a:pPr indent="0" marL="0">
                        <a:buNone/>
                      </a:pPr>
                      <a:r>
                        <a:rPr lang="en-US" sz="1300" b="1" dirty="0">
                          <a:solidFill>
                            <a:schemeClr val="tx1"/>
                          </a:solidFill>
                        </a:rPr>
                        <a:t>OpenUrl</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표준 모듈</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Url</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Header</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Modules/MCP실습</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Log in, Log out, Account</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Login</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Modules/MCP실습</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Email, Password, Log in, Error Message</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CloseBrowser</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표준 모듈</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Title</a:t>
                      </a:r>
                      <a:endParaRPr lang="en-US" sz="13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20" name="card_370"/>
          <p:cNvSpPr/>
          <p:nvPr/>
        </p:nvSpPr>
        <p:spPr>
          <a:xfrm>
            <a:off x="6035040" y="4572000"/>
            <a:ext cx="5605272" cy="1371600"/>
          </a:xfrm>
          <a:prstGeom prst="roundRect">
            <a:avLst>
              <a:gd name="adj" fmla="val 6667"/>
            </a:avLst>
          </a:prstGeom>
          <a:solidFill>
            <a:schemeClr val="accent2">
              <a:alpha val="14000"/>
            </a:schemeClr>
          </a:solidFill>
          <a:ln/>
        </p:spPr>
      </p:sp>
      <p:pic>
        <p:nvPicPr>
          <p:cNvPr id="21" name="icon_371" descr="preencoded.png">    </p:cNvPr>
          <p:cNvPicPr>
            <a:picLocks noChangeAspect="1"/>
          </p:cNvPicPr>
          <p:nvPr/>
        </p:nvPicPr>
        <p:blipFill>
          <a:blip r:embed="rId2"/>
          <a:stretch>
            <a:fillRect/>
          </a:stretch>
        </p:blipFill>
        <p:spPr>
          <a:xfrm>
            <a:off x="6263640" y="4754880"/>
            <a:ext cx="365760" cy="365760"/>
          </a:xfrm>
          <a:prstGeom prst="rect">
            <a:avLst/>
          </a:prstGeom>
        </p:spPr>
      </p:pic>
      <p:sp>
        <p:nvSpPr>
          <p:cNvPr id="22" name="text_372"/>
          <p:cNvSpPr txBox="1"/>
          <p:nvPr/>
        </p:nvSpPr>
        <p:spPr>
          <a:xfrm>
            <a:off x="6766560" y="4709160"/>
            <a:ext cx="4709160" cy="1097280"/>
          </a:xfrm>
          <a:prstGeom prst="rect">
            <a:avLst/>
          </a:prstGeom>
          <a:noFill/>
          <a:ln/>
        </p:spPr>
        <p:txBody>
          <a:bodyPr wrap="square" lIns="0" tIns="0" rIns="0" bIns="0" rtlCol="0" anchor="t"/>
          <a:lstStyle/>
          <a:p>
            <a:pPr indent="0" marL="0">
              <a:buNone/>
            </a:pPr>
            <a:r>
              <a:rPr lang="en-US" sz="1400" dirty="0">
                <a:solidFill>
                  <a:schemeClr val="tx1"/>
                </a:solidFill>
              </a:rPr>
              <a:t>Header, Login은 강사가 XScan으로 미리 스캔했다. MCP는 모듈을 새로 만들지 않으므로, 없는 화면은 사람이 먼저 스캔해야 한다.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실습 진행 순서</a:t>
            </a:r>
            <a:endParaRPr lang="en-US" sz="3200" dirty="0"/>
          </a:p>
        </p:txBody>
      </p:sp>
      <p:sp>
        <p:nvSpPr>
          <p:cNvPr id="4" name="line_373"/>
          <p:cNvSpPr/>
          <p:nvPr/>
        </p:nvSpPr>
        <p:spPr>
          <a:xfrm>
            <a:off x="1234440" y="2606040"/>
            <a:ext cx="9738360" cy="0"/>
          </a:xfrm>
          <a:prstGeom prst="line">
            <a:avLst/>
          </a:prstGeom>
          <a:noFill/>
          <a:ln w="31750">
            <a:solidFill>
              <a:schemeClr val="accent3"/>
            </a:solidFill>
            <a:prstDash val="solid"/>
          </a:ln>
        </p:spPr>
      </p:sp>
      <p:sp>
        <p:nvSpPr>
          <p:cNvPr id="5" name="chip_374"/>
          <p:cNvSpPr txBox="1"/>
          <p:nvPr/>
        </p:nvSpPr>
        <p:spPr>
          <a:xfrm>
            <a:off x="777240" y="1463040"/>
            <a:ext cx="914400" cy="347472"/>
          </a:xfrm>
          <a:prstGeom prst="roundRect">
            <a:avLst>
              <a:gd name="adj" fmla="val 15789"/>
            </a:avLst>
          </a:prstGeom>
          <a:solidFill>
            <a:schemeClr val="bg2"/>
          </a:solidFill>
          <a:ln/>
        </p:spPr>
        <p:txBody>
          <a:bodyPr wrap="square" lIns="0" tIns="50800" rIns="50800" bIns="0" rtlCol="0" anchor="ctr"/>
          <a:lstStyle/>
          <a:p>
            <a:pPr algn="ctr" indent="0" marL="0">
              <a:buNone/>
            </a:pPr>
            <a:r>
              <a:rPr lang="en-US" sz="1200" b="1" dirty="0">
                <a:solidFill>
                  <a:schemeClr val="tx2"/>
                </a:solidFill>
              </a:rPr>
              <a:t>10분</a:t>
            </a:r>
            <a:endParaRPr lang="en-US" sz="1200" dirty="0"/>
          </a:p>
        </p:txBody>
      </p:sp>
      <p:sp>
        <p:nvSpPr>
          <p:cNvPr id="6" name="badge_375"/>
          <p:cNvSpPr txBox="1"/>
          <p:nvPr/>
        </p:nvSpPr>
        <p:spPr>
          <a:xfrm>
            <a:off x="850392" y="2221992"/>
            <a:ext cx="768096" cy="768096"/>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0</a:t>
            </a:r>
            <a:endParaRPr lang="en-US" sz="2000" dirty="0"/>
          </a:p>
        </p:txBody>
      </p:sp>
      <p:sp>
        <p:nvSpPr>
          <p:cNvPr id="7" name="text_376"/>
          <p:cNvSpPr txBox="1"/>
          <p:nvPr/>
        </p:nvSpPr>
        <p:spPr>
          <a:xfrm>
            <a:off x="320040" y="3200400"/>
            <a:ext cx="1828800" cy="347472"/>
          </a:xfrm>
          <a:prstGeom prst="rect">
            <a:avLst/>
          </a:prstGeom>
          <a:noFill/>
          <a:ln/>
        </p:spPr>
        <p:txBody>
          <a:bodyPr wrap="square" lIns="0" tIns="0" rIns="0" bIns="0" rtlCol="0" anchor="t"/>
          <a:lstStyle/>
          <a:p>
            <a:pPr algn="ctr" indent="0" marL="0">
              <a:buNone/>
            </a:pPr>
            <a:r>
              <a:rPr lang="en-US" sz="1300" dirty="0">
                <a:solidFill>
                  <a:schemeClr val="accent6"/>
                </a:solidFill>
              </a:rPr>
              <a:t>Lab 0</a:t>
            </a:r>
            <a:endParaRPr lang="en-US" sz="1300" dirty="0"/>
          </a:p>
        </p:txBody>
      </p:sp>
      <p:sp>
        <p:nvSpPr>
          <p:cNvPr id="8" name="text_377"/>
          <p:cNvSpPr txBox="1"/>
          <p:nvPr/>
        </p:nvSpPr>
        <p:spPr>
          <a:xfrm>
            <a:off x="320040" y="3547872"/>
            <a:ext cx="1828800" cy="685800"/>
          </a:xfrm>
          <a:prstGeom prst="rect">
            <a:avLst/>
          </a:prstGeom>
          <a:noFill/>
          <a:ln/>
        </p:spPr>
        <p:txBody>
          <a:bodyPr wrap="square" lIns="0" tIns="0" rIns="0" bIns="0" rtlCol="0" anchor="t"/>
          <a:lstStyle/>
          <a:p>
            <a:pPr algn="ctr" indent="0" marL="0">
              <a:buNone/>
            </a:pPr>
            <a:r>
              <a:rPr lang="en-US" sz="1600" b="1" dirty="0">
                <a:solidFill>
                  <a:schemeClr val="tx1"/>
                </a:solidFill>
              </a:rPr>
              <a:t>연결 확인</a:t>
            </a:r>
            <a:endParaRPr lang="en-US" sz="1600" dirty="0"/>
          </a:p>
        </p:txBody>
      </p:sp>
      <p:sp>
        <p:nvSpPr>
          <p:cNvPr id="9" name="chip_378"/>
          <p:cNvSpPr txBox="1"/>
          <p:nvPr/>
        </p:nvSpPr>
        <p:spPr>
          <a:xfrm>
            <a:off x="457200" y="4343400"/>
            <a:ext cx="1554480" cy="384048"/>
          </a:xfrm>
          <a:prstGeom prst="roundRect">
            <a:avLst>
              <a:gd name="adj" fmla="val 14286"/>
            </a:avLst>
          </a:prstGeom>
          <a:solidFill>
            <a:schemeClr val="bg2"/>
          </a:solidFill>
          <a:ln/>
        </p:spPr>
        <p:txBody>
          <a:bodyPr wrap="square" lIns="0" tIns="50800" rIns="50800" bIns="0" rtlCol="0" anchor="ctr"/>
          <a:lstStyle/>
          <a:p>
            <a:pPr algn="ctr" indent="0" marL="0">
              <a:buNone/>
            </a:pPr>
            <a:r>
              <a:rPr lang="en-US" sz="1200" b="1" dirty="0">
                <a:solidFill>
                  <a:schemeClr val="tx1"/>
                </a:solidFill>
              </a:rPr>
              <a:t>없음</a:t>
            </a:r>
            <a:endParaRPr lang="en-US" sz="1200" dirty="0"/>
          </a:p>
        </p:txBody>
      </p:sp>
      <p:sp>
        <p:nvSpPr>
          <p:cNvPr id="10" name="chip_379"/>
          <p:cNvSpPr txBox="1"/>
          <p:nvPr/>
        </p:nvSpPr>
        <p:spPr>
          <a:xfrm>
            <a:off x="2724912" y="1463040"/>
            <a:ext cx="914400" cy="347472"/>
          </a:xfrm>
          <a:prstGeom prst="roundRect">
            <a:avLst>
              <a:gd name="adj" fmla="val 15789"/>
            </a:avLst>
          </a:prstGeom>
          <a:solidFill>
            <a:schemeClr val="bg2"/>
          </a:solidFill>
          <a:ln/>
        </p:spPr>
        <p:txBody>
          <a:bodyPr wrap="square" lIns="0" tIns="50800" rIns="50800" bIns="0" rtlCol="0" anchor="ctr"/>
          <a:lstStyle/>
          <a:p>
            <a:pPr algn="ctr" indent="0" marL="0">
              <a:buNone/>
            </a:pPr>
            <a:r>
              <a:rPr lang="en-US" sz="1200" b="1" dirty="0">
                <a:solidFill>
                  <a:schemeClr val="tx2"/>
                </a:solidFill>
              </a:rPr>
              <a:t>10분</a:t>
            </a:r>
            <a:endParaRPr lang="en-US" sz="1200" dirty="0"/>
          </a:p>
        </p:txBody>
      </p:sp>
      <p:sp>
        <p:nvSpPr>
          <p:cNvPr id="11" name="badge_380"/>
          <p:cNvSpPr txBox="1"/>
          <p:nvPr/>
        </p:nvSpPr>
        <p:spPr>
          <a:xfrm>
            <a:off x="2798064" y="2221992"/>
            <a:ext cx="768096" cy="768096"/>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2" name="text_381"/>
          <p:cNvSpPr txBox="1"/>
          <p:nvPr/>
        </p:nvSpPr>
        <p:spPr>
          <a:xfrm>
            <a:off x="2267712" y="3200400"/>
            <a:ext cx="1828800" cy="347472"/>
          </a:xfrm>
          <a:prstGeom prst="rect">
            <a:avLst/>
          </a:prstGeom>
          <a:noFill/>
          <a:ln/>
        </p:spPr>
        <p:txBody>
          <a:bodyPr wrap="square" lIns="0" tIns="0" rIns="0" bIns="0" rtlCol="0" anchor="t"/>
          <a:lstStyle/>
          <a:p>
            <a:pPr algn="ctr" indent="0" marL="0">
              <a:buNone/>
            </a:pPr>
            <a:r>
              <a:rPr lang="en-US" sz="1300" dirty="0">
                <a:solidFill>
                  <a:schemeClr val="accent6"/>
                </a:solidFill>
              </a:rPr>
              <a:t>Lab 1</a:t>
            </a:r>
            <a:endParaRPr lang="en-US" sz="1300" dirty="0"/>
          </a:p>
        </p:txBody>
      </p:sp>
      <p:sp>
        <p:nvSpPr>
          <p:cNvPr id="13" name="text_382"/>
          <p:cNvSpPr txBox="1"/>
          <p:nvPr/>
        </p:nvSpPr>
        <p:spPr>
          <a:xfrm>
            <a:off x="2267712" y="3547872"/>
            <a:ext cx="1828800" cy="685800"/>
          </a:xfrm>
          <a:prstGeom prst="rect">
            <a:avLst/>
          </a:prstGeom>
          <a:noFill/>
          <a:ln/>
        </p:spPr>
        <p:txBody>
          <a:bodyPr wrap="square" lIns="0" tIns="0" rIns="0" bIns="0" rtlCol="0" anchor="t"/>
          <a:lstStyle/>
          <a:p>
            <a:pPr algn="ctr" indent="0" marL="0">
              <a:buNone/>
            </a:pPr>
            <a:r>
              <a:rPr lang="en-US" sz="1600" b="1" dirty="0">
                <a:solidFill>
                  <a:schemeClr val="tx1"/>
                </a:solidFill>
              </a:rPr>
              <a:t>둘러보기</a:t>
            </a:r>
            <a:endParaRPr lang="en-US" sz="1600" dirty="0"/>
          </a:p>
        </p:txBody>
      </p:sp>
      <p:sp>
        <p:nvSpPr>
          <p:cNvPr id="14" name="chip_383"/>
          <p:cNvSpPr txBox="1"/>
          <p:nvPr/>
        </p:nvSpPr>
        <p:spPr>
          <a:xfrm>
            <a:off x="2404872" y="4343400"/>
            <a:ext cx="1554480" cy="384048"/>
          </a:xfrm>
          <a:prstGeom prst="roundRect">
            <a:avLst>
              <a:gd name="adj" fmla="val 14286"/>
            </a:avLst>
          </a:prstGeom>
          <a:solidFill>
            <a:schemeClr val="bg2"/>
          </a:solidFill>
          <a:ln/>
        </p:spPr>
        <p:txBody>
          <a:bodyPr wrap="square" lIns="0" tIns="50800" rIns="50800" bIns="0" rtlCol="0" anchor="ctr"/>
          <a:lstStyle/>
          <a:p>
            <a:pPr algn="ctr" indent="0" marL="0">
              <a:buNone/>
            </a:pPr>
            <a:r>
              <a:rPr lang="en-US" sz="1200" b="1" dirty="0">
                <a:solidFill>
                  <a:schemeClr val="tx1"/>
                </a:solidFill>
              </a:rPr>
              <a:t>없음</a:t>
            </a:r>
            <a:endParaRPr lang="en-US" sz="1200" dirty="0"/>
          </a:p>
        </p:txBody>
      </p:sp>
      <p:sp>
        <p:nvSpPr>
          <p:cNvPr id="15" name="chip_384"/>
          <p:cNvSpPr txBox="1"/>
          <p:nvPr/>
        </p:nvSpPr>
        <p:spPr>
          <a:xfrm>
            <a:off x="4672584" y="1463040"/>
            <a:ext cx="914400" cy="347472"/>
          </a:xfrm>
          <a:prstGeom prst="roundRect">
            <a:avLst>
              <a:gd name="adj" fmla="val 15789"/>
            </a:avLst>
          </a:prstGeom>
          <a:solidFill>
            <a:schemeClr val="bg2"/>
          </a:solidFill>
          <a:ln/>
        </p:spPr>
        <p:txBody>
          <a:bodyPr wrap="square" lIns="0" tIns="50800" rIns="50800" bIns="0" rtlCol="0" anchor="ctr"/>
          <a:lstStyle/>
          <a:p>
            <a:pPr algn="ctr" indent="0" marL="0">
              <a:buNone/>
            </a:pPr>
            <a:r>
              <a:rPr lang="en-US" sz="1200" b="1" dirty="0">
                <a:solidFill>
                  <a:schemeClr val="tx2"/>
                </a:solidFill>
              </a:rPr>
              <a:t>15분</a:t>
            </a:r>
            <a:endParaRPr lang="en-US" sz="1200" dirty="0"/>
          </a:p>
        </p:txBody>
      </p:sp>
      <p:sp>
        <p:nvSpPr>
          <p:cNvPr id="16" name="badge_385"/>
          <p:cNvSpPr txBox="1"/>
          <p:nvPr/>
        </p:nvSpPr>
        <p:spPr>
          <a:xfrm>
            <a:off x="4745736" y="2221992"/>
            <a:ext cx="768096" cy="768096"/>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7" name="text_386"/>
          <p:cNvSpPr txBox="1"/>
          <p:nvPr/>
        </p:nvSpPr>
        <p:spPr>
          <a:xfrm>
            <a:off x="4215384" y="3200400"/>
            <a:ext cx="1828800" cy="347472"/>
          </a:xfrm>
          <a:prstGeom prst="rect">
            <a:avLst/>
          </a:prstGeom>
          <a:noFill/>
          <a:ln/>
        </p:spPr>
        <p:txBody>
          <a:bodyPr wrap="square" lIns="0" tIns="0" rIns="0" bIns="0" rtlCol="0" anchor="t"/>
          <a:lstStyle/>
          <a:p>
            <a:pPr algn="ctr" indent="0" marL="0">
              <a:buNone/>
            </a:pPr>
            <a:r>
              <a:rPr lang="en-US" sz="1300" dirty="0">
                <a:solidFill>
                  <a:schemeClr val="accent6"/>
                </a:solidFill>
              </a:rPr>
              <a:t>Lab 2</a:t>
            </a:r>
            <a:endParaRPr lang="en-US" sz="1300" dirty="0"/>
          </a:p>
        </p:txBody>
      </p:sp>
      <p:sp>
        <p:nvSpPr>
          <p:cNvPr id="18" name="text_387"/>
          <p:cNvSpPr txBox="1"/>
          <p:nvPr/>
        </p:nvSpPr>
        <p:spPr>
          <a:xfrm>
            <a:off x="4215384" y="3547872"/>
            <a:ext cx="1828800" cy="685800"/>
          </a:xfrm>
          <a:prstGeom prst="rect">
            <a:avLst/>
          </a:prstGeom>
          <a:noFill/>
          <a:ln/>
        </p:spPr>
        <p:txBody>
          <a:bodyPr wrap="square" lIns="0" tIns="0" rIns="0" bIns="0" rtlCol="0" anchor="t"/>
          <a:lstStyle/>
          <a:p>
            <a:pPr algn="ctr" indent="0" marL="0">
              <a:buNone/>
            </a:pPr>
            <a:r>
              <a:rPr lang="en-US" sz="1600" b="1" dirty="0">
                <a:solidFill>
                  <a:schemeClr val="tx1"/>
                </a:solidFill>
              </a:rPr>
              <a:t>수동 TC</a:t>
            </a:r>
            <a:endParaRPr lang="en-US" sz="1600" dirty="0"/>
          </a:p>
        </p:txBody>
      </p:sp>
      <p:sp>
        <p:nvSpPr>
          <p:cNvPr id="19" name="chip_388"/>
          <p:cNvSpPr txBox="1"/>
          <p:nvPr/>
        </p:nvSpPr>
        <p:spPr>
          <a:xfrm>
            <a:off x="4352544" y="4343400"/>
            <a:ext cx="1554480" cy="384048"/>
          </a:xfrm>
          <a:prstGeom prst="roundRect">
            <a:avLst>
              <a:gd name="adj" fmla="val 14286"/>
            </a:avLst>
          </a:prstGeom>
          <a:solidFill>
            <a:schemeClr val="accent3"/>
          </a:solidFill>
          <a:ln/>
        </p:spPr>
        <p:txBody>
          <a:bodyPr wrap="square" lIns="0" tIns="50800" rIns="50800" bIns="0" rtlCol="0" anchor="ctr"/>
          <a:lstStyle/>
          <a:p>
            <a:pPr algn="ctr" indent="0" marL="0">
              <a:buNone/>
            </a:pPr>
            <a:r>
              <a:rPr lang="en-US" sz="1200" b="1" dirty="0">
                <a:solidFill>
                  <a:schemeClr val="bg1"/>
                </a:solidFill>
              </a:rPr>
              <a:t>생성</a:t>
            </a:r>
            <a:endParaRPr lang="en-US" sz="1200" dirty="0"/>
          </a:p>
        </p:txBody>
      </p:sp>
      <p:sp>
        <p:nvSpPr>
          <p:cNvPr id="20" name="chip_389"/>
          <p:cNvSpPr txBox="1"/>
          <p:nvPr/>
        </p:nvSpPr>
        <p:spPr>
          <a:xfrm>
            <a:off x="6620256" y="1463040"/>
            <a:ext cx="914400" cy="347472"/>
          </a:xfrm>
          <a:prstGeom prst="roundRect">
            <a:avLst>
              <a:gd name="adj" fmla="val 15789"/>
            </a:avLst>
          </a:prstGeom>
          <a:solidFill>
            <a:schemeClr val="bg2"/>
          </a:solidFill>
          <a:ln/>
        </p:spPr>
        <p:txBody>
          <a:bodyPr wrap="square" lIns="0" tIns="50800" rIns="50800" bIns="0" rtlCol="0" anchor="ctr"/>
          <a:lstStyle/>
          <a:p>
            <a:pPr algn="ctr" indent="0" marL="0">
              <a:buNone/>
            </a:pPr>
            <a:r>
              <a:rPr lang="en-US" sz="1200" b="1" dirty="0">
                <a:solidFill>
                  <a:schemeClr val="tx2"/>
                </a:solidFill>
              </a:rPr>
              <a:t>25분</a:t>
            </a:r>
            <a:endParaRPr lang="en-US" sz="1200" dirty="0"/>
          </a:p>
        </p:txBody>
      </p:sp>
      <p:sp>
        <p:nvSpPr>
          <p:cNvPr id="21" name="badge_390"/>
          <p:cNvSpPr txBox="1"/>
          <p:nvPr/>
        </p:nvSpPr>
        <p:spPr>
          <a:xfrm>
            <a:off x="6693408" y="2221992"/>
            <a:ext cx="768096" cy="768096"/>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_391"/>
          <p:cNvSpPr txBox="1"/>
          <p:nvPr/>
        </p:nvSpPr>
        <p:spPr>
          <a:xfrm>
            <a:off x="6163056" y="3200400"/>
            <a:ext cx="1828800" cy="347472"/>
          </a:xfrm>
          <a:prstGeom prst="rect">
            <a:avLst/>
          </a:prstGeom>
          <a:noFill/>
          <a:ln/>
        </p:spPr>
        <p:txBody>
          <a:bodyPr wrap="square" lIns="0" tIns="0" rIns="0" bIns="0" rtlCol="0" anchor="t"/>
          <a:lstStyle/>
          <a:p>
            <a:pPr algn="ctr" indent="0" marL="0">
              <a:buNone/>
            </a:pPr>
            <a:r>
              <a:rPr lang="en-US" sz="1300" dirty="0">
                <a:solidFill>
                  <a:schemeClr val="accent6"/>
                </a:solidFill>
              </a:rPr>
              <a:t>Lab 3</a:t>
            </a:r>
            <a:endParaRPr lang="en-US" sz="1300" dirty="0"/>
          </a:p>
        </p:txBody>
      </p:sp>
      <p:sp>
        <p:nvSpPr>
          <p:cNvPr id="23" name="text_392"/>
          <p:cNvSpPr txBox="1"/>
          <p:nvPr/>
        </p:nvSpPr>
        <p:spPr>
          <a:xfrm>
            <a:off x="6163056" y="3547872"/>
            <a:ext cx="1828800" cy="685800"/>
          </a:xfrm>
          <a:prstGeom prst="rect">
            <a:avLst/>
          </a:prstGeom>
          <a:noFill/>
          <a:ln/>
        </p:spPr>
        <p:txBody>
          <a:bodyPr wrap="square" lIns="0" tIns="0" rIns="0" bIns="0" rtlCol="0" anchor="t"/>
          <a:lstStyle/>
          <a:p>
            <a:pPr algn="ctr" indent="0" marL="0">
              <a:buNone/>
            </a:pPr>
            <a:r>
              <a:rPr lang="en-US" sz="1600" b="1" dirty="0">
                <a:solidFill>
                  <a:schemeClr val="tx1"/>
                </a:solidFill>
              </a:rPr>
              <a:t>자동 TC</a:t>
            </a:r>
            <a:endParaRPr lang="en-US" sz="1600" dirty="0"/>
          </a:p>
        </p:txBody>
      </p:sp>
      <p:sp>
        <p:nvSpPr>
          <p:cNvPr id="24" name="chip_393"/>
          <p:cNvSpPr txBox="1"/>
          <p:nvPr/>
        </p:nvSpPr>
        <p:spPr>
          <a:xfrm>
            <a:off x="6300216" y="4343400"/>
            <a:ext cx="1554480" cy="384048"/>
          </a:xfrm>
          <a:prstGeom prst="roundRect">
            <a:avLst>
              <a:gd name="adj" fmla="val 14286"/>
            </a:avLst>
          </a:prstGeom>
          <a:solidFill>
            <a:schemeClr val="accent3"/>
          </a:solidFill>
          <a:ln/>
        </p:spPr>
        <p:txBody>
          <a:bodyPr wrap="square" lIns="0" tIns="50800" rIns="50800" bIns="0" rtlCol="0" anchor="ctr"/>
          <a:lstStyle/>
          <a:p>
            <a:pPr algn="ctr" indent="0" marL="0">
              <a:buNone/>
            </a:pPr>
            <a:r>
              <a:rPr lang="en-US" sz="1200" b="1" dirty="0">
                <a:solidFill>
                  <a:schemeClr val="bg1"/>
                </a:solidFill>
              </a:rPr>
              <a:t>생성</a:t>
            </a:r>
            <a:endParaRPr lang="en-US" sz="1200" dirty="0"/>
          </a:p>
        </p:txBody>
      </p:sp>
      <p:sp>
        <p:nvSpPr>
          <p:cNvPr id="25" name="chip_394"/>
          <p:cNvSpPr txBox="1"/>
          <p:nvPr/>
        </p:nvSpPr>
        <p:spPr>
          <a:xfrm>
            <a:off x="8567928" y="1463040"/>
            <a:ext cx="914400" cy="347472"/>
          </a:xfrm>
          <a:prstGeom prst="roundRect">
            <a:avLst>
              <a:gd name="adj" fmla="val 15789"/>
            </a:avLst>
          </a:prstGeom>
          <a:solidFill>
            <a:schemeClr val="bg2"/>
          </a:solidFill>
          <a:ln/>
        </p:spPr>
        <p:txBody>
          <a:bodyPr wrap="square" lIns="0" tIns="50800" rIns="50800" bIns="0" rtlCol="0" anchor="ctr"/>
          <a:lstStyle/>
          <a:p>
            <a:pPr algn="ctr" indent="0" marL="0">
              <a:buNone/>
            </a:pPr>
            <a:r>
              <a:rPr lang="en-US" sz="1200" b="1" dirty="0">
                <a:solidFill>
                  <a:schemeClr val="tx2"/>
                </a:solidFill>
              </a:rPr>
              <a:t>20분</a:t>
            </a:r>
            <a:endParaRPr lang="en-US" sz="1200" dirty="0"/>
          </a:p>
        </p:txBody>
      </p:sp>
      <p:sp>
        <p:nvSpPr>
          <p:cNvPr id="26" name="badge_395"/>
          <p:cNvSpPr txBox="1"/>
          <p:nvPr/>
        </p:nvSpPr>
        <p:spPr>
          <a:xfrm>
            <a:off x="8641080" y="2221992"/>
            <a:ext cx="768096" cy="768096"/>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7" name="text_396"/>
          <p:cNvSpPr txBox="1"/>
          <p:nvPr/>
        </p:nvSpPr>
        <p:spPr>
          <a:xfrm>
            <a:off x="8110728" y="3200400"/>
            <a:ext cx="1828800" cy="347472"/>
          </a:xfrm>
          <a:prstGeom prst="rect">
            <a:avLst/>
          </a:prstGeom>
          <a:noFill/>
          <a:ln/>
        </p:spPr>
        <p:txBody>
          <a:bodyPr wrap="square" lIns="0" tIns="0" rIns="0" bIns="0" rtlCol="0" anchor="t"/>
          <a:lstStyle/>
          <a:p>
            <a:pPr algn="ctr" indent="0" marL="0">
              <a:buNone/>
            </a:pPr>
            <a:r>
              <a:rPr lang="en-US" sz="1300" dirty="0">
                <a:solidFill>
                  <a:schemeClr val="accent6"/>
                </a:solidFill>
              </a:rPr>
              <a:t>Lab 4</a:t>
            </a:r>
            <a:endParaRPr lang="en-US" sz="1300" dirty="0"/>
          </a:p>
        </p:txBody>
      </p:sp>
      <p:sp>
        <p:nvSpPr>
          <p:cNvPr id="28" name="text_397"/>
          <p:cNvSpPr txBox="1"/>
          <p:nvPr/>
        </p:nvSpPr>
        <p:spPr>
          <a:xfrm>
            <a:off x="8110728" y="3547872"/>
            <a:ext cx="1828800" cy="685800"/>
          </a:xfrm>
          <a:prstGeom prst="rect">
            <a:avLst/>
          </a:prstGeom>
          <a:noFill/>
          <a:ln/>
        </p:spPr>
        <p:txBody>
          <a:bodyPr wrap="square" lIns="0" tIns="0" rIns="0" bIns="0" rtlCol="0" anchor="t"/>
          <a:lstStyle/>
          <a:p>
            <a:pPr algn="ctr" indent="0" marL="0">
              <a:buNone/>
            </a:pPr>
            <a:r>
              <a:rPr lang="en-US" sz="1600" b="1" dirty="0">
                <a:solidFill>
                  <a:schemeClr val="tx1"/>
                </a:solidFill>
              </a:rPr>
              <a:t>검증 실행과 수정</a:t>
            </a:r>
            <a:endParaRPr lang="en-US" sz="1600" dirty="0"/>
          </a:p>
        </p:txBody>
      </p:sp>
      <p:sp>
        <p:nvSpPr>
          <p:cNvPr id="29" name="chip_398"/>
          <p:cNvSpPr txBox="1"/>
          <p:nvPr/>
        </p:nvSpPr>
        <p:spPr>
          <a:xfrm>
            <a:off x="8247888" y="4343400"/>
            <a:ext cx="1554480" cy="384048"/>
          </a:xfrm>
          <a:prstGeom prst="roundRect">
            <a:avLst>
              <a:gd name="adj" fmla="val 14286"/>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수정·실행</a:t>
            </a:r>
            <a:endParaRPr lang="en-US" sz="1200" dirty="0"/>
          </a:p>
        </p:txBody>
      </p:sp>
      <p:sp>
        <p:nvSpPr>
          <p:cNvPr id="30" name="chip_399"/>
          <p:cNvSpPr txBox="1"/>
          <p:nvPr/>
        </p:nvSpPr>
        <p:spPr>
          <a:xfrm>
            <a:off x="10515600" y="1463040"/>
            <a:ext cx="914400" cy="347472"/>
          </a:xfrm>
          <a:prstGeom prst="roundRect">
            <a:avLst>
              <a:gd name="adj" fmla="val 15789"/>
            </a:avLst>
          </a:prstGeom>
          <a:solidFill>
            <a:schemeClr val="bg2"/>
          </a:solidFill>
          <a:ln/>
        </p:spPr>
        <p:txBody>
          <a:bodyPr wrap="square" lIns="0" tIns="50800" rIns="50800" bIns="0" rtlCol="0" anchor="ctr"/>
          <a:lstStyle/>
          <a:p>
            <a:pPr algn="ctr" indent="0" marL="0">
              <a:buNone/>
            </a:pPr>
            <a:r>
              <a:rPr lang="en-US" sz="1200" b="1" dirty="0">
                <a:solidFill>
                  <a:schemeClr val="tx2"/>
                </a:solidFill>
              </a:rPr>
              <a:t>10분</a:t>
            </a:r>
            <a:endParaRPr lang="en-US" sz="1200" dirty="0"/>
          </a:p>
        </p:txBody>
      </p:sp>
      <p:sp>
        <p:nvSpPr>
          <p:cNvPr id="31" name="badge_400"/>
          <p:cNvSpPr txBox="1"/>
          <p:nvPr/>
        </p:nvSpPr>
        <p:spPr>
          <a:xfrm>
            <a:off x="10588752" y="2221992"/>
            <a:ext cx="768096" cy="768096"/>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_401"/>
          <p:cNvSpPr txBox="1"/>
          <p:nvPr/>
        </p:nvSpPr>
        <p:spPr>
          <a:xfrm>
            <a:off x="10058400" y="3200400"/>
            <a:ext cx="1828800" cy="347472"/>
          </a:xfrm>
          <a:prstGeom prst="rect">
            <a:avLst/>
          </a:prstGeom>
          <a:noFill/>
          <a:ln/>
        </p:spPr>
        <p:txBody>
          <a:bodyPr wrap="square" lIns="0" tIns="0" rIns="0" bIns="0" rtlCol="0" anchor="t"/>
          <a:lstStyle/>
          <a:p>
            <a:pPr algn="ctr" indent="0" marL="0">
              <a:buNone/>
            </a:pPr>
            <a:r>
              <a:rPr lang="en-US" sz="1300" dirty="0">
                <a:solidFill>
                  <a:schemeClr val="accent6"/>
                </a:solidFill>
              </a:rPr>
              <a:t>Lab 5</a:t>
            </a:r>
            <a:endParaRPr lang="en-US" sz="1300" dirty="0"/>
          </a:p>
        </p:txBody>
      </p:sp>
      <p:sp>
        <p:nvSpPr>
          <p:cNvPr id="33" name="text_402"/>
          <p:cNvSpPr txBox="1"/>
          <p:nvPr/>
        </p:nvSpPr>
        <p:spPr>
          <a:xfrm>
            <a:off x="10058400" y="3547872"/>
            <a:ext cx="1828800" cy="685800"/>
          </a:xfrm>
          <a:prstGeom prst="rect">
            <a:avLst/>
          </a:prstGeom>
          <a:noFill/>
          <a:ln/>
        </p:spPr>
        <p:txBody>
          <a:bodyPr wrap="square" lIns="0" tIns="0" rIns="0" bIns="0" rtlCol="0" anchor="t"/>
          <a:lstStyle/>
          <a:p>
            <a:pPr algn="ctr" indent="0" marL="0">
              <a:buNone/>
            </a:pPr>
            <a:r>
              <a:rPr lang="en-US" sz="1600" b="1" dirty="0">
                <a:solidFill>
                  <a:schemeClr val="tx1"/>
                </a:solidFill>
              </a:rPr>
              <a:t>저장</a:t>
            </a:r>
            <a:endParaRPr lang="en-US" sz="1600" dirty="0"/>
          </a:p>
        </p:txBody>
      </p:sp>
      <p:sp>
        <p:nvSpPr>
          <p:cNvPr id="34" name="chip_403"/>
          <p:cNvSpPr txBox="1"/>
          <p:nvPr/>
        </p:nvSpPr>
        <p:spPr>
          <a:xfrm>
            <a:off x="10195560" y="4343400"/>
            <a:ext cx="1554480" cy="384048"/>
          </a:xfrm>
          <a:prstGeom prst="roundRect">
            <a:avLst>
              <a:gd name="adj" fmla="val 14286"/>
            </a:avLst>
          </a:prstGeom>
          <a:solidFill>
            <a:schemeClr val="accent4"/>
          </a:solidFill>
          <a:ln/>
        </p:spPr>
        <p:txBody>
          <a:bodyPr wrap="square" lIns="0" tIns="50800" rIns="50800" bIns="0" rtlCol="0" anchor="ctr"/>
          <a:lstStyle/>
          <a:p>
            <a:pPr algn="ctr" indent="0" marL="0">
              <a:buNone/>
            </a:pPr>
            <a:r>
              <a:rPr lang="en-US" sz="1200" b="1" dirty="0">
                <a:solidFill>
                  <a:schemeClr val="bg1"/>
                </a:solidFill>
              </a:rPr>
              <a:t>저장</a:t>
            </a:r>
            <a:endParaRPr lang="en-US" sz="1200" dirty="0"/>
          </a:p>
        </p:txBody>
      </p:sp>
      <p:sp>
        <p:nvSpPr>
          <p:cNvPr id="35" name="text_404"/>
          <p:cNvSpPr txBox="1"/>
          <p:nvPr/>
        </p:nvSpPr>
        <p:spPr>
          <a:xfrm>
            <a:off x="548640" y="4846320"/>
            <a:ext cx="3657600" cy="320040"/>
          </a:xfrm>
          <a:prstGeom prst="rect">
            <a:avLst/>
          </a:prstGeom>
          <a:noFill/>
          <a:ln/>
        </p:spPr>
        <p:txBody>
          <a:bodyPr wrap="square" lIns="0" tIns="0" rIns="0" bIns="0" rtlCol="0" anchor="t"/>
          <a:lstStyle/>
          <a:p>
            <a:pPr indent="0" marL="0">
              <a:buNone/>
            </a:pPr>
            <a:r>
              <a:rPr lang="en-US" sz="1100" dirty="0">
                <a:solidFill>
                  <a:schemeClr val="accent6"/>
                </a:solidFill>
              </a:rPr>
              <a:t>워크스페이스에서 바뀌는 것</a:t>
            </a:r>
            <a:endParaRPr lang="en-US" sz="1100" dirty="0"/>
          </a:p>
        </p:txBody>
      </p:sp>
      <p:sp>
        <p:nvSpPr>
          <p:cNvPr id="36" name="card_405"/>
          <p:cNvSpPr/>
          <p:nvPr/>
        </p:nvSpPr>
        <p:spPr>
          <a:xfrm>
            <a:off x="548640" y="5303520"/>
            <a:ext cx="11091672" cy="731520"/>
          </a:xfrm>
          <a:prstGeom prst="roundRect">
            <a:avLst>
              <a:gd name="adj" fmla="val 12500"/>
            </a:avLst>
          </a:prstGeom>
          <a:solidFill>
            <a:schemeClr val="bg2"/>
          </a:solidFill>
          <a:ln/>
        </p:spPr>
      </p:sp>
      <p:pic>
        <p:nvPicPr>
          <p:cNvPr id="37" name="icon_406" descr="preencoded.png">    </p:cNvPr>
          <p:cNvPicPr>
            <a:picLocks noChangeAspect="1"/>
          </p:cNvPicPr>
          <p:nvPr/>
        </p:nvPicPr>
        <p:blipFill>
          <a:blip r:embed="rId1"/>
          <a:stretch>
            <a:fillRect/>
          </a:stretch>
        </p:blipFill>
        <p:spPr>
          <a:xfrm>
            <a:off x="777240" y="5468112"/>
            <a:ext cx="384048" cy="384048"/>
          </a:xfrm>
          <a:prstGeom prst="rect">
            <a:avLst/>
          </a:prstGeom>
        </p:spPr>
      </p:pic>
      <p:sp>
        <p:nvSpPr>
          <p:cNvPr id="38" name="text_407"/>
          <p:cNvSpPr txBox="1"/>
          <p:nvPr/>
        </p:nvSpPr>
        <p:spPr>
          <a:xfrm>
            <a:off x="1325880" y="5303520"/>
            <a:ext cx="10058400" cy="731520"/>
          </a:xfrm>
          <a:prstGeom prst="rect">
            <a:avLst/>
          </a:prstGeom>
          <a:noFill/>
          <a:ln/>
        </p:spPr>
        <p:txBody>
          <a:bodyPr wrap="square" lIns="0" tIns="0" rIns="0" bIns="0" rtlCol="0" anchor="ctr"/>
          <a:lstStyle/>
          <a:p>
            <a:pPr indent="0" marL="0">
              <a:buNone/>
            </a:pPr>
            <a:r>
              <a:rPr lang="en-US" sz="1600" b="1" dirty="0">
                <a:solidFill>
                  <a:schemeClr val="tx1"/>
                </a:solidFill>
              </a:rPr>
              <a:t>조회 → 생성 → 수정 → 저장 순서. 되돌리기 쉬운 작업부터 진행한다.</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Lab 0  연결 확인</a:t>
            </a:r>
            <a:endParaRPr lang="en-US" sz="3200" dirty="0"/>
          </a:p>
        </p:txBody>
      </p:sp>
      <p:sp>
        <p:nvSpPr>
          <p:cNvPr id="4" name="chip_408"/>
          <p:cNvSpPr txBox="1"/>
          <p:nvPr/>
        </p:nvSpPr>
        <p:spPr>
          <a:xfrm>
            <a:off x="9646920" y="548640"/>
            <a:ext cx="914400" cy="384048"/>
          </a:xfrm>
          <a:prstGeom prst="roundRect">
            <a:avLst>
              <a:gd name="adj" fmla="val 14286"/>
            </a:avLst>
          </a:prstGeom>
          <a:solidFill>
            <a:schemeClr val="accent1"/>
          </a:solidFill>
          <a:ln/>
        </p:spPr>
        <p:txBody>
          <a:bodyPr wrap="square" lIns="0" tIns="50800" rIns="50800" bIns="0" rtlCol="0" anchor="ctr"/>
          <a:lstStyle/>
          <a:p>
            <a:pPr algn="ctr" indent="0" marL="0">
              <a:buNone/>
            </a:pPr>
            <a:r>
              <a:rPr lang="en-US" sz="1300" b="1" dirty="0">
                <a:solidFill>
                  <a:schemeClr val="bg1"/>
                </a:solidFill>
              </a:rPr>
              <a:t>Lab 0</a:t>
            </a:r>
            <a:endParaRPr lang="en-US" sz="1300" dirty="0"/>
          </a:p>
        </p:txBody>
      </p:sp>
      <p:sp>
        <p:nvSpPr>
          <p:cNvPr id="5" name="chip_409"/>
          <p:cNvSpPr txBox="1"/>
          <p:nvPr/>
        </p:nvSpPr>
        <p:spPr>
          <a:xfrm>
            <a:off x="10680192" y="548640"/>
            <a:ext cx="960120" cy="384048"/>
          </a:xfrm>
          <a:prstGeom prst="roundRect">
            <a:avLst>
              <a:gd name="adj" fmla="val 14286"/>
            </a:avLst>
          </a:prstGeom>
          <a:solidFill>
            <a:schemeClr val="bg2"/>
          </a:solidFill>
          <a:ln/>
        </p:spPr>
        <p:txBody>
          <a:bodyPr wrap="square" lIns="0" tIns="50800" rIns="50800" bIns="0" rtlCol="0" anchor="ctr"/>
          <a:lstStyle/>
          <a:p>
            <a:pPr algn="ctr" indent="0" marL="0">
              <a:buNone/>
            </a:pPr>
            <a:r>
              <a:rPr lang="en-US" sz="1300" b="1" dirty="0">
                <a:solidFill>
                  <a:schemeClr val="tx2"/>
                </a:solidFill>
              </a:rPr>
              <a:t>10분</a:t>
            </a:r>
            <a:endParaRPr lang="en-US" sz="1300" dirty="0"/>
          </a:p>
        </p:txBody>
      </p:sp>
      <p:sp>
        <p:nvSpPr>
          <p:cNvPr id="6" name="text_410"/>
          <p:cNvSpPr txBox="1"/>
          <p:nvPr/>
        </p:nvSpPr>
        <p:spPr>
          <a:xfrm>
            <a:off x="548640" y="1325880"/>
            <a:ext cx="5486400" cy="320040"/>
          </a:xfrm>
          <a:prstGeom prst="rect">
            <a:avLst/>
          </a:prstGeom>
          <a:noFill/>
          <a:ln/>
        </p:spPr>
        <p:txBody>
          <a:bodyPr wrap="square" lIns="0" tIns="0" rIns="0" bIns="0" rtlCol="0" anchor="ctr"/>
          <a:lstStyle/>
          <a:p>
            <a:pPr indent="0" marL="0">
              <a:buNone/>
            </a:pPr>
            <a:r>
              <a:rPr lang="en-US" sz="1400" b="1" dirty="0">
                <a:solidFill>
                  <a:schemeClr val="tx2"/>
                </a:solidFill>
              </a:rPr>
              <a:t>준비</a:t>
            </a:r>
            <a:endParaRPr lang="en-US" sz="1400" dirty="0"/>
          </a:p>
        </p:txBody>
      </p:sp>
      <p:sp>
        <p:nvSpPr>
          <p:cNvPr id="7" name="badge_411"/>
          <p:cNvSpPr txBox="1"/>
          <p:nvPr/>
        </p:nvSpPr>
        <p:spPr>
          <a:xfrm>
            <a:off x="548640" y="1755648"/>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_412"/>
          <p:cNvSpPr txBox="1"/>
          <p:nvPr/>
        </p:nvSpPr>
        <p:spPr>
          <a:xfrm>
            <a:off x="987552" y="1700784"/>
            <a:ext cx="5029200" cy="420624"/>
          </a:xfrm>
          <a:prstGeom prst="rect">
            <a:avLst/>
          </a:prstGeom>
          <a:noFill/>
          <a:ln/>
        </p:spPr>
        <p:txBody>
          <a:bodyPr wrap="square" lIns="0" tIns="0" rIns="0" bIns="0" rtlCol="0" anchor="ctr"/>
          <a:lstStyle/>
          <a:p>
            <a:pPr indent="0" marL="0">
              <a:buNone/>
            </a:pPr>
            <a:r>
              <a:rPr lang="en-US" sz="1300" dirty="0">
                <a:solidFill>
                  <a:schemeClr val="tx1"/>
                </a:solidFill>
              </a:rPr>
              <a:t>Tosca Commander를 실행하고 실습 워크스페이스를 연다.</a:t>
            </a:r>
            <a:endParaRPr lang="en-US" sz="1300" dirty="0"/>
          </a:p>
        </p:txBody>
      </p:sp>
      <p:sp>
        <p:nvSpPr>
          <p:cNvPr id="9" name="badge_413"/>
          <p:cNvSpPr txBox="1"/>
          <p:nvPr/>
        </p:nvSpPr>
        <p:spPr>
          <a:xfrm>
            <a:off x="548640" y="2212848"/>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0" name="text_414"/>
          <p:cNvSpPr txBox="1"/>
          <p:nvPr/>
        </p:nvSpPr>
        <p:spPr>
          <a:xfrm>
            <a:off x="987552" y="2157984"/>
            <a:ext cx="5029200" cy="420624"/>
          </a:xfrm>
          <a:prstGeom prst="rect">
            <a:avLst/>
          </a:prstGeom>
          <a:noFill/>
          <a:ln/>
        </p:spPr>
        <p:txBody>
          <a:bodyPr wrap="square" lIns="0" tIns="0" rIns="0" bIns="0" rtlCol="0" anchor="ctr"/>
          <a:lstStyle/>
          <a:p>
            <a:pPr indent="0" marL="0">
              <a:buNone/>
            </a:pPr>
            <a:r>
              <a:rPr lang="en-US" sz="1300" dirty="0">
                <a:solidFill>
                  <a:schemeClr val="tx1"/>
                </a:solidFill>
              </a:rPr>
              <a:t>AI 클라이언트에 tosca-commander 서버를 등록한다 (2장 참고).</a:t>
            </a:r>
            <a:endParaRPr lang="en-US" sz="1300" dirty="0"/>
          </a:p>
        </p:txBody>
      </p:sp>
      <p:sp>
        <p:nvSpPr>
          <p:cNvPr id="11" name="badge_415"/>
          <p:cNvSpPr txBox="1"/>
          <p:nvPr/>
        </p:nvSpPr>
        <p:spPr>
          <a:xfrm>
            <a:off x="548640" y="2670048"/>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2" name="text_416"/>
          <p:cNvSpPr txBox="1"/>
          <p:nvPr/>
        </p:nvSpPr>
        <p:spPr>
          <a:xfrm>
            <a:off x="987552" y="2615184"/>
            <a:ext cx="5029200" cy="420624"/>
          </a:xfrm>
          <a:prstGeom prst="rect">
            <a:avLst/>
          </a:prstGeom>
          <a:noFill/>
          <a:ln/>
        </p:spPr>
        <p:txBody>
          <a:bodyPr wrap="square" lIns="0" tIns="0" rIns="0" bIns="0" rtlCol="0" anchor="ctr"/>
          <a:lstStyle/>
          <a:p>
            <a:pPr indent="0" marL="0">
              <a:buNone/>
            </a:pPr>
            <a:r>
              <a:rPr lang="en-US" sz="1300" dirty="0">
                <a:solidFill>
                  <a:schemeClr val="tx1"/>
                </a:solidFill>
              </a:rPr>
              <a:t>VS Code라면 Copilot Chat을 Agent 모드로 바꾸고, 도구 목록에 tosca-commander가 켜져 있는지 본다.</a:t>
            </a:r>
            <a:endParaRPr lang="en-US" sz="1300" dirty="0"/>
          </a:p>
        </p:txBody>
      </p:sp>
      <p:sp>
        <p:nvSpPr>
          <p:cNvPr id="13" name="prompt_417"/>
          <p:cNvSpPr/>
          <p:nvPr/>
        </p:nvSpPr>
        <p:spPr>
          <a:xfrm>
            <a:off x="548640" y="3200400"/>
            <a:ext cx="5440680" cy="1234440"/>
          </a:xfrm>
          <a:prstGeom prst="roundRect">
            <a:avLst>
              <a:gd name="adj" fmla="val 5926"/>
            </a:avLst>
          </a:prstGeom>
          <a:solidFill>
            <a:schemeClr val="accent2">
              <a:alpha val="14000"/>
            </a:schemeClr>
          </a:solidFill>
          <a:ln w="9525">
            <a:solidFill>
              <a:schemeClr val="accent2"/>
            </a:solidFill>
            <a:prstDash val="solid"/>
          </a:ln>
        </p:spPr>
      </p:sp>
      <p:sp>
        <p:nvSpPr>
          <p:cNvPr id="14" name="chip_418"/>
          <p:cNvSpPr txBox="1"/>
          <p:nvPr/>
        </p:nvSpPr>
        <p:spPr>
          <a:xfrm>
            <a:off x="713232" y="3319272"/>
            <a:ext cx="1234440" cy="274320"/>
          </a:xfrm>
          <a:prstGeom prst="roundRect">
            <a:avLst>
              <a:gd name="adj" fmla="val 2000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0-1</a:t>
            </a:r>
            <a:endParaRPr lang="en-US" sz="1100" dirty="0"/>
          </a:p>
        </p:txBody>
      </p:sp>
      <p:sp>
        <p:nvSpPr>
          <p:cNvPr id="15" name="text_419"/>
          <p:cNvSpPr txBox="1"/>
          <p:nvPr/>
        </p:nvSpPr>
        <p:spPr>
          <a:xfrm>
            <a:off x="731520" y="3703320"/>
            <a:ext cx="5074920" cy="612648"/>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Tosca Commander MCP에서 쓸 수 있는 도구 목록을 보여줘. 도구 이름과 한 줄 설명을 표로 정리해줘.</a:t>
            </a:r>
            <a:endParaRPr lang="en-US" sz="1300" dirty="0"/>
          </a:p>
        </p:txBody>
      </p:sp>
      <p:sp>
        <p:nvSpPr>
          <p:cNvPr id="16" name="prompt_420"/>
          <p:cNvSpPr/>
          <p:nvPr/>
        </p:nvSpPr>
        <p:spPr>
          <a:xfrm>
            <a:off x="548640" y="4572000"/>
            <a:ext cx="5440680" cy="1371600"/>
          </a:xfrm>
          <a:prstGeom prst="roundRect">
            <a:avLst>
              <a:gd name="adj" fmla="val 5333"/>
            </a:avLst>
          </a:prstGeom>
          <a:solidFill>
            <a:schemeClr val="accent2">
              <a:alpha val="14000"/>
            </a:schemeClr>
          </a:solidFill>
          <a:ln w="9525">
            <a:solidFill>
              <a:schemeClr val="accent2"/>
            </a:solidFill>
            <a:prstDash val="solid"/>
          </a:ln>
        </p:spPr>
      </p:sp>
      <p:sp>
        <p:nvSpPr>
          <p:cNvPr id="17" name="chip_421"/>
          <p:cNvSpPr txBox="1"/>
          <p:nvPr/>
        </p:nvSpPr>
        <p:spPr>
          <a:xfrm>
            <a:off x="713232" y="4690872"/>
            <a:ext cx="1234440" cy="274320"/>
          </a:xfrm>
          <a:prstGeom prst="roundRect">
            <a:avLst>
              <a:gd name="adj" fmla="val 2000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0-2</a:t>
            </a:r>
            <a:endParaRPr lang="en-US" sz="1100" dirty="0"/>
          </a:p>
        </p:txBody>
      </p:sp>
      <p:sp>
        <p:nvSpPr>
          <p:cNvPr id="18" name="text_422"/>
          <p:cNvSpPr txBox="1"/>
          <p:nvPr/>
        </p:nvSpPr>
        <p:spPr>
          <a:xfrm>
            <a:off x="731520" y="5074920"/>
            <a:ext cx="5074920" cy="749808"/>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지금 열려 있는 Tosca 워크스페이스 정보를 알려줘. 이름, 경로, 싱글 유저인지 멀티 유저인지 포함해서.</a:t>
            </a:r>
            <a:endParaRPr lang="en-US" sz="1300" dirty="0"/>
          </a:p>
        </p:txBody>
      </p:sp>
      <p:sp>
        <p:nvSpPr>
          <p:cNvPr id="19" name="chatwin_423"/>
          <p:cNvSpPr/>
          <p:nvPr/>
        </p:nvSpPr>
        <p:spPr>
          <a:xfrm>
            <a:off x="6309360" y="1325880"/>
            <a:ext cx="5330952" cy="4617720"/>
          </a:xfrm>
          <a:prstGeom prst="roundRect">
            <a:avLst>
              <a:gd name="adj" fmla="val 1980"/>
            </a:avLst>
          </a:prstGeom>
          <a:solidFill>
            <a:schemeClr val="bg1"/>
          </a:solidFill>
          <a:ln w="12700">
            <a:solidFill>
              <a:schemeClr val="accent3"/>
            </a:solidFill>
            <a:prstDash val="solid"/>
          </a:ln>
          <a:effectLst>
            <a:outerShdw sx="100000" sy="100000" kx="0" ky="0" algn="bl" rotWithShape="0" blurRad="76200" dist="25400" dir="5400000">
              <a:srgbClr val="1E2B2F">
                <a:alpha val="12000"/>
              </a:srgbClr>
            </a:outerShdw>
          </a:effectLst>
        </p:spPr>
      </p:sp>
      <p:sp>
        <p:nvSpPr>
          <p:cNvPr id="20" name="chathead_424"/>
          <p:cNvSpPr/>
          <p:nvPr/>
        </p:nvSpPr>
        <p:spPr>
          <a:xfrm>
            <a:off x="6309360" y="1325880"/>
            <a:ext cx="5330952" cy="411480"/>
          </a:xfrm>
          <a:prstGeom prst="roundRect">
            <a:avLst>
              <a:gd name="adj" fmla="val 22222"/>
            </a:avLst>
          </a:prstGeom>
          <a:solidFill>
            <a:schemeClr val="bg2"/>
          </a:solidFill>
          <a:ln/>
        </p:spPr>
      </p:sp>
      <p:sp>
        <p:nvSpPr>
          <p:cNvPr id="21" name="chathead2_425"/>
          <p:cNvSpPr/>
          <p:nvPr/>
        </p:nvSpPr>
        <p:spPr>
          <a:xfrm>
            <a:off x="6309360" y="1600200"/>
            <a:ext cx="5330952" cy="137160"/>
          </a:xfrm>
          <a:prstGeom prst="rect">
            <a:avLst/>
          </a:prstGeom>
          <a:solidFill>
            <a:schemeClr val="bg2"/>
          </a:solidFill>
          <a:ln/>
        </p:spPr>
      </p:sp>
      <p:sp>
        <p:nvSpPr>
          <p:cNvPr id="22" name="dot_426"/>
          <p:cNvSpPr/>
          <p:nvPr/>
        </p:nvSpPr>
        <p:spPr>
          <a:xfrm>
            <a:off x="6492240" y="1472184"/>
            <a:ext cx="118872" cy="118872"/>
          </a:xfrm>
          <a:prstGeom prst="ellipse">
            <a:avLst/>
          </a:prstGeom>
          <a:solidFill>
            <a:schemeClr val="accent4"/>
          </a:solidFill>
          <a:ln/>
        </p:spPr>
      </p:sp>
      <p:sp>
        <p:nvSpPr>
          <p:cNvPr id="23" name="text_427"/>
          <p:cNvSpPr txBox="1"/>
          <p:nvPr/>
        </p:nvSpPr>
        <p:spPr>
          <a:xfrm>
            <a:off x="6693408" y="1389888"/>
            <a:ext cx="4782312" cy="292608"/>
          </a:xfrm>
          <a:prstGeom prst="rect">
            <a:avLst/>
          </a:prstGeom>
          <a:noFill/>
          <a:ln/>
        </p:spPr>
        <p:txBody>
          <a:bodyPr wrap="square" lIns="0" tIns="0" rIns="0" bIns="0" rtlCol="0" anchor="ctr"/>
          <a:lstStyle/>
          <a:p>
            <a:pPr indent="0" marL="0">
              <a:buNone/>
            </a:pPr>
            <a:r>
              <a:rPr lang="en-US" sz="1100" b="1" dirty="0">
                <a:solidFill>
                  <a:schemeClr val="tx2"/>
                </a:solidFill>
              </a:rPr>
              <a:t>AI 어시스턴트   tosca-commander 연결됨</a:t>
            </a:r>
            <a:endParaRPr lang="en-US" sz="1100" dirty="0"/>
          </a:p>
        </p:txBody>
      </p:sp>
      <p:sp>
        <p:nvSpPr>
          <p:cNvPr id="24" name="ububble_428"/>
          <p:cNvSpPr txBox="1"/>
          <p:nvPr/>
        </p:nvSpPr>
        <p:spPr>
          <a:xfrm>
            <a:off x="7543800" y="1920240"/>
            <a:ext cx="3931920" cy="868680"/>
          </a:xfrm>
          <a:prstGeom prst="roundRect">
            <a:avLst>
              <a:gd name="adj" fmla="val 10526"/>
            </a:avLst>
          </a:prstGeom>
          <a:solidFill>
            <a:schemeClr val="accent1"/>
          </a:solidFill>
          <a:ln/>
        </p:spPr>
        <p:txBody>
          <a:bodyPr wrap="square" lIns="76200" tIns="127000" rIns="127000" bIns="76200" rtlCol="0" anchor="ctr"/>
          <a:lstStyle/>
          <a:p>
            <a:pPr indent="0" marL="0">
              <a:buNone/>
            </a:pPr>
            <a:r>
              <a:rPr lang="en-US" sz="1200" dirty="0">
                <a:solidFill>
                  <a:schemeClr val="bg1"/>
                </a:solidFill>
              </a:rPr>
              <a:t>지금 열려 있는 Tosca 워크스페이스 정보를 알려줘. 이름, 경로, 싱글 유저인지 멀티 유저인지 포함해서.</a:t>
            </a:r>
            <a:endParaRPr lang="en-US" sz="1200" dirty="0"/>
          </a:p>
        </p:txBody>
      </p:sp>
      <p:sp>
        <p:nvSpPr>
          <p:cNvPr id="25" name="aibubble_429"/>
          <p:cNvSpPr/>
          <p:nvPr/>
        </p:nvSpPr>
        <p:spPr>
          <a:xfrm>
            <a:off x="6492240" y="2971800"/>
            <a:ext cx="4572000" cy="2423160"/>
          </a:xfrm>
          <a:prstGeom prst="roundRect">
            <a:avLst>
              <a:gd name="adj" fmla="val 3774"/>
            </a:avLst>
          </a:prstGeom>
          <a:solidFill>
            <a:schemeClr val="bg2"/>
          </a:solidFill>
          <a:ln/>
        </p:spPr>
      </p:sp>
      <p:sp>
        <p:nvSpPr>
          <p:cNvPr id="26" name="chip_430"/>
          <p:cNvSpPr txBox="1"/>
          <p:nvPr/>
        </p:nvSpPr>
        <p:spPr>
          <a:xfrm>
            <a:off x="6629400" y="3090672"/>
            <a:ext cx="1581912" cy="256032"/>
          </a:xfrm>
          <a:prstGeom prst="roundRect">
            <a:avLst>
              <a:gd name="adj" fmla="val 21429"/>
            </a:avLst>
          </a:prstGeom>
          <a:solidFill>
            <a:schemeClr val="accent2">
              <a:alpha val="30000"/>
            </a:schemeClr>
          </a:solidFill>
          <a:ln/>
        </p:spPr>
        <p:txBody>
          <a:bodyPr wrap="square" lIns="0" tIns="50800" rIns="50800" bIns="0" rtlCol="0" anchor="ctr"/>
          <a:lstStyle/>
          <a:p>
            <a:pPr algn="ctr" indent="0" marL="0">
              <a:buNone/>
            </a:pPr>
            <a:r>
              <a:rPr lang="en-US" sz="1000" dirty="0">
                <a:solidFill>
                  <a:schemeClr val="tx1"/>
                </a:solidFill>
                <a:latin typeface="Consolas" pitchFamily="34" charset="0"/>
                <a:ea typeface="Consolas" pitchFamily="34" charset="-122"/>
                <a:cs typeface="Consolas" pitchFamily="34" charset="-120"/>
              </a:rPr>
              <a:t>get_workspace_info</a:t>
            </a:r>
            <a:endParaRPr lang="en-US" sz="1000" dirty="0"/>
          </a:p>
        </p:txBody>
      </p:sp>
      <p:sp>
        <p:nvSpPr>
          <p:cNvPr id="27" name="text_431"/>
          <p:cNvSpPr txBox="1"/>
          <p:nvPr/>
        </p:nvSpPr>
        <p:spPr>
          <a:xfrm>
            <a:off x="6629400" y="3447288"/>
            <a:ext cx="4297680" cy="1874520"/>
          </a:xfrm>
          <a:prstGeom prst="rect">
            <a:avLst/>
          </a:prstGeom>
          <a:noFill/>
          <a:ln/>
        </p:spPr>
        <p:txBody>
          <a:bodyPr wrap="square" lIns="0" tIns="0" rIns="0" bIns="0" rtlCol="0" anchor="t"/>
          <a:lstStyle/>
          <a:p>
            <a:pPr indent="0" marL="0">
              <a:buNone/>
            </a:pPr>
            <a:r>
              <a:rPr lang="en-US" sz="1200" dirty="0">
                <a:solidFill>
                  <a:schemeClr val="tx1"/>
                </a:solidFill>
              </a:rPr>
              <a:t>현재 열린 워크스페이스입니다.</a:t>
            </a:r>
            <a:endParaRPr lang="en-US" sz="1200" dirty="0"/>
          </a:p>
          <a:p>
            <a:pPr indent="0" marL="0">
              <a:buNone/>
            </a:pPr>
            <a:r>
              <a:rPr lang="en-US" sz="1200" dirty="0">
                <a:solidFill>
                  <a:schemeClr val="tx1"/>
                </a:solidFill>
              </a:rPr>
              <a:t>· 이름: MCP_Training_홍길동</a:t>
            </a:r>
            <a:endParaRPr lang="en-US" sz="1200" dirty="0"/>
          </a:p>
          <a:p>
            <a:pPr indent="0" marL="0">
              <a:buNone/>
            </a:pPr>
            <a:r>
              <a:rPr lang="en-US" sz="1200" dirty="0">
                <a:solidFill>
                  <a:schemeClr val="tx1"/>
                </a:solidFill>
              </a:rPr>
              <a:t>· 경로: C:\Tosca_Projects\Tosca_Workspaces\MCP_Training_홍길동</a:t>
            </a:r>
            <a:endParaRPr lang="en-US" sz="1200" dirty="0"/>
          </a:p>
          <a:p>
            <a:pPr indent="0" marL="0">
              <a:buNone/>
            </a:pPr>
            <a:r>
              <a:rPr lang="en-US" sz="1200" dirty="0">
                <a:solidFill>
                  <a:schemeClr val="tx1"/>
                </a:solidFill>
              </a:rPr>
              <a:t>· 모드: single (싱글 유저)</a:t>
            </a:r>
            <a:endParaRPr lang="en-US" sz="1200" dirty="0"/>
          </a:p>
          <a:p>
            <a:pPr indent="0" marL="0">
              <a:buNone/>
            </a:pPr>
            <a:r>
              <a:rPr lang="en-US" sz="1200" dirty="0">
                <a:solidFill>
                  <a:schemeClr val="tx1"/>
                </a:solidFill>
              </a:rPr>
              <a:t>체크인 없이 저장만 하면 됩니다.</a:t>
            </a:r>
            <a:endParaRPr lang="en-US" sz="1200" dirty="0"/>
          </a:p>
        </p:txBody>
      </p:sp>
      <p:sp>
        <p:nvSpPr>
          <p:cNvPr id="28" name="text_432"/>
          <p:cNvSpPr txBox="1"/>
          <p:nvPr/>
        </p:nvSpPr>
        <p:spPr>
          <a:xfrm>
            <a:off x="6492240" y="5513832"/>
            <a:ext cx="4937760" cy="320040"/>
          </a:xfrm>
          <a:prstGeom prst="rect">
            <a:avLst/>
          </a:prstGeom>
          <a:noFill/>
          <a:ln/>
        </p:spPr>
        <p:txBody>
          <a:bodyPr wrap="square" lIns="0" tIns="0" rIns="0" bIns="0" rtlCol="0" anchor="ctr"/>
          <a:lstStyle/>
          <a:p>
            <a:pPr indent="0" marL="0">
              <a:buNone/>
            </a:pPr>
            <a:r>
              <a:rPr lang="en-US" sz="1100" dirty="0">
                <a:solidFill>
                  <a:schemeClr val="accent6"/>
                </a:solidFill>
              </a:rPr>
              <a:t>화면 예시. 실제 문구와 모양은 클라이언트마다 다르다.</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Lab 1  워크스페이스 둘러보기</a:t>
            </a:r>
            <a:endParaRPr lang="en-US" sz="3200" dirty="0"/>
          </a:p>
        </p:txBody>
      </p:sp>
      <p:sp>
        <p:nvSpPr>
          <p:cNvPr id="4" name="chip_433"/>
          <p:cNvSpPr txBox="1"/>
          <p:nvPr/>
        </p:nvSpPr>
        <p:spPr>
          <a:xfrm>
            <a:off x="9646920" y="548640"/>
            <a:ext cx="914400" cy="384048"/>
          </a:xfrm>
          <a:prstGeom prst="roundRect">
            <a:avLst>
              <a:gd name="adj" fmla="val 14286"/>
            </a:avLst>
          </a:prstGeom>
          <a:solidFill>
            <a:schemeClr val="accent1"/>
          </a:solidFill>
          <a:ln/>
        </p:spPr>
        <p:txBody>
          <a:bodyPr wrap="square" lIns="0" tIns="50800" rIns="50800" bIns="0" rtlCol="0" anchor="ctr"/>
          <a:lstStyle/>
          <a:p>
            <a:pPr algn="ctr" indent="0" marL="0">
              <a:buNone/>
            </a:pPr>
            <a:r>
              <a:rPr lang="en-US" sz="1300" b="1" dirty="0">
                <a:solidFill>
                  <a:schemeClr val="bg1"/>
                </a:solidFill>
              </a:rPr>
              <a:t>Lab 1</a:t>
            </a:r>
            <a:endParaRPr lang="en-US" sz="1300" dirty="0"/>
          </a:p>
        </p:txBody>
      </p:sp>
      <p:sp>
        <p:nvSpPr>
          <p:cNvPr id="5" name="chip_434"/>
          <p:cNvSpPr txBox="1"/>
          <p:nvPr/>
        </p:nvSpPr>
        <p:spPr>
          <a:xfrm>
            <a:off x="10680192" y="548640"/>
            <a:ext cx="960120" cy="384048"/>
          </a:xfrm>
          <a:prstGeom prst="roundRect">
            <a:avLst>
              <a:gd name="adj" fmla="val 14286"/>
            </a:avLst>
          </a:prstGeom>
          <a:solidFill>
            <a:schemeClr val="bg2"/>
          </a:solidFill>
          <a:ln/>
        </p:spPr>
        <p:txBody>
          <a:bodyPr wrap="square" lIns="0" tIns="50800" rIns="50800" bIns="0" rtlCol="0" anchor="ctr"/>
          <a:lstStyle/>
          <a:p>
            <a:pPr algn="ctr" indent="0" marL="0">
              <a:buNone/>
            </a:pPr>
            <a:r>
              <a:rPr lang="en-US" sz="1300" b="1" dirty="0">
                <a:solidFill>
                  <a:schemeClr val="tx2"/>
                </a:solidFill>
              </a:rPr>
              <a:t>10분</a:t>
            </a:r>
            <a:endParaRPr lang="en-US" sz="1300" dirty="0"/>
          </a:p>
        </p:txBody>
      </p:sp>
      <p:sp>
        <p:nvSpPr>
          <p:cNvPr id="6" name="prompt_435"/>
          <p:cNvSpPr/>
          <p:nvPr/>
        </p:nvSpPr>
        <p:spPr>
          <a:xfrm>
            <a:off x="548640" y="1371600"/>
            <a:ext cx="5669280" cy="1325880"/>
          </a:xfrm>
          <a:prstGeom prst="roundRect">
            <a:avLst>
              <a:gd name="adj" fmla="val 5517"/>
            </a:avLst>
          </a:prstGeom>
          <a:solidFill>
            <a:schemeClr val="accent2">
              <a:alpha val="14000"/>
            </a:schemeClr>
          </a:solidFill>
          <a:ln w="9525">
            <a:solidFill>
              <a:schemeClr val="accent2"/>
            </a:solidFill>
            <a:prstDash val="solid"/>
          </a:ln>
        </p:spPr>
      </p:sp>
      <p:sp>
        <p:nvSpPr>
          <p:cNvPr id="7" name="chip_436"/>
          <p:cNvSpPr txBox="1"/>
          <p:nvPr/>
        </p:nvSpPr>
        <p:spPr>
          <a:xfrm>
            <a:off x="713232" y="1490472"/>
            <a:ext cx="1234440" cy="274320"/>
          </a:xfrm>
          <a:prstGeom prst="roundRect">
            <a:avLst>
              <a:gd name="adj" fmla="val 2000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1-1</a:t>
            </a:r>
            <a:endParaRPr lang="en-US" sz="1100" dirty="0"/>
          </a:p>
        </p:txBody>
      </p:sp>
      <p:sp>
        <p:nvSpPr>
          <p:cNvPr id="8" name="text_437"/>
          <p:cNvSpPr txBox="1"/>
          <p:nvPr/>
        </p:nvSpPr>
        <p:spPr>
          <a:xfrm>
            <a:off x="731520" y="1874520"/>
            <a:ext cx="5303520" cy="704088"/>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TestCases 폴더 아래 구조를 2단계 깊이까지 트리로 보여줘. 각 항목은 이름과 타입만 표시해줘.</a:t>
            </a:r>
            <a:endParaRPr lang="en-US" sz="1300" dirty="0"/>
          </a:p>
        </p:txBody>
      </p:sp>
      <p:sp>
        <p:nvSpPr>
          <p:cNvPr id="9" name="prompt_438"/>
          <p:cNvSpPr/>
          <p:nvPr/>
        </p:nvSpPr>
        <p:spPr>
          <a:xfrm>
            <a:off x="548640" y="2834640"/>
            <a:ext cx="5669280" cy="1325880"/>
          </a:xfrm>
          <a:prstGeom prst="roundRect">
            <a:avLst>
              <a:gd name="adj" fmla="val 5517"/>
            </a:avLst>
          </a:prstGeom>
          <a:solidFill>
            <a:schemeClr val="accent2">
              <a:alpha val="14000"/>
            </a:schemeClr>
          </a:solidFill>
          <a:ln w="9525">
            <a:solidFill>
              <a:schemeClr val="accent2"/>
            </a:solidFill>
            <a:prstDash val="solid"/>
          </a:ln>
        </p:spPr>
      </p:sp>
      <p:sp>
        <p:nvSpPr>
          <p:cNvPr id="10" name="chip_439"/>
          <p:cNvSpPr txBox="1"/>
          <p:nvPr/>
        </p:nvSpPr>
        <p:spPr>
          <a:xfrm>
            <a:off x="713232" y="2953512"/>
            <a:ext cx="1234440" cy="274320"/>
          </a:xfrm>
          <a:prstGeom prst="roundRect">
            <a:avLst>
              <a:gd name="adj" fmla="val 2000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1-2</a:t>
            </a:r>
            <a:endParaRPr lang="en-US" sz="1100" dirty="0"/>
          </a:p>
        </p:txBody>
      </p:sp>
      <p:sp>
        <p:nvSpPr>
          <p:cNvPr id="11" name="text_440"/>
          <p:cNvSpPr txBox="1"/>
          <p:nvPr/>
        </p:nvSpPr>
        <p:spPr>
          <a:xfrm>
            <a:off x="731520" y="3337560"/>
            <a:ext cx="5303520" cy="704088"/>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Modules/MCP실습 폴더에 있는 모듈(XModule)을 모두 찾아서, 모듈별 속성(ModuleAttribute) 이름을 표로 정리해줘.</a:t>
            </a:r>
            <a:endParaRPr lang="en-US" sz="1300" dirty="0"/>
          </a:p>
        </p:txBody>
      </p:sp>
      <p:sp>
        <p:nvSpPr>
          <p:cNvPr id="12" name="text_441"/>
          <p:cNvSpPr txBox="1"/>
          <p:nvPr/>
        </p:nvSpPr>
        <p:spPr>
          <a:xfrm>
            <a:off x="548640" y="4343400"/>
            <a:ext cx="2743200" cy="320040"/>
          </a:xfrm>
          <a:prstGeom prst="rect">
            <a:avLst/>
          </a:prstGeom>
          <a:noFill/>
          <a:ln/>
        </p:spPr>
        <p:txBody>
          <a:bodyPr wrap="square" lIns="0" tIns="0" rIns="0" bIns="0" rtlCol="0" anchor="ctr"/>
          <a:lstStyle/>
          <a:p>
            <a:pPr indent="0" marL="0">
              <a:buNone/>
            </a:pPr>
            <a:r>
              <a:rPr lang="en-US" sz="1200" dirty="0">
                <a:solidFill>
                  <a:schemeClr val="accent6"/>
                </a:solidFill>
              </a:rPr>
              <a:t>AI가 쓰는 도구</a:t>
            </a:r>
            <a:endParaRPr lang="en-US" sz="1200" dirty="0"/>
          </a:p>
        </p:txBody>
      </p:sp>
      <p:sp>
        <p:nvSpPr>
          <p:cNvPr id="13" name="chip_442"/>
          <p:cNvSpPr txBox="1"/>
          <p:nvPr/>
        </p:nvSpPr>
        <p:spPr>
          <a:xfrm>
            <a:off x="548640" y="4681728"/>
            <a:ext cx="1783080" cy="347472"/>
          </a:xfrm>
          <a:prstGeom prst="roundRect">
            <a:avLst>
              <a:gd name="adj" fmla="val 15789"/>
            </a:avLst>
          </a:prstGeom>
          <a:solidFill>
            <a:schemeClr val="bg2"/>
          </a:solidFill>
          <a:ln/>
        </p:spPr>
        <p:txBody>
          <a:bodyPr wrap="square" lIns="0" tIns="50800" rIns="50800" bIns="0" rtlCol="0" anchor="ctr"/>
          <a:lstStyle/>
          <a:p>
            <a:pPr algn="ctr" indent="0" marL="0">
              <a:buNone/>
            </a:pPr>
            <a:r>
              <a:rPr lang="en-US" sz="1000" dirty="0">
                <a:solidFill>
                  <a:schemeClr val="tx1"/>
                </a:solidFill>
                <a:latin typeface="Consolas" pitchFamily="34" charset="0"/>
                <a:ea typeface="Consolas" pitchFamily="34" charset="-122"/>
                <a:cs typeface="Consolas" pitchFamily="34" charset="-120"/>
              </a:rPr>
              <a:t>get_object_info</a:t>
            </a:r>
            <a:endParaRPr lang="en-US" sz="1000" dirty="0"/>
          </a:p>
        </p:txBody>
      </p:sp>
      <p:sp>
        <p:nvSpPr>
          <p:cNvPr id="14" name="chip_443"/>
          <p:cNvSpPr txBox="1"/>
          <p:nvPr/>
        </p:nvSpPr>
        <p:spPr>
          <a:xfrm>
            <a:off x="2423160" y="4681728"/>
            <a:ext cx="1783080" cy="347472"/>
          </a:xfrm>
          <a:prstGeom prst="roundRect">
            <a:avLst>
              <a:gd name="adj" fmla="val 15789"/>
            </a:avLst>
          </a:prstGeom>
          <a:solidFill>
            <a:schemeClr val="bg2"/>
          </a:solidFill>
          <a:ln/>
        </p:spPr>
        <p:txBody>
          <a:bodyPr wrap="square" lIns="0" tIns="50800" rIns="50800" bIns="0" rtlCol="0" anchor="ctr"/>
          <a:lstStyle/>
          <a:p>
            <a:pPr algn="ctr" indent="0" marL="0">
              <a:buNone/>
            </a:pPr>
            <a:r>
              <a:rPr lang="en-US" sz="1000" dirty="0">
                <a:solidFill>
                  <a:schemeClr val="tx1"/>
                </a:solidFill>
                <a:latin typeface="Consolas" pitchFamily="34" charset="0"/>
                <a:ea typeface="Consolas" pitchFamily="34" charset="-122"/>
                <a:cs typeface="Consolas" pitchFamily="34" charset="-120"/>
              </a:rPr>
              <a:t>list_assets</a:t>
            </a:r>
            <a:endParaRPr lang="en-US" sz="1000" dirty="0"/>
          </a:p>
        </p:txBody>
      </p:sp>
      <p:sp>
        <p:nvSpPr>
          <p:cNvPr id="15" name="chip_444"/>
          <p:cNvSpPr txBox="1"/>
          <p:nvPr/>
        </p:nvSpPr>
        <p:spPr>
          <a:xfrm>
            <a:off x="4297680" y="4681728"/>
            <a:ext cx="1783080" cy="347472"/>
          </a:xfrm>
          <a:prstGeom prst="roundRect">
            <a:avLst>
              <a:gd name="adj" fmla="val 15789"/>
            </a:avLst>
          </a:prstGeom>
          <a:solidFill>
            <a:schemeClr val="bg2"/>
          </a:solidFill>
          <a:ln/>
        </p:spPr>
        <p:txBody>
          <a:bodyPr wrap="square" lIns="0" tIns="50800" rIns="50800" bIns="0" rtlCol="0" anchor="ctr"/>
          <a:lstStyle/>
          <a:p>
            <a:pPr algn="ctr" indent="0" marL="0">
              <a:buNone/>
            </a:pPr>
            <a:r>
              <a:rPr lang="en-US" sz="1000" dirty="0">
                <a:solidFill>
                  <a:schemeClr val="tx1"/>
                </a:solidFill>
                <a:latin typeface="Consolas" pitchFamily="34" charset="0"/>
                <a:ea typeface="Consolas" pitchFamily="34" charset="-122"/>
                <a:cs typeface="Consolas" pitchFamily="34" charset="-120"/>
              </a:rPr>
              <a:t>get_attributes</a:t>
            </a:r>
            <a:endParaRPr lang="en-US" sz="1000" dirty="0"/>
          </a:p>
        </p:txBody>
      </p:sp>
      <p:sp>
        <p:nvSpPr>
          <p:cNvPr id="16" name="checkbox_445"/>
          <p:cNvSpPr/>
          <p:nvPr/>
        </p:nvSpPr>
        <p:spPr>
          <a:xfrm>
            <a:off x="548640" y="5230368"/>
            <a:ext cx="219456" cy="219456"/>
          </a:xfrm>
          <a:prstGeom prst="roundRect">
            <a:avLst>
              <a:gd name="adj" fmla="val 16667"/>
            </a:avLst>
          </a:prstGeom>
          <a:solidFill>
            <a:schemeClr val="bg1"/>
          </a:solidFill>
          <a:ln w="12700">
            <a:solidFill>
              <a:schemeClr val="accent1"/>
            </a:solidFill>
            <a:prstDash val="solid"/>
          </a:ln>
        </p:spPr>
      </p:sp>
      <p:sp>
        <p:nvSpPr>
          <p:cNvPr id="17" name="text_446"/>
          <p:cNvSpPr txBox="1"/>
          <p:nvPr/>
        </p:nvSpPr>
        <p:spPr>
          <a:xfrm>
            <a:off x="896112" y="5166360"/>
            <a:ext cx="5321808" cy="365760"/>
          </a:xfrm>
          <a:prstGeom prst="rect">
            <a:avLst/>
          </a:prstGeom>
          <a:noFill/>
          <a:ln/>
        </p:spPr>
        <p:txBody>
          <a:bodyPr wrap="square" lIns="0" tIns="0" rIns="0" bIns="0" rtlCol="0" anchor="ctr"/>
          <a:lstStyle/>
          <a:p>
            <a:pPr indent="0" marL="0">
              <a:buNone/>
            </a:pPr>
            <a:r>
              <a:rPr lang="en-US" sz="1300" dirty="0">
                <a:solidFill>
                  <a:schemeClr val="tx1"/>
                </a:solidFill>
              </a:rPr>
              <a:t>Header, Login 모듈이 목록에 있다</a:t>
            </a:r>
            <a:endParaRPr lang="en-US" sz="1300" dirty="0"/>
          </a:p>
        </p:txBody>
      </p:sp>
      <p:sp>
        <p:nvSpPr>
          <p:cNvPr id="18" name="checkbox_447"/>
          <p:cNvSpPr/>
          <p:nvPr/>
        </p:nvSpPr>
        <p:spPr>
          <a:xfrm>
            <a:off x="548640" y="5596128"/>
            <a:ext cx="219456" cy="219456"/>
          </a:xfrm>
          <a:prstGeom prst="roundRect">
            <a:avLst>
              <a:gd name="adj" fmla="val 16667"/>
            </a:avLst>
          </a:prstGeom>
          <a:solidFill>
            <a:schemeClr val="bg1"/>
          </a:solidFill>
          <a:ln w="12700">
            <a:solidFill>
              <a:schemeClr val="accent1"/>
            </a:solidFill>
            <a:prstDash val="solid"/>
          </a:ln>
        </p:spPr>
      </p:sp>
      <p:sp>
        <p:nvSpPr>
          <p:cNvPr id="19" name="text_448"/>
          <p:cNvSpPr txBox="1"/>
          <p:nvPr/>
        </p:nvSpPr>
        <p:spPr>
          <a:xfrm>
            <a:off x="896112" y="5532120"/>
            <a:ext cx="5321808" cy="365760"/>
          </a:xfrm>
          <a:prstGeom prst="rect">
            <a:avLst/>
          </a:prstGeom>
          <a:noFill/>
          <a:ln/>
        </p:spPr>
        <p:txBody>
          <a:bodyPr wrap="square" lIns="0" tIns="0" rIns="0" bIns="0" rtlCol="0" anchor="ctr"/>
          <a:lstStyle/>
          <a:p>
            <a:pPr indent="0" marL="0">
              <a:buNone/>
            </a:pPr>
            <a:r>
              <a:rPr lang="en-US" sz="1300" dirty="0">
                <a:solidFill>
                  <a:schemeClr val="tx1"/>
                </a:solidFill>
              </a:rPr>
              <a:t>Login 모듈에 Email, Password, Log in 속성이 있다</a:t>
            </a:r>
            <a:endParaRPr lang="en-US" sz="1300" dirty="0"/>
          </a:p>
        </p:txBody>
      </p:sp>
      <p:sp>
        <p:nvSpPr>
          <p:cNvPr id="20" name="tree_449"/>
          <p:cNvSpPr/>
          <p:nvPr/>
        </p:nvSpPr>
        <p:spPr>
          <a:xfrm>
            <a:off x="6537960" y="1371600"/>
            <a:ext cx="5102352" cy="4572000"/>
          </a:xfrm>
          <a:prstGeom prst="roundRect">
            <a:avLst>
              <a:gd name="adj" fmla="val 2000"/>
            </a:avLst>
          </a:prstGeom>
          <a:solidFill>
            <a:schemeClr val="bg1"/>
          </a:solidFill>
          <a:ln w="12700">
            <a:solidFill>
              <a:schemeClr val="accent3"/>
            </a:solidFill>
            <a:prstDash val="solid"/>
          </a:ln>
          <a:effectLst>
            <a:outerShdw sx="100000" sy="100000" kx="0" ky="0" algn="bl" rotWithShape="0" blurRad="76200" dist="25400" dir="5400000">
              <a:srgbClr val="1E2B2F">
                <a:alpha val="12000"/>
              </a:srgbClr>
            </a:outerShdw>
          </a:effectLst>
        </p:spPr>
      </p:sp>
      <p:sp>
        <p:nvSpPr>
          <p:cNvPr id="21" name="treehead_450"/>
          <p:cNvSpPr/>
          <p:nvPr/>
        </p:nvSpPr>
        <p:spPr>
          <a:xfrm>
            <a:off x="6537960" y="1371600"/>
            <a:ext cx="5102352" cy="384048"/>
          </a:xfrm>
          <a:prstGeom prst="roundRect">
            <a:avLst>
              <a:gd name="adj" fmla="val 23810"/>
            </a:avLst>
          </a:prstGeom>
          <a:solidFill>
            <a:schemeClr val="bg2"/>
          </a:solidFill>
          <a:ln/>
        </p:spPr>
      </p:sp>
      <p:sp>
        <p:nvSpPr>
          <p:cNvPr id="22" name="treehead2_451"/>
          <p:cNvSpPr/>
          <p:nvPr/>
        </p:nvSpPr>
        <p:spPr>
          <a:xfrm>
            <a:off x="6537960" y="1627632"/>
            <a:ext cx="5102352" cy="128016"/>
          </a:xfrm>
          <a:prstGeom prst="rect">
            <a:avLst/>
          </a:prstGeom>
          <a:solidFill>
            <a:schemeClr val="bg2"/>
          </a:solidFill>
          <a:ln/>
        </p:spPr>
      </p:sp>
      <p:sp>
        <p:nvSpPr>
          <p:cNvPr id="23" name="text_452"/>
          <p:cNvSpPr txBox="1"/>
          <p:nvPr/>
        </p:nvSpPr>
        <p:spPr>
          <a:xfrm>
            <a:off x="6720840" y="1426464"/>
            <a:ext cx="4736592" cy="274320"/>
          </a:xfrm>
          <a:prstGeom prst="rect">
            <a:avLst/>
          </a:prstGeom>
          <a:noFill/>
          <a:ln/>
        </p:spPr>
        <p:txBody>
          <a:bodyPr wrap="square" lIns="0" tIns="0" rIns="0" bIns="0" rtlCol="0" anchor="ctr"/>
          <a:lstStyle/>
          <a:p>
            <a:pPr indent="0" marL="0">
              <a:buNone/>
            </a:pPr>
            <a:r>
              <a:rPr lang="en-US" sz="1100" b="1" dirty="0">
                <a:solidFill>
                  <a:schemeClr val="tx2"/>
                </a:solidFill>
              </a:rPr>
              <a:t>결과 예시  (프롬프트 1-2)</a:t>
            </a:r>
            <a:endParaRPr lang="en-US" sz="1100" dirty="0"/>
          </a:p>
        </p:txBody>
      </p:sp>
      <p:pic>
        <p:nvPicPr>
          <p:cNvPr id="24" name="icon_453" descr="preencoded.png">    </p:cNvPr>
          <p:cNvPicPr>
            <a:picLocks noChangeAspect="1"/>
          </p:cNvPicPr>
          <p:nvPr/>
        </p:nvPicPr>
        <p:blipFill>
          <a:blip r:embed="rId1"/>
          <a:stretch>
            <a:fillRect/>
          </a:stretch>
        </p:blipFill>
        <p:spPr>
          <a:xfrm>
            <a:off x="6766560" y="1975104"/>
            <a:ext cx="201168" cy="201168"/>
          </a:xfrm>
          <a:prstGeom prst="rect">
            <a:avLst/>
          </a:prstGeom>
        </p:spPr>
      </p:pic>
      <p:sp>
        <p:nvSpPr>
          <p:cNvPr id="25" name="text_454"/>
          <p:cNvSpPr txBox="1"/>
          <p:nvPr/>
        </p:nvSpPr>
        <p:spPr>
          <a:xfrm>
            <a:off x="7040880" y="1920240"/>
            <a:ext cx="4462272" cy="347472"/>
          </a:xfrm>
          <a:prstGeom prst="rect">
            <a:avLst/>
          </a:prstGeom>
          <a:noFill/>
          <a:ln/>
        </p:spPr>
        <p:txBody>
          <a:bodyPr wrap="square" lIns="0" tIns="0" rIns="0" bIns="0" rtlCol="0" anchor="ctr"/>
          <a:lstStyle/>
          <a:p>
            <a:pPr indent="0" marL="0">
              <a:buNone/>
            </a:pPr>
            <a:r>
              <a:rPr lang="en-US" sz="1200" b="1" dirty="0">
                <a:solidFill>
                  <a:schemeClr val="tx1"/>
                </a:solidFill>
              </a:rPr>
              <a:t>Modules</a:t>
            </a:r>
            <a:endParaRPr lang="en-US" sz="1200" dirty="0"/>
          </a:p>
        </p:txBody>
      </p:sp>
      <p:pic>
        <p:nvPicPr>
          <p:cNvPr id="26" name="icon_455" descr="preencoded.png">    </p:cNvPr>
          <p:cNvPicPr>
            <a:picLocks noChangeAspect="1"/>
          </p:cNvPicPr>
          <p:nvPr/>
        </p:nvPicPr>
        <p:blipFill>
          <a:blip r:embed="rId2"/>
          <a:stretch>
            <a:fillRect/>
          </a:stretch>
        </p:blipFill>
        <p:spPr>
          <a:xfrm>
            <a:off x="7059168" y="2322576"/>
            <a:ext cx="201168" cy="201168"/>
          </a:xfrm>
          <a:prstGeom prst="rect">
            <a:avLst/>
          </a:prstGeom>
        </p:spPr>
      </p:pic>
      <p:sp>
        <p:nvSpPr>
          <p:cNvPr id="27" name="text_456"/>
          <p:cNvSpPr txBox="1"/>
          <p:nvPr/>
        </p:nvSpPr>
        <p:spPr>
          <a:xfrm>
            <a:off x="7333488" y="2267712"/>
            <a:ext cx="4169664" cy="347472"/>
          </a:xfrm>
          <a:prstGeom prst="rect">
            <a:avLst/>
          </a:prstGeom>
          <a:noFill/>
          <a:ln/>
        </p:spPr>
        <p:txBody>
          <a:bodyPr wrap="square" lIns="0" tIns="0" rIns="0" bIns="0" rtlCol="0" anchor="ctr"/>
          <a:lstStyle/>
          <a:p>
            <a:pPr indent="0" marL="0">
              <a:buNone/>
            </a:pPr>
            <a:r>
              <a:rPr lang="en-US" sz="1200" dirty="0">
                <a:solidFill>
                  <a:schemeClr val="tx1"/>
                </a:solidFill>
              </a:rPr>
              <a:t>MCP실습</a:t>
            </a:r>
            <a:endParaRPr lang="en-US" sz="1200" dirty="0"/>
          </a:p>
        </p:txBody>
      </p:sp>
      <p:pic>
        <p:nvPicPr>
          <p:cNvPr id="28" name="icon_457" descr="preencoded.png">    </p:cNvPr>
          <p:cNvPicPr>
            <a:picLocks noChangeAspect="1"/>
          </p:cNvPicPr>
          <p:nvPr/>
        </p:nvPicPr>
        <p:blipFill>
          <a:blip r:embed="rId3"/>
          <a:stretch>
            <a:fillRect/>
          </a:stretch>
        </p:blipFill>
        <p:spPr>
          <a:xfrm>
            <a:off x="7351776" y="2670048"/>
            <a:ext cx="201168" cy="201168"/>
          </a:xfrm>
          <a:prstGeom prst="rect">
            <a:avLst/>
          </a:prstGeom>
        </p:spPr>
      </p:pic>
      <p:sp>
        <p:nvSpPr>
          <p:cNvPr id="29" name="text_458"/>
          <p:cNvSpPr txBox="1"/>
          <p:nvPr/>
        </p:nvSpPr>
        <p:spPr>
          <a:xfrm>
            <a:off x="7626096" y="2615184"/>
            <a:ext cx="3877056" cy="347472"/>
          </a:xfrm>
          <a:prstGeom prst="rect">
            <a:avLst/>
          </a:prstGeom>
          <a:noFill/>
          <a:ln/>
        </p:spPr>
        <p:txBody>
          <a:bodyPr wrap="square" lIns="0" tIns="0" rIns="0" bIns="0" rtlCol="0" anchor="ctr"/>
          <a:lstStyle/>
          <a:p>
            <a:pPr indent="0" marL="0">
              <a:buNone/>
            </a:pPr>
            <a:r>
              <a:rPr lang="en-US" sz="1200" b="1" dirty="0">
                <a:solidFill>
                  <a:schemeClr val="tx1"/>
                </a:solidFill>
              </a:rPr>
              <a:t>Header</a:t>
            </a:r>
            <a:endParaRPr lang="en-US" sz="1200" dirty="0"/>
          </a:p>
        </p:txBody>
      </p:sp>
      <p:pic>
        <p:nvPicPr>
          <p:cNvPr id="30" name="icon_459" descr="preencoded.png">    </p:cNvPr>
          <p:cNvPicPr>
            <a:picLocks noChangeAspect="1"/>
          </p:cNvPicPr>
          <p:nvPr/>
        </p:nvPicPr>
        <p:blipFill>
          <a:blip r:embed="rId4"/>
          <a:stretch>
            <a:fillRect/>
          </a:stretch>
        </p:blipFill>
        <p:spPr>
          <a:xfrm>
            <a:off x="7644384" y="3017520"/>
            <a:ext cx="201168" cy="201168"/>
          </a:xfrm>
          <a:prstGeom prst="rect">
            <a:avLst/>
          </a:prstGeom>
        </p:spPr>
      </p:pic>
      <p:sp>
        <p:nvSpPr>
          <p:cNvPr id="31" name="text_460"/>
          <p:cNvSpPr txBox="1"/>
          <p:nvPr/>
        </p:nvSpPr>
        <p:spPr>
          <a:xfrm>
            <a:off x="7918704" y="2962656"/>
            <a:ext cx="3584448" cy="347472"/>
          </a:xfrm>
          <a:prstGeom prst="rect">
            <a:avLst/>
          </a:prstGeom>
          <a:noFill/>
          <a:ln/>
        </p:spPr>
        <p:txBody>
          <a:bodyPr wrap="square" lIns="0" tIns="0" rIns="0" bIns="0" rtlCol="0" anchor="ctr"/>
          <a:lstStyle/>
          <a:p>
            <a:pPr indent="0" marL="0">
              <a:buNone/>
            </a:pPr>
            <a:r>
              <a:rPr lang="en-US" sz="1200" dirty="0">
                <a:solidFill>
                  <a:schemeClr val="tx1"/>
                </a:solidFill>
              </a:rPr>
              <a:t>Log in</a:t>
            </a:r>
            <a:pPr indent="0" marL="0">
              <a:buNone/>
            </a:pPr>
            <a:r>
              <a:rPr lang="en-US" sz="1200" dirty="0">
                <a:solidFill>
                  <a:schemeClr val="accent6"/>
                </a:solidFill>
              </a:rPr>
              <a:t>   Link</a:t>
            </a:r>
            <a:endParaRPr lang="en-US" sz="1200" dirty="0"/>
          </a:p>
        </p:txBody>
      </p:sp>
      <p:pic>
        <p:nvPicPr>
          <p:cNvPr id="32" name="icon_461" descr="preencoded.png">    </p:cNvPr>
          <p:cNvPicPr>
            <a:picLocks noChangeAspect="1"/>
          </p:cNvPicPr>
          <p:nvPr/>
        </p:nvPicPr>
        <p:blipFill>
          <a:blip r:embed="rId5"/>
          <a:stretch>
            <a:fillRect/>
          </a:stretch>
        </p:blipFill>
        <p:spPr>
          <a:xfrm>
            <a:off x="7644384" y="3364992"/>
            <a:ext cx="201168" cy="201168"/>
          </a:xfrm>
          <a:prstGeom prst="rect">
            <a:avLst/>
          </a:prstGeom>
        </p:spPr>
      </p:pic>
      <p:sp>
        <p:nvSpPr>
          <p:cNvPr id="33" name="text_462"/>
          <p:cNvSpPr txBox="1"/>
          <p:nvPr/>
        </p:nvSpPr>
        <p:spPr>
          <a:xfrm>
            <a:off x="7918704" y="3310128"/>
            <a:ext cx="3584448" cy="347472"/>
          </a:xfrm>
          <a:prstGeom prst="rect">
            <a:avLst/>
          </a:prstGeom>
          <a:noFill/>
          <a:ln/>
        </p:spPr>
        <p:txBody>
          <a:bodyPr wrap="square" lIns="0" tIns="0" rIns="0" bIns="0" rtlCol="0" anchor="ctr"/>
          <a:lstStyle/>
          <a:p>
            <a:pPr indent="0" marL="0">
              <a:buNone/>
            </a:pPr>
            <a:r>
              <a:rPr lang="en-US" sz="1200" dirty="0">
                <a:solidFill>
                  <a:schemeClr val="tx1"/>
                </a:solidFill>
              </a:rPr>
              <a:t>Log out</a:t>
            </a:r>
            <a:pPr indent="0" marL="0">
              <a:buNone/>
            </a:pPr>
            <a:r>
              <a:rPr lang="en-US" sz="1200" dirty="0">
                <a:solidFill>
                  <a:schemeClr val="accent6"/>
                </a:solidFill>
              </a:rPr>
              <a:t>   Link</a:t>
            </a:r>
            <a:endParaRPr lang="en-US" sz="1200" dirty="0"/>
          </a:p>
        </p:txBody>
      </p:sp>
      <p:pic>
        <p:nvPicPr>
          <p:cNvPr id="34" name="icon_463" descr="preencoded.png">    </p:cNvPr>
          <p:cNvPicPr>
            <a:picLocks noChangeAspect="1"/>
          </p:cNvPicPr>
          <p:nvPr/>
        </p:nvPicPr>
        <p:blipFill>
          <a:blip r:embed="rId6"/>
          <a:stretch>
            <a:fillRect/>
          </a:stretch>
        </p:blipFill>
        <p:spPr>
          <a:xfrm>
            <a:off x="7644384" y="3712464"/>
            <a:ext cx="201168" cy="201168"/>
          </a:xfrm>
          <a:prstGeom prst="rect">
            <a:avLst/>
          </a:prstGeom>
        </p:spPr>
      </p:pic>
      <p:sp>
        <p:nvSpPr>
          <p:cNvPr id="35" name="text_464"/>
          <p:cNvSpPr txBox="1"/>
          <p:nvPr/>
        </p:nvSpPr>
        <p:spPr>
          <a:xfrm>
            <a:off x="7918704" y="3657600"/>
            <a:ext cx="3584448" cy="347472"/>
          </a:xfrm>
          <a:prstGeom prst="rect">
            <a:avLst/>
          </a:prstGeom>
          <a:noFill/>
          <a:ln/>
        </p:spPr>
        <p:txBody>
          <a:bodyPr wrap="square" lIns="0" tIns="0" rIns="0" bIns="0" rtlCol="0" anchor="ctr"/>
          <a:lstStyle/>
          <a:p>
            <a:pPr indent="0" marL="0">
              <a:buNone/>
            </a:pPr>
            <a:r>
              <a:rPr lang="en-US" sz="1200" dirty="0">
                <a:solidFill>
                  <a:schemeClr val="tx1"/>
                </a:solidFill>
              </a:rPr>
              <a:t>Account</a:t>
            </a:r>
            <a:pPr indent="0" marL="0">
              <a:buNone/>
            </a:pPr>
            <a:r>
              <a:rPr lang="en-US" sz="1200" dirty="0">
                <a:solidFill>
                  <a:schemeClr val="accent6"/>
                </a:solidFill>
              </a:rPr>
              <a:t>   Link</a:t>
            </a:r>
            <a:endParaRPr lang="en-US" sz="1200" dirty="0"/>
          </a:p>
        </p:txBody>
      </p:sp>
      <p:pic>
        <p:nvPicPr>
          <p:cNvPr id="36" name="icon_465" descr="preencoded.png">    </p:cNvPr>
          <p:cNvPicPr>
            <a:picLocks noChangeAspect="1"/>
          </p:cNvPicPr>
          <p:nvPr/>
        </p:nvPicPr>
        <p:blipFill>
          <a:blip r:embed="rId7"/>
          <a:stretch>
            <a:fillRect/>
          </a:stretch>
        </p:blipFill>
        <p:spPr>
          <a:xfrm>
            <a:off x="7351776" y="4059936"/>
            <a:ext cx="201168" cy="201168"/>
          </a:xfrm>
          <a:prstGeom prst="rect">
            <a:avLst/>
          </a:prstGeom>
        </p:spPr>
      </p:pic>
      <p:sp>
        <p:nvSpPr>
          <p:cNvPr id="37" name="text_466"/>
          <p:cNvSpPr txBox="1"/>
          <p:nvPr/>
        </p:nvSpPr>
        <p:spPr>
          <a:xfrm>
            <a:off x="7626096" y="4005072"/>
            <a:ext cx="3877056" cy="347472"/>
          </a:xfrm>
          <a:prstGeom prst="rect">
            <a:avLst/>
          </a:prstGeom>
          <a:noFill/>
          <a:ln/>
        </p:spPr>
        <p:txBody>
          <a:bodyPr wrap="square" lIns="0" tIns="0" rIns="0" bIns="0" rtlCol="0" anchor="ctr"/>
          <a:lstStyle/>
          <a:p>
            <a:pPr indent="0" marL="0">
              <a:buNone/>
            </a:pPr>
            <a:r>
              <a:rPr lang="en-US" sz="1200" b="1" dirty="0">
                <a:solidFill>
                  <a:schemeClr val="tx1"/>
                </a:solidFill>
              </a:rPr>
              <a:t>Login</a:t>
            </a:r>
            <a:endParaRPr lang="en-US" sz="1200" dirty="0"/>
          </a:p>
        </p:txBody>
      </p:sp>
      <p:pic>
        <p:nvPicPr>
          <p:cNvPr id="38" name="icon_467" descr="preencoded.png">    </p:cNvPr>
          <p:cNvPicPr>
            <a:picLocks noChangeAspect="1"/>
          </p:cNvPicPr>
          <p:nvPr/>
        </p:nvPicPr>
        <p:blipFill>
          <a:blip r:embed="rId8"/>
          <a:stretch>
            <a:fillRect/>
          </a:stretch>
        </p:blipFill>
        <p:spPr>
          <a:xfrm>
            <a:off x="7644384" y="4407408"/>
            <a:ext cx="201168" cy="201168"/>
          </a:xfrm>
          <a:prstGeom prst="rect">
            <a:avLst/>
          </a:prstGeom>
        </p:spPr>
      </p:pic>
      <p:sp>
        <p:nvSpPr>
          <p:cNvPr id="39" name="text_468"/>
          <p:cNvSpPr txBox="1"/>
          <p:nvPr/>
        </p:nvSpPr>
        <p:spPr>
          <a:xfrm>
            <a:off x="7918704" y="4352544"/>
            <a:ext cx="3584448" cy="347472"/>
          </a:xfrm>
          <a:prstGeom prst="rect">
            <a:avLst/>
          </a:prstGeom>
          <a:noFill/>
          <a:ln/>
        </p:spPr>
        <p:txBody>
          <a:bodyPr wrap="square" lIns="0" tIns="0" rIns="0" bIns="0" rtlCol="0" anchor="ctr"/>
          <a:lstStyle/>
          <a:p>
            <a:pPr indent="0" marL="0">
              <a:buNone/>
            </a:pPr>
            <a:r>
              <a:rPr lang="en-US" sz="1200" dirty="0">
                <a:solidFill>
                  <a:schemeClr val="tx1"/>
                </a:solidFill>
              </a:rPr>
              <a:t>Email</a:t>
            </a:r>
            <a:pPr indent="0" marL="0">
              <a:buNone/>
            </a:pPr>
            <a:r>
              <a:rPr lang="en-US" sz="1200" dirty="0">
                <a:solidFill>
                  <a:schemeClr val="accent6"/>
                </a:solidFill>
              </a:rPr>
              <a:t>   TextBox</a:t>
            </a:r>
            <a:endParaRPr lang="en-US" sz="1200" dirty="0"/>
          </a:p>
        </p:txBody>
      </p:sp>
      <p:pic>
        <p:nvPicPr>
          <p:cNvPr id="40" name="icon_469" descr="preencoded.png">    </p:cNvPr>
          <p:cNvPicPr>
            <a:picLocks noChangeAspect="1"/>
          </p:cNvPicPr>
          <p:nvPr/>
        </p:nvPicPr>
        <p:blipFill>
          <a:blip r:embed="rId9"/>
          <a:stretch>
            <a:fillRect/>
          </a:stretch>
        </p:blipFill>
        <p:spPr>
          <a:xfrm>
            <a:off x="7644384" y="4754880"/>
            <a:ext cx="201168" cy="201168"/>
          </a:xfrm>
          <a:prstGeom prst="rect">
            <a:avLst/>
          </a:prstGeom>
        </p:spPr>
      </p:pic>
      <p:sp>
        <p:nvSpPr>
          <p:cNvPr id="41" name="text_470"/>
          <p:cNvSpPr txBox="1"/>
          <p:nvPr/>
        </p:nvSpPr>
        <p:spPr>
          <a:xfrm>
            <a:off x="7918704" y="4700016"/>
            <a:ext cx="3584448" cy="347472"/>
          </a:xfrm>
          <a:prstGeom prst="rect">
            <a:avLst/>
          </a:prstGeom>
          <a:noFill/>
          <a:ln/>
        </p:spPr>
        <p:txBody>
          <a:bodyPr wrap="square" lIns="0" tIns="0" rIns="0" bIns="0" rtlCol="0" anchor="ctr"/>
          <a:lstStyle/>
          <a:p>
            <a:pPr indent="0" marL="0">
              <a:buNone/>
            </a:pPr>
            <a:r>
              <a:rPr lang="en-US" sz="1200" dirty="0">
                <a:solidFill>
                  <a:schemeClr val="tx1"/>
                </a:solidFill>
              </a:rPr>
              <a:t>Password</a:t>
            </a:r>
            <a:pPr indent="0" marL="0">
              <a:buNone/>
            </a:pPr>
            <a:r>
              <a:rPr lang="en-US" sz="1200" dirty="0">
                <a:solidFill>
                  <a:schemeClr val="accent6"/>
                </a:solidFill>
              </a:rPr>
              <a:t>   TextBox</a:t>
            </a:r>
            <a:endParaRPr lang="en-US" sz="1200" dirty="0"/>
          </a:p>
        </p:txBody>
      </p:sp>
      <p:pic>
        <p:nvPicPr>
          <p:cNvPr id="42" name="icon_471" descr="preencoded.png">    </p:cNvPr>
          <p:cNvPicPr>
            <a:picLocks noChangeAspect="1"/>
          </p:cNvPicPr>
          <p:nvPr/>
        </p:nvPicPr>
        <p:blipFill>
          <a:blip r:embed="rId10"/>
          <a:stretch>
            <a:fillRect/>
          </a:stretch>
        </p:blipFill>
        <p:spPr>
          <a:xfrm>
            <a:off x="7644384" y="5102352"/>
            <a:ext cx="201168" cy="201168"/>
          </a:xfrm>
          <a:prstGeom prst="rect">
            <a:avLst/>
          </a:prstGeom>
        </p:spPr>
      </p:pic>
      <p:sp>
        <p:nvSpPr>
          <p:cNvPr id="43" name="text_472"/>
          <p:cNvSpPr txBox="1"/>
          <p:nvPr/>
        </p:nvSpPr>
        <p:spPr>
          <a:xfrm>
            <a:off x="7918704" y="5047488"/>
            <a:ext cx="3584448" cy="347472"/>
          </a:xfrm>
          <a:prstGeom prst="rect">
            <a:avLst/>
          </a:prstGeom>
          <a:noFill/>
          <a:ln/>
        </p:spPr>
        <p:txBody>
          <a:bodyPr wrap="square" lIns="0" tIns="0" rIns="0" bIns="0" rtlCol="0" anchor="ctr"/>
          <a:lstStyle/>
          <a:p>
            <a:pPr indent="0" marL="0">
              <a:buNone/>
            </a:pPr>
            <a:r>
              <a:rPr lang="en-US" sz="1200" dirty="0">
                <a:solidFill>
                  <a:schemeClr val="tx1"/>
                </a:solidFill>
              </a:rPr>
              <a:t>Log in</a:t>
            </a:r>
            <a:pPr indent="0" marL="0">
              <a:buNone/>
            </a:pPr>
            <a:r>
              <a:rPr lang="en-US" sz="1200" dirty="0">
                <a:solidFill>
                  <a:schemeClr val="accent6"/>
                </a:solidFill>
              </a:rPr>
              <a:t>   Button</a:t>
            </a:r>
            <a:endParaRPr lang="en-US" sz="1200" dirty="0"/>
          </a:p>
        </p:txBody>
      </p:sp>
      <p:pic>
        <p:nvPicPr>
          <p:cNvPr id="44" name="icon_473" descr="preencoded.png">    </p:cNvPr>
          <p:cNvPicPr>
            <a:picLocks noChangeAspect="1"/>
          </p:cNvPicPr>
          <p:nvPr/>
        </p:nvPicPr>
        <p:blipFill>
          <a:blip r:embed="rId11"/>
          <a:stretch>
            <a:fillRect/>
          </a:stretch>
        </p:blipFill>
        <p:spPr>
          <a:xfrm>
            <a:off x="7644384" y="5449824"/>
            <a:ext cx="201168" cy="201168"/>
          </a:xfrm>
          <a:prstGeom prst="rect">
            <a:avLst/>
          </a:prstGeom>
        </p:spPr>
      </p:pic>
      <p:sp>
        <p:nvSpPr>
          <p:cNvPr id="45" name="text_474"/>
          <p:cNvSpPr txBox="1"/>
          <p:nvPr/>
        </p:nvSpPr>
        <p:spPr>
          <a:xfrm>
            <a:off x="7918704" y="5394960"/>
            <a:ext cx="3584448" cy="347472"/>
          </a:xfrm>
          <a:prstGeom prst="rect">
            <a:avLst/>
          </a:prstGeom>
          <a:noFill/>
          <a:ln/>
        </p:spPr>
        <p:txBody>
          <a:bodyPr wrap="square" lIns="0" tIns="0" rIns="0" bIns="0" rtlCol="0" anchor="ctr"/>
          <a:lstStyle/>
          <a:p>
            <a:pPr indent="0" marL="0">
              <a:buNone/>
            </a:pPr>
            <a:r>
              <a:rPr lang="en-US" sz="1200" dirty="0">
                <a:solidFill>
                  <a:schemeClr val="tx1"/>
                </a:solidFill>
              </a:rPr>
              <a:t>Error Message</a:t>
            </a:r>
            <a:pPr indent="0" marL="0">
              <a:buNone/>
            </a:pPr>
            <a:r>
              <a:rPr lang="en-US" sz="1200" dirty="0">
                <a:solidFill>
                  <a:schemeClr val="accent6"/>
                </a:solidFill>
              </a:rPr>
              <a:t>   Text</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Lab 2  수동 테스트케이스 만들기</a:t>
            </a:r>
            <a:endParaRPr lang="en-US" sz="3200" dirty="0"/>
          </a:p>
        </p:txBody>
      </p:sp>
      <p:sp>
        <p:nvSpPr>
          <p:cNvPr id="4" name="chip_475"/>
          <p:cNvSpPr txBox="1"/>
          <p:nvPr/>
        </p:nvSpPr>
        <p:spPr>
          <a:xfrm>
            <a:off x="9646920" y="548640"/>
            <a:ext cx="914400" cy="384048"/>
          </a:xfrm>
          <a:prstGeom prst="roundRect">
            <a:avLst>
              <a:gd name="adj" fmla="val 14286"/>
            </a:avLst>
          </a:prstGeom>
          <a:solidFill>
            <a:schemeClr val="accent1"/>
          </a:solidFill>
          <a:ln/>
        </p:spPr>
        <p:txBody>
          <a:bodyPr wrap="square" lIns="0" tIns="50800" rIns="50800" bIns="0" rtlCol="0" anchor="ctr"/>
          <a:lstStyle/>
          <a:p>
            <a:pPr algn="ctr" indent="0" marL="0">
              <a:buNone/>
            </a:pPr>
            <a:r>
              <a:rPr lang="en-US" sz="1300" b="1" dirty="0">
                <a:solidFill>
                  <a:schemeClr val="bg1"/>
                </a:solidFill>
              </a:rPr>
              <a:t>Lab 2</a:t>
            </a:r>
            <a:endParaRPr lang="en-US" sz="1300" dirty="0"/>
          </a:p>
        </p:txBody>
      </p:sp>
      <p:sp>
        <p:nvSpPr>
          <p:cNvPr id="5" name="chip_476"/>
          <p:cNvSpPr txBox="1"/>
          <p:nvPr/>
        </p:nvSpPr>
        <p:spPr>
          <a:xfrm>
            <a:off x="10680192" y="548640"/>
            <a:ext cx="960120" cy="384048"/>
          </a:xfrm>
          <a:prstGeom prst="roundRect">
            <a:avLst>
              <a:gd name="adj" fmla="val 14286"/>
            </a:avLst>
          </a:prstGeom>
          <a:solidFill>
            <a:schemeClr val="bg2"/>
          </a:solidFill>
          <a:ln/>
        </p:spPr>
        <p:txBody>
          <a:bodyPr wrap="square" lIns="0" tIns="50800" rIns="50800" bIns="0" rtlCol="0" anchor="ctr"/>
          <a:lstStyle/>
          <a:p>
            <a:pPr algn="ctr" indent="0" marL="0">
              <a:buNone/>
            </a:pPr>
            <a:r>
              <a:rPr lang="en-US" sz="1300" b="1" dirty="0">
                <a:solidFill>
                  <a:schemeClr val="tx2"/>
                </a:solidFill>
              </a:rPr>
              <a:t>15분</a:t>
            </a:r>
            <a:endParaRPr lang="en-US" sz="1300" dirty="0"/>
          </a:p>
        </p:txBody>
      </p:sp>
      <p:sp>
        <p:nvSpPr>
          <p:cNvPr id="6" name="prompt_477"/>
          <p:cNvSpPr/>
          <p:nvPr/>
        </p:nvSpPr>
        <p:spPr>
          <a:xfrm>
            <a:off x="548640" y="1371600"/>
            <a:ext cx="6355080" cy="3794760"/>
          </a:xfrm>
          <a:prstGeom prst="roundRect">
            <a:avLst>
              <a:gd name="adj" fmla="val 1928"/>
            </a:avLst>
          </a:prstGeom>
          <a:solidFill>
            <a:schemeClr val="accent2">
              <a:alpha val="14000"/>
            </a:schemeClr>
          </a:solidFill>
          <a:ln w="9525">
            <a:solidFill>
              <a:schemeClr val="accent2"/>
            </a:solidFill>
            <a:prstDash val="solid"/>
          </a:ln>
        </p:spPr>
      </p:sp>
      <p:sp>
        <p:nvSpPr>
          <p:cNvPr id="7" name="chip_478"/>
          <p:cNvSpPr txBox="1"/>
          <p:nvPr/>
        </p:nvSpPr>
        <p:spPr>
          <a:xfrm>
            <a:off x="713232" y="1490472"/>
            <a:ext cx="1234440" cy="274320"/>
          </a:xfrm>
          <a:prstGeom prst="roundRect">
            <a:avLst>
              <a:gd name="adj" fmla="val 2000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2-1</a:t>
            </a:r>
            <a:endParaRPr lang="en-US" sz="1100" dirty="0"/>
          </a:p>
        </p:txBody>
      </p:sp>
      <p:sp>
        <p:nvSpPr>
          <p:cNvPr id="8" name="text_479"/>
          <p:cNvSpPr txBox="1"/>
          <p:nvPr/>
        </p:nvSpPr>
        <p:spPr>
          <a:xfrm>
            <a:off x="731520" y="1874520"/>
            <a:ext cx="5989320" cy="3172968"/>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TestCases/MCP실습/[내 이름] 폴더에 '로그인 실패_수동' 수동 테스트케이스를 만들어줘.</a:t>
            </a:r>
            <a:endParaRPr lang="en-US" sz="1300" dirty="0"/>
          </a:p>
          <a:p>
            <a:pPr indent="0" marL="0">
              <a:lnSpc>
                <a:spcPct val="105000"/>
              </a:lnSpc>
              <a:buNone/>
            </a:pPr>
            <a:r>
              <a:rPr lang="en-US" sz="1300" dirty="0">
                <a:solidFill>
                  <a:schemeClr val="tx1"/>
                </a:solidFill>
              </a:rPr>
              <a:t>설명: 틀린 비밀번호로 로그인하면 오류 문구가 나오는지 확인한다.</a:t>
            </a:r>
            <a:endParaRPr lang="en-US" sz="1300" dirty="0"/>
          </a:p>
          <a:p>
            <a:pPr indent="0" marL="0">
              <a:lnSpc>
                <a:spcPct val="105000"/>
              </a:lnSpc>
              <a:buNone/>
            </a:pPr>
            <a:r>
              <a:rPr lang="en-US" sz="1300" dirty="0">
                <a:solidFill>
                  <a:schemeClr val="tx1"/>
                </a:solidFill>
              </a:rPr>
              <a:t>스텝 (지시 / 기대 결과):</a:t>
            </a:r>
            <a:endParaRPr lang="en-US" sz="1300" dirty="0"/>
          </a:p>
          <a:p>
            <a:pPr indent="0" marL="0">
              <a:lnSpc>
                <a:spcPct val="105000"/>
              </a:lnSpc>
              <a:buNone/>
            </a:pPr>
            <a:r>
              <a:rPr lang="en-US" sz="1300" dirty="0">
                <a:solidFill>
                  <a:schemeClr val="tx1"/>
                </a:solidFill>
              </a:rPr>
              <a:t>1. 브라우저에서 https://demowebshop.tricentis.com 에 접속한다 / 메인 화면이 열린다</a:t>
            </a:r>
            <a:endParaRPr lang="en-US" sz="1300" dirty="0"/>
          </a:p>
          <a:p>
            <a:pPr indent="0" marL="0">
              <a:lnSpc>
                <a:spcPct val="105000"/>
              </a:lnSpc>
              <a:buNone/>
            </a:pPr>
            <a:r>
              <a:rPr lang="en-US" sz="1300" dirty="0">
                <a:solidFill>
                  <a:schemeClr val="tx1"/>
                </a:solidFill>
              </a:rPr>
              <a:t>2. 상단의 Log in 링크를 클릭한다 / 로그인 화면이 열린다</a:t>
            </a:r>
            <a:endParaRPr lang="en-US" sz="1300" dirty="0"/>
          </a:p>
          <a:p>
            <a:pPr indent="0" marL="0">
              <a:lnSpc>
                <a:spcPct val="105000"/>
              </a:lnSpc>
              <a:buNone/>
            </a:pPr>
            <a:r>
              <a:rPr lang="en-US" sz="1300" dirty="0">
                <a:solidFill>
                  <a:schemeClr val="tx1"/>
                </a:solidFill>
              </a:rPr>
              <a:t>3. 실습 계정 이메일과 틀린 비밀번호를 넣고 Log in 버튼을 클릭한다 / 'Login was unsuccessful' 문구가 보인다</a:t>
            </a:r>
            <a:endParaRPr lang="en-US" sz="1300" dirty="0"/>
          </a:p>
          <a:p>
            <a:pPr indent="0" marL="0">
              <a:lnSpc>
                <a:spcPct val="105000"/>
              </a:lnSpc>
              <a:buNone/>
            </a:pPr>
            <a:r>
              <a:rPr lang="en-US" sz="1300" dirty="0">
                <a:solidFill>
                  <a:schemeClr val="tx1"/>
                </a:solidFill>
              </a:rPr>
              <a:t>작업 상태(TestCaseWorkState)는 IN_WORK로 해줘.</a:t>
            </a:r>
            <a:endParaRPr lang="en-US" sz="1300" dirty="0"/>
          </a:p>
          <a:p>
            <a:pPr indent="0" marL="0">
              <a:lnSpc>
                <a:spcPct val="105000"/>
              </a:lnSpc>
              <a:buNone/>
            </a:pPr>
            <a:r>
              <a:rPr lang="en-US" sz="1300" dirty="0">
                <a:solidFill>
                  <a:schemeClr val="tx1"/>
                </a:solidFill>
              </a:rPr>
              <a:t>만들기 전에 어떤 순서로 작업할지 먼저 보여줘.</a:t>
            </a:r>
            <a:endParaRPr lang="en-US" sz="1300" dirty="0"/>
          </a:p>
        </p:txBody>
      </p:sp>
      <p:sp>
        <p:nvSpPr>
          <p:cNvPr id="9" name="prompt_480"/>
          <p:cNvSpPr/>
          <p:nvPr/>
        </p:nvSpPr>
        <p:spPr>
          <a:xfrm>
            <a:off x="548640" y="5303520"/>
            <a:ext cx="6355080" cy="868680"/>
          </a:xfrm>
          <a:prstGeom prst="roundRect">
            <a:avLst>
              <a:gd name="adj" fmla="val 8421"/>
            </a:avLst>
          </a:prstGeom>
          <a:solidFill>
            <a:schemeClr val="accent2">
              <a:alpha val="14000"/>
            </a:schemeClr>
          </a:solidFill>
          <a:ln w="9525">
            <a:solidFill>
              <a:schemeClr val="accent2"/>
            </a:solidFill>
            <a:prstDash val="solid"/>
          </a:ln>
        </p:spPr>
      </p:sp>
      <p:sp>
        <p:nvSpPr>
          <p:cNvPr id="10" name="chip_481"/>
          <p:cNvSpPr txBox="1"/>
          <p:nvPr/>
        </p:nvSpPr>
        <p:spPr>
          <a:xfrm>
            <a:off x="713232" y="5422392"/>
            <a:ext cx="1234440" cy="274320"/>
          </a:xfrm>
          <a:prstGeom prst="roundRect">
            <a:avLst>
              <a:gd name="adj" fmla="val 2000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2-2</a:t>
            </a:r>
            <a:endParaRPr lang="en-US" sz="1100" dirty="0"/>
          </a:p>
        </p:txBody>
      </p:sp>
      <p:sp>
        <p:nvSpPr>
          <p:cNvPr id="11" name="text_482"/>
          <p:cNvSpPr txBox="1"/>
          <p:nvPr/>
        </p:nvSpPr>
        <p:spPr>
          <a:xfrm>
            <a:off x="731520" y="5806440"/>
            <a:ext cx="5989320" cy="246888"/>
          </a:xfrm>
          <a:prstGeom prst="rect">
            <a:avLst/>
          </a:prstGeom>
          <a:noFill/>
          <a:ln/>
        </p:spPr>
        <p:txBody>
          <a:bodyPr wrap="square" lIns="0" tIns="0" rIns="0" bIns="0" rtlCol="0" anchor="t"/>
          <a:lstStyle/>
          <a:p>
            <a:pPr indent="0" marL="0">
              <a:lnSpc>
                <a:spcPct val="105000"/>
              </a:lnSpc>
              <a:buNone/>
            </a:pPr>
            <a:r>
              <a:rPr lang="en-US" sz="1200" dirty="0">
                <a:solidFill>
                  <a:schemeClr val="tx1"/>
                </a:solidFill>
              </a:rPr>
              <a:t>좋아, 그 순서대로 진행해줘. 끝나면 만든 테스트케이스의 스텝을 다시 읽어서 보여줘.</a:t>
            </a:r>
            <a:endParaRPr lang="en-US" sz="1200" dirty="0"/>
          </a:p>
        </p:txBody>
      </p:sp>
      <p:sp>
        <p:nvSpPr>
          <p:cNvPr id="12" name="tree_483"/>
          <p:cNvSpPr/>
          <p:nvPr/>
        </p:nvSpPr>
        <p:spPr>
          <a:xfrm>
            <a:off x="7223760" y="1371600"/>
            <a:ext cx="4416552" cy="2514600"/>
          </a:xfrm>
          <a:prstGeom prst="roundRect">
            <a:avLst>
              <a:gd name="adj" fmla="val 3636"/>
            </a:avLst>
          </a:prstGeom>
          <a:solidFill>
            <a:schemeClr val="bg1"/>
          </a:solidFill>
          <a:ln w="12700">
            <a:solidFill>
              <a:schemeClr val="accent3"/>
            </a:solidFill>
            <a:prstDash val="solid"/>
          </a:ln>
          <a:effectLst>
            <a:outerShdw sx="100000" sy="100000" kx="0" ky="0" algn="bl" rotWithShape="0" blurRad="76200" dist="25400" dir="5400000">
              <a:srgbClr val="1E2B2F">
                <a:alpha val="12000"/>
              </a:srgbClr>
            </a:outerShdw>
          </a:effectLst>
        </p:spPr>
      </p:sp>
      <p:sp>
        <p:nvSpPr>
          <p:cNvPr id="13" name="treehead_484"/>
          <p:cNvSpPr/>
          <p:nvPr/>
        </p:nvSpPr>
        <p:spPr>
          <a:xfrm>
            <a:off x="7223760" y="1371600"/>
            <a:ext cx="4416552" cy="384048"/>
          </a:xfrm>
          <a:prstGeom prst="roundRect">
            <a:avLst>
              <a:gd name="adj" fmla="val 23810"/>
            </a:avLst>
          </a:prstGeom>
          <a:solidFill>
            <a:schemeClr val="bg2"/>
          </a:solidFill>
          <a:ln/>
        </p:spPr>
      </p:sp>
      <p:sp>
        <p:nvSpPr>
          <p:cNvPr id="14" name="treehead2_485"/>
          <p:cNvSpPr/>
          <p:nvPr/>
        </p:nvSpPr>
        <p:spPr>
          <a:xfrm>
            <a:off x="7223760" y="1627632"/>
            <a:ext cx="4416552" cy="128016"/>
          </a:xfrm>
          <a:prstGeom prst="rect">
            <a:avLst/>
          </a:prstGeom>
          <a:solidFill>
            <a:schemeClr val="bg2"/>
          </a:solidFill>
          <a:ln/>
        </p:spPr>
      </p:sp>
      <p:sp>
        <p:nvSpPr>
          <p:cNvPr id="15" name="text_486"/>
          <p:cNvSpPr txBox="1"/>
          <p:nvPr/>
        </p:nvSpPr>
        <p:spPr>
          <a:xfrm>
            <a:off x="7406640" y="1426464"/>
            <a:ext cx="4050792" cy="274320"/>
          </a:xfrm>
          <a:prstGeom prst="rect">
            <a:avLst/>
          </a:prstGeom>
          <a:noFill/>
          <a:ln/>
        </p:spPr>
        <p:txBody>
          <a:bodyPr wrap="square" lIns="0" tIns="0" rIns="0" bIns="0" rtlCol="0" anchor="ctr"/>
          <a:lstStyle/>
          <a:p>
            <a:pPr indent="0" marL="0">
              <a:buNone/>
            </a:pPr>
            <a:r>
              <a:rPr lang="en-US" sz="1100" b="1" dirty="0">
                <a:solidFill>
                  <a:schemeClr val="tx2"/>
                </a:solidFill>
              </a:rPr>
              <a:t>Commander에서 확인</a:t>
            </a:r>
            <a:endParaRPr lang="en-US" sz="1100" dirty="0"/>
          </a:p>
        </p:txBody>
      </p:sp>
      <p:pic>
        <p:nvPicPr>
          <p:cNvPr id="16" name="icon_487" descr="preencoded.png">    </p:cNvPr>
          <p:cNvPicPr>
            <a:picLocks noChangeAspect="1"/>
          </p:cNvPicPr>
          <p:nvPr/>
        </p:nvPicPr>
        <p:blipFill>
          <a:blip r:embed="rId1"/>
          <a:stretch>
            <a:fillRect/>
          </a:stretch>
        </p:blipFill>
        <p:spPr>
          <a:xfrm>
            <a:off x="7452360" y="1975104"/>
            <a:ext cx="201168" cy="201168"/>
          </a:xfrm>
          <a:prstGeom prst="rect">
            <a:avLst/>
          </a:prstGeom>
        </p:spPr>
      </p:pic>
      <p:sp>
        <p:nvSpPr>
          <p:cNvPr id="17" name="text_488"/>
          <p:cNvSpPr txBox="1"/>
          <p:nvPr/>
        </p:nvSpPr>
        <p:spPr>
          <a:xfrm>
            <a:off x="7726680" y="1920240"/>
            <a:ext cx="3776472" cy="347472"/>
          </a:xfrm>
          <a:prstGeom prst="rect">
            <a:avLst/>
          </a:prstGeom>
          <a:noFill/>
          <a:ln/>
        </p:spPr>
        <p:txBody>
          <a:bodyPr wrap="square" lIns="0" tIns="0" rIns="0" bIns="0" rtlCol="0" anchor="ctr"/>
          <a:lstStyle/>
          <a:p>
            <a:pPr indent="0" marL="0">
              <a:buNone/>
            </a:pPr>
            <a:r>
              <a:rPr lang="en-US" sz="1200" dirty="0">
                <a:solidFill>
                  <a:schemeClr val="tx1"/>
                </a:solidFill>
              </a:rPr>
              <a:t>TestCases / MCP실습 / 홍길동</a:t>
            </a:r>
            <a:endParaRPr lang="en-US" sz="1200" dirty="0"/>
          </a:p>
        </p:txBody>
      </p:sp>
      <p:pic>
        <p:nvPicPr>
          <p:cNvPr id="18" name="icon_489" descr="preencoded.png">    </p:cNvPr>
          <p:cNvPicPr>
            <a:picLocks noChangeAspect="1"/>
          </p:cNvPicPr>
          <p:nvPr/>
        </p:nvPicPr>
        <p:blipFill>
          <a:blip r:embed="rId2"/>
          <a:stretch>
            <a:fillRect/>
          </a:stretch>
        </p:blipFill>
        <p:spPr>
          <a:xfrm>
            <a:off x="7744968" y="2322576"/>
            <a:ext cx="201168" cy="201168"/>
          </a:xfrm>
          <a:prstGeom prst="rect">
            <a:avLst/>
          </a:prstGeom>
        </p:spPr>
      </p:pic>
      <p:sp>
        <p:nvSpPr>
          <p:cNvPr id="19" name="text_490"/>
          <p:cNvSpPr txBox="1"/>
          <p:nvPr/>
        </p:nvSpPr>
        <p:spPr>
          <a:xfrm>
            <a:off x="8019288" y="2267712"/>
            <a:ext cx="3483864" cy="347472"/>
          </a:xfrm>
          <a:prstGeom prst="rect">
            <a:avLst/>
          </a:prstGeom>
          <a:noFill/>
          <a:ln/>
        </p:spPr>
        <p:txBody>
          <a:bodyPr wrap="square" lIns="0" tIns="0" rIns="0" bIns="0" rtlCol="0" anchor="ctr"/>
          <a:lstStyle/>
          <a:p>
            <a:pPr indent="0" marL="0">
              <a:buNone/>
            </a:pPr>
            <a:r>
              <a:rPr lang="en-US" sz="1200" b="1" dirty="0">
                <a:solidFill>
                  <a:schemeClr val="tx1"/>
                </a:solidFill>
              </a:rPr>
              <a:t>로그인 실패_수동</a:t>
            </a:r>
            <a:endParaRPr lang="en-US" sz="1200" dirty="0"/>
          </a:p>
        </p:txBody>
      </p:sp>
      <p:pic>
        <p:nvPicPr>
          <p:cNvPr id="20" name="icon_491" descr="preencoded.png">    </p:cNvPr>
          <p:cNvPicPr>
            <a:picLocks noChangeAspect="1"/>
          </p:cNvPicPr>
          <p:nvPr/>
        </p:nvPicPr>
        <p:blipFill>
          <a:blip r:embed="rId3"/>
          <a:stretch>
            <a:fillRect/>
          </a:stretch>
        </p:blipFill>
        <p:spPr>
          <a:xfrm>
            <a:off x="8037576" y="2670048"/>
            <a:ext cx="201168" cy="201168"/>
          </a:xfrm>
          <a:prstGeom prst="rect">
            <a:avLst/>
          </a:prstGeom>
        </p:spPr>
      </p:pic>
      <p:sp>
        <p:nvSpPr>
          <p:cNvPr id="21" name="text_492"/>
          <p:cNvSpPr txBox="1"/>
          <p:nvPr/>
        </p:nvSpPr>
        <p:spPr>
          <a:xfrm>
            <a:off x="8311896" y="2615184"/>
            <a:ext cx="3191256" cy="347472"/>
          </a:xfrm>
          <a:prstGeom prst="rect">
            <a:avLst/>
          </a:prstGeom>
          <a:noFill/>
          <a:ln/>
        </p:spPr>
        <p:txBody>
          <a:bodyPr wrap="square" lIns="0" tIns="0" rIns="0" bIns="0" rtlCol="0" anchor="ctr"/>
          <a:lstStyle/>
          <a:p>
            <a:pPr indent="0" marL="0">
              <a:buNone/>
            </a:pPr>
            <a:r>
              <a:rPr lang="en-US" sz="1200" dirty="0">
                <a:solidFill>
                  <a:schemeClr val="tx1"/>
                </a:solidFill>
              </a:rPr>
              <a:t>1. 사이트 접속</a:t>
            </a:r>
            <a:endParaRPr lang="en-US" sz="1200" dirty="0"/>
          </a:p>
        </p:txBody>
      </p:sp>
      <p:pic>
        <p:nvPicPr>
          <p:cNvPr id="22" name="icon_493" descr="preencoded.png">    </p:cNvPr>
          <p:cNvPicPr>
            <a:picLocks noChangeAspect="1"/>
          </p:cNvPicPr>
          <p:nvPr/>
        </p:nvPicPr>
        <p:blipFill>
          <a:blip r:embed="rId4"/>
          <a:stretch>
            <a:fillRect/>
          </a:stretch>
        </p:blipFill>
        <p:spPr>
          <a:xfrm>
            <a:off x="8037576" y="3017520"/>
            <a:ext cx="201168" cy="201168"/>
          </a:xfrm>
          <a:prstGeom prst="rect">
            <a:avLst/>
          </a:prstGeom>
        </p:spPr>
      </p:pic>
      <p:sp>
        <p:nvSpPr>
          <p:cNvPr id="23" name="text_494"/>
          <p:cNvSpPr txBox="1"/>
          <p:nvPr/>
        </p:nvSpPr>
        <p:spPr>
          <a:xfrm>
            <a:off x="8311896" y="2962656"/>
            <a:ext cx="3191256" cy="347472"/>
          </a:xfrm>
          <a:prstGeom prst="rect">
            <a:avLst/>
          </a:prstGeom>
          <a:noFill/>
          <a:ln/>
        </p:spPr>
        <p:txBody>
          <a:bodyPr wrap="square" lIns="0" tIns="0" rIns="0" bIns="0" rtlCol="0" anchor="ctr"/>
          <a:lstStyle/>
          <a:p>
            <a:pPr indent="0" marL="0">
              <a:buNone/>
            </a:pPr>
            <a:r>
              <a:rPr lang="en-US" sz="1200" dirty="0">
                <a:solidFill>
                  <a:schemeClr val="tx1"/>
                </a:solidFill>
              </a:rPr>
              <a:t>2. Log in 링크 클릭</a:t>
            </a:r>
            <a:endParaRPr lang="en-US" sz="1200" dirty="0"/>
          </a:p>
        </p:txBody>
      </p:sp>
      <p:pic>
        <p:nvPicPr>
          <p:cNvPr id="24" name="icon_495" descr="preencoded.png">    </p:cNvPr>
          <p:cNvPicPr>
            <a:picLocks noChangeAspect="1"/>
          </p:cNvPicPr>
          <p:nvPr/>
        </p:nvPicPr>
        <p:blipFill>
          <a:blip r:embed="rId5"/>
          <a:stretch>
            <a:fillRect/>
          </a:stretch>
        </p:blipFill>
        <p:spPr>
          <a:xfrm>
            <a:off x="8037576" y="3364992"/>
            <a:ext cx="201168" cy="201168"/>
          </a:xfrm>
          <a:prstGeom prst="rect">
            <a:avLst/>
          </a:prstGeom>
        </p:spPr>
      </p:pic>
      <p:sp>
        <p:nvSpPr>
          <p:cNvPr id="25" name="text_496"/>
          <p:cNvSpPr txBox="1"/>
          <p:nvPr/>
        </p:nvSpPr>
        <p:spPr>
          <a:xfrm>
            <a:off x="8311896" y="3310128"/>
            <a:ext cx="3191256" cy="347472"/>
          </a:xfrm>
          <a:prstGeom prst="rect">
            <a:avLst/>
          </a:prstGeom>
          <a:noFill/>
          <a:ln/>
        </p:spPr>
        <p:txBody>
          <a:bodyPr wrap="square" lIns="0" tIns="0" rIns="0" bIns="0" rtlCol="0" anchor="ctr"/>
          <a:lstStyle/>
          <a:p>
            <a:pPr indent="0" marL="0">
              <a:buNone/>
            </a:pPr>
            <a:r>
              <a:rPr lang="en-US" sz="1200" dirty="0">
                <a:solidFill>
                  <a:schemeClr val="tx1"/>
                </a:solidFill>
              </a:rPr>
              <a:t>3. 틀린 비밀번호로 로그인</a:t>
            </a:r>
            <a:endParaRPr lang="en-US" sz="1200" dirty="0"/>
          </a:p>
        </p:txBody>
      </p:sp>
      <p:sp>
        <p:nvSpPr>
          <p:cNvPr id="26" name="text_497"/>
          <p:cNvSpPr txBox="1"/>
          <p:nvPr/>
        </p:nvSpPr>
        <p:spPr>
          <a:xfrm>
            <a:off x="7223760" y="4069080"/>
            <a:ext cx="4389120" cy="320040"/>
          </a:xfrm>
          <a:prstGeom prst="rect">
            <a:avLst/>
          </a:prstGeom>
          <a:noFill/>
          <a:ln/>
        </p:spPr>
        <p:txBody>
          <a:bodyPr wrap="square" lIns="0" tIns="0" rIns="0" bIns="0" rtlCol="0" anchor="ctr"/>
          <a:lstStyle/>
          <a:p>
            <a:pPr indent="0" marL="0">
              <a:buNone/>
            </a:pPr>
            <a:r>
              <a:rPr lang="en-US" sz="1400" b="1" dirty="0">
                <a:solidFill>
                  <a:schemeClr val="tx2"/>
                </a:solidFill>
              </a:rPr>
              <a:t>확인 포인트</a:t>
            </a:r>
            <a:endParaRPr lang="en-US" sz="1400" dirty="0"/>
          </a:p>
        </p:txBody>
      </p:sp>
      <p:sp>
        <p:nvSpPr>
          <p:cNvPr id="27" name="checkbox_498"/>
          <p:cNvSpPr/>
          <p:nvPr/>
        </p:nvSpPr>
        <p:spPr>
          <a:xfrm>
            <a:off x="7223760" y="4498848"/>
            <a:ext cx="219456" cy="219456"/>
          </a:xfrm>
          <a:prstGeom prst="roundRect">
            <a:avLst>
              <a:gd name="adj" fmla="val 16667"/>
            </a:avLst>
          </a:prstGeom>
          <a:solidFill>
            <a:schemeClr val="bg1"/>
          </a:solidFill>
          <a:ln w="12700">
            <a:solidFill>
              <a:schemeClr val="accent1"/>
            </a:solidFill>
            <a:prstDash val="solid"/>
          </a:ln>
        </p:spPr>
      </p:sp>
      <p:sp>
        <p:nvSpPr>
          <p:cNvPr id="28" name="text_499"/>
          <p:cNvSpPr txBox="1"/>
          <p:nvPr/>
        </p:nvSpPr>
        <p:spPr>
          <a:xfrm>
            <a:off x="7571232" y="4434840"/>
            <a:ext cx="4069080" cy="457200"/>
          </a:xfrm>
          <a:prstGeom prst="rect">
            <a:avLst/>
          </a:prstGeom>
          <a:noFill/>
          <a:ln/>
        </p:spPr>
        <p:txBody>
          <a:bodyPr wrap="square" lIns="0" tIns="0" rIns="0" bIns="0" rtlCol="0" anchor="ctr"/>
          <a:lstStyle/>
          <a:p>
            <a:pPr indent="0" marL="0">
              <a:buNone/>
            </a:pPr>
            <a:r>
              <a:rPr lang="en-US" sz="1300" dirty="0">
                <a:solidFill>
                  <a:schemeClr val="tx1"/>
                </a:solidFill>
              </a:rPr>
              <a:t>경로가 TestCases/MCP실습/[내 이름]/로그인 실패_수동 이다</a:t>
            </a:r>
            <a:endParaRPr lang="en-US" sz="1300" dirty="0"/>
          </a:p>
        </p:txBody>
      </p:sp>
      <p:sp>
        <p:nvSpPr>
          <p:cNvPr id="29" name="checkbox_500"/>
          <p:cNvSpPr/>
          <p:nvPr/>
        </p:nvSpPr>
        <p:spPr>
          <a:xfrm>
            <a:off x="7223760" y="4956048"/>
            <a:ext cx="219456" cy="219456"/>
          </a:xfrm>
          <a:prstGeom prst="roundRect">
            <a:avLst>
              <a:gd name="adj" fmla="val 16667"/>
            </a:avLst>
          </a:prstGeom>
          <a:solidFill>
            <a:schemeClr val="bg1"/>
          </a:solidFill>
          <a:ln w="12700">
            <a:solidFill>
              <a:schemeClr val="accent1"/>
            </a:solidFill>
            <a:prstDash val="solid"/>
          </a:ln>
        </p:spPr>
      </p:sp>
      <p:sp>
        <p:nvSpPr>
          <p:cNvPr id="30" name="text_501"/>
          <p:cNvSpPr txBox="1"/>
          <p:nvPr/>
        </p:nvSpPr>
        <p:spPr>
          <a:xfrm>
            <a:off x="7571232" y="4892040"/>
            <a:ext cx="4069080" cy="457200"/>
          </a:xfrm>
          <a:prstGeom prst="rect">
            <a:avLst/>
          </a:prstGeom>
          <a:noFill/>
          <a:ln/>
        </p:spPr>
        <p:txBody>
          <a:bodyPr wrap="square" lIns="0" tIns="0" rIns="0" bIns="0" rtlCol="0" anchor="ctr"/>
          <a:lstStyle/>
          <a:p>
            <a:pPr indent="0" marL="0">
              <a:buNone/>
            </a:pPr>
            <a:r>
              <a:rPr lang="en-US" sz="1300" dirty="0">
                <a:solidFill>
                  <a:schemeClr val="tx1"/>
                </a:solidFill>
              </a:rPr>
              <a:t>스텝 3개에 지시와 기대 결과가 모두 들어갔다</a:t>
            </a:r>
            <a:endParaRPr lang="en-US" sz="1300" dirty="0"/>
          </a:p>
        </p:txBody>
      </p:sp>
      <p:sp>
        <p:nvSpPr>
          <p:cNvPr id="31" name="checkbox_502"/>
          <p:cNvSpPr/>
          <p:nvPr/>
        </p:nvSpPr>
        <p:spPr>
          <a:xfrm>
            <a:off x="7223760" y="5413248"/>
            <a:ext cx="219456" cy="219456"/>
          </a:xfrm>
          <a:prstGeom prst="roundRect">
            <a:avLst>
              <a:gd name="adj" fmla="val 16667"/>
            </a:avLst>
          </a:prstGeom>
          <a:solidFill>
            <a:schemeClr val="bg1"/>
          </a:solidFill>
          <a:ln w="12700">
            <a:solidFill>
              <a:schemeClr val="accent1"/>
            </a:solidFill>
            <a:prstDash val="solid"/>
          </a:ln>
        </p:spPr>
      </p:sp>
      <p:sp>
        <p:nvSpPr>
          <p:cNvPr id="32" name="text_503"/>
          <p:cNvSpPr txBox="1"/>
          <p:nvPr/>
        </p:nvSpPr>
        <p:spPr>
          <a:xfrm>
            <a:off x="7571232" y="5349240"/>
            <a:ext cx="4069080" cy="457200"/>
          </a:xfrm>
          <a:prstGeom prst="rect">
            <a:avLst/>
          </a:prstGeom>
          <a:noFill/>
          <a:ln/>
        </p:spPr>
        <p:txBody>
          <a:bodyPr wrap="square" lIns="0" tIns="0" rIns="0" bIns="0" rtlCol="0" anchor="ctr"/>
          <a:lstStyle/>
          <a:p>
            <a:pPr indent="0" marL="0">
              <a:buNone/>
            </a:pPr>
            <a:r>
              <a:rPr lang="en-US" sz="1300" dirty="0">
                <a:solidFill>
                  <a:schemeClr val="tx1"/>
                </a:solidFill>
              </a:rPr>
              <a:t>Commander에서 테스트케이스를 직접 열어 확인했다</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Lab 3  자동 테스트케이스 (1) 계획 받기</a:t>
            </a:r>
            <a:endParaRPr lang="en-US" sz="3200" dirty="0"/>
          </a:p>
        </p:txBody>
      </p:sp>
      <p:sp>
        <p:nvSpPr>
          <p:cNvPr id="4" name="chip_504"/>
          <p:cNvSpPr txBox="1"/>
          <p:nvPr/>
        </p:nvSpPr>
        <p:spPr>
          <a:xfrm>
            <a:off x="9646920" y="548640"/>
            <a:ext cx="914400" cy="384048"/>
          </a:xfrm>
          <a:prstGeom prst="roundRect">
            <a:avLst>
              <a:gd name="adj" fmla="val 14286"/>
            </a:avLst>
          </a:prstGeom>
          <a:solidFill>
            <a:schemeClr val="accent1"/>
          </a:solidFill>
          <a:ln/>
        </p:spPr>
        <p:txBody>
          <a:bodyPr wrap="square" lIns="0" tIns="50800" rIns="50800" bIns="0" rtlCol="0" anchor="ctr"/>
          <a:lstStyle/>
          <a:p>
            <a:pPr algn="ctr" indent="0" marL="0">
              <a:buNone/>
            </a:pPr>
            <a:r>
              <a:rPr lang="en-US" sz="1300" b="1" dirty="0">
                <a:solidFill>
                  <a:schemeClr val="bg1"/>
                </a:solidFill>
              </a:rPr>
              <a:t>Lab 3</a:t>
            </a:r>
            <a:endParaRPr lang="en-US" sz="1300" dirty="0"/>
          </a:p>
        </p:txBody>
      </p:sp>
      <p:sp>
        <p:nvSpPr>
          <p:cNvPr id="5" name="chip_505"/>
          <p:cNvSpPr txBox="1"/>
          <p:nvPr/>
        </p:nvSpPr>
        <p:spPr>
          <a:xfrm>
            <a:off x="10680192" y="548640"/>
            <a:ext cx="960120" cy="384048"/>
          </a:xfrm>
          <a:prstGeom prst="roundRect">
            <a:avLst>
              <a:gd name="adj" fmla="val 14286"/>
            </a:avLst>
          </a:prstGeom>
          <a:solidFill>
            <a:schemeClr val="bg2"/>
          </a:solidFill>
          <a:ln/>
        </p:spPr>
        <p:txBody>
          <a:bodyPr wrap="square" lIns="0" tIns="50800" rIns="50800" bIns="0" rtlCol="0" anchor="ctr"/>
          <a:lstStyle/>
          <a:p>
            <a:pPr algn="ctr" indent="0" marL="0">
              <a:buNone/>
            </a:pPr>
            <a:r>
              <a:rPr lang="en-US" sz="1300" b="1" dirty="0">
                <a:solidFill>
                  <a:schemeClr val="tx2"/>
                </a:solidFill>
              </a:rPr>
              <a:t>25분</a:t>
            </a:r>
            <a:endParaRPr lang="en-US" sz="1300" dirty="0"/>
          </a:p>
        </p:txBody>
      </p:sp>
      <p:sp>
        <p:nvSpPr>
          <p:cNvPr id="6" name="prompt_506"/>
          <p:cNvSpPr/>
          <p:nvPr/>
        </p:nvSpPr>
        <p:spPr>
          <a:xfrm>
            <a:off x="548640" y="1371600"/>
            <a:ext cx="5806440" cy="4800600"/>
          </a:xfrm>
          <a:prstGeom prst="roundRect">
            <a:avLst>
              <a:gd name="adj" fmla="val 1524"/>
            </a:avLst>
          </a:prstGeom>
          <a:solidFill>
            <a:schemeClr val="accent2">
              <a:alpha val="14000"/>
            </a:schemeClr>
          </a:solidFill>
          <a:ln w="9525">
            <a:solidFill>
              <a:schemeClr val="accent2"/>
            </a:solidFill>
            <a:prstDash val="solid"/>
          </a:ln>
        </p:spPr>
      </p:sp>
      <p:sp>
        <p:nvSpPr>
          <p:cNvPr id="7" name="chip_507"/>
          <p:cNvSpPr txBox="1"/>
          <p:nvPr/>
        </p:nvSpPr>
        <p:spPr>
          <a:xfrm>
            <a:off x="713232" y="1490472"/>
            <a:ext cx="1234440" cy="274320"/>
          </a:xfrm>
          <a:prstGeom prst="roundRect">
            <a:avLst>
              <a:gd name="adj" fmla="val 2000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3-1</a:t>
            </a:r>
            <a:endParaRPr lang="en-US" sz="1100" dirty="0"/>
          </a:p>
        </p:txBody>
      </p:sp>
      <p:sp>
        <p:nvSpPr>
          <p:cNvPr id="8" name="text_508"/>
          <p:cNvSpPr txBox="1"/>
          <p:nvPr/>
        </p:nvSpPr>
        <p:spPr>
          <a:xfrm>
            <a:off x="731520" y="1874520"/>
            <a:ext cx="5440680" cy="4178808"/>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TestCases/MCP실습/[내 이름] 폴더에 '로그인 성공_자동' 자동화 테스트케이스를 만들려고 해. 아직 만들지 말고 계획만 보여줘.</a:t>
            </a:r>
            <a:endParaRPr lang="en-US" sz="1250" dirty="0"/>
          </a:p>
          <a:p>
            <a:pPr indent="0" marL="0">
              <a:lnSpc>
                <a:spcPct val="105000"/>
              </a:lnSpc>
              <a:buNone/>
            </a:pPr>
            <a:r>
              <a:rPr lang="en-US" sz="1250" dirty="0">
                <a:solidFill>
                  <a:schemeClr val="tx1"/>
                </a:solidFill>
              </a:rPr>
              <a:t>- 모듈은 Modules/MCP실습 폴더와 표준 모듈(OpenUrl, CloseBrowser)에서만 찾아. 새로 스캔하지 마.</a:t>
            </a:r>
            <a:endParaRPr lang="en-US" sz="1250" dirty="0"/>
          </a:p>
          <a:p>
            <a:pPr indent="0" marL="0">
              <a:lnSpc>
                <a:spcPct val="105000"/>
              </a:lnSpc>
              <a:buNone/>
            </a:pPr>
            <a:r>
              <a:rPr lang="en-US" sz="1250" dirty="0">
                <a:solidFill>
                  <a:schemeClr val="tx1"/>
                </a:solidFill>
              </a:rPr>
              <a:t>- 시나리오:</a:t>
            </a:r>
            <a:endParaRPr lang="en-US" sz="1250" dirty="0"/>
          </a:p>
          <a:p>
            <a:pPr indent="0" marL="0">
              <a:lnSpc>
                <a:spcPct val="105000"/>
              </a:lnSpc>
              <a:buNone/>
            </a:pPr>
            <a:r>
              <a:rPr lang="en-US" sz="1250" dirty="0">
                <a:solidFill>
                  <a:schemeClr val="tx1"/>
                </a:solidFill>
              </a:rPr>
              <a:t>  1. https://demowebshop.tricentis.com 열기</a:t>
            </a:r>
            <a:endParaRPr lang="en-US" sz="1250" dirty="0"/>
          </a:p>
          <a:p>
            <a:pPr indent="0" marL="0">
              <a:lnSpc>
                <a:spcPct val="105000"/>
              </a:lnSpc>
              <a:buNone/>
            </a:pPr>
            <a:r>
              <a:rPr lang="en-US" sz="1250" dirty="0">
                <a:solidFill>
                  <a:schemeClr val="tx1"/>
                </a:solidFill>
              </a:rPr>
              <a:t>  2. Header 모듈의 Log in 클릭</a:t>
            </a:r>
            <a:endParaRPr lang="en-US" sz="1250" dirty="0"/>
          </a:p>
          <a:p>
            <a:pPr indent="0" marL="0">
              <a:lnSpc>
                <a:spcPct val="105000"/>
              </a:lnSpc>
              <a:buNone/>
            </a:pPr>
            <a:r>
              <a:rPr lang="en-US" sz="1250" dirty="0">
                <a:solidFill>
                  <a:schemeClr val="tx1"/>
                </a:solidFill>
              </a:rPr>
              <a:t>  3. Login 모듈에 Email [실습 이메일], Password [실습 비밀번호] 입력 후 Log in 클릭</a:t>
            </a:r>
            <a:endParaRPr lang="en-US" sz="1250" dirty="0"/>
          </a:p>
          <a:p>
            <a:pPr indent="0" marL="0">
              <a:lnSpc>
                <a:spcPct val="105000"/>
              </a:lnSpc>
              <a:buNone/>
            </a:pPr>
            <a:r>
              <a:rPr lang="en-US" sz="1250" dirty="0">
                <a:solidFill>
                  <a:schemeClr val="tx1"/>
                </a:solidFill>
              </a:rPr>
              <a:t>  4. Header 모듈의 Account 값이 [실습 이메일]과 같은지 Verify</a:t>
            </a:r>
            <a:endParaRPr lang="en-US" sz="1250" dirty="0"/>
          </a:p>
          <a:p>
            <a:pPr indent="0" marL="0">
              <a:lnSpc>
                <a:spcPct val="105000"/>
              </a:lnSpc>
              <a:buNone/>
            </a:pPr>
            <a:r>
              <a:rPr lang="en-US" sz="1250" dirty="0">
                <a:solidFill>
                  <a:schemeClr val="tx1"/>
                </a:solidFill>
              </a:rPr>
              <a:t>  5. Log out 클릭 후 브라우저 닫기</a:t>
            </a:r>
            <a:endParaRPr lang="en-US" sz="1250" dirty="0"/>
          </a:p>
          <a:p>
            <a:pPr indent="0" marL="0">
              <a:lnSpc>
                <a:spcPct val="105000"/>
              </a:lnSpc>
              <a:buNone/>
            </a:pPr>
            <a:r>
              <a:rPr lang="en-US" sz="1250" dirty="0">
                <a:solidFill>
                  <a:schemeClr val="tx1"/>
                </a:solidFill>
              </a:rPr>
              <a:t>- 스텝별로 모듈, 속성, 값, ActionMode를 표로 보여주고, 맞는 모듈을 못 찾은 스텝은 따로 표시해줘.</a:t>
            </a:r>
            <a:endParaRPr lang="en-US" sz="1250" dirty="0"/>
          </a:p>
        </p:txBody>
      </p:sp>
      <p:sp>
        <p:nvSpPr>
          <p:cNvPr id="9" name="text_509"/>
          <p:cNvSpPr txBox="1"/>
          <p:nvPr/>
        </p:nvSpPr>
        <p:spPr>
          <a:xfrm>
            <a:off x="6629400" y="1371600"/>
            <a:ext cx="4937760" cy="347472"/>
          </a:xfrm>
          <a:prstGeom prst="rect">
            <a:avLst/>
          </a:prstGeom>
          <a:noFill/>
          <a:ln/>
        </p:spPr>
        <p:txBody>
          <a:bodyPr wrap="square" lIns="0" tIns="0" rIns="0" bIns="0" rtlCol="0" anchor="ctr"/>
          <a:lstStyle/>
          <a:p>
            <a:pPr indent="0" marL="0">
              <a:buNone/>
            </a:pPr>
            <a:r>
              <a:rPr lang="en-US" sz="1400" b="1" dirty="0">
                <a:solidFill>
                  <a:schemeClr val="tx2"/>
                </a:solidFill>
              </a:rPr>
              <a:t>AI가 돌려주는 계획 (예시)</a:t>
            </a:r>
            <a:endParaRPr lang="en-US" sz="1400" dirty="0"/>
          </a:p>
        </p:txBody>
      </p:sp>
      <p:graphicFrame>
        <p:nvGraphicFramePr>
          <p:cNvPr id="20" name="table_510"/>
          <p:cNvGraphicFramePr>
            <a:graphicFrameLocks noGrp="1"/>
          </p:cNvGraphicFramePr>
          <p:nvPr>
            <p:extLst>
              <p:ext uri="{D42A27DB-BD31-4B8C-83A1-F6EECF244321}">
                <p14:modId xmlns:p14="http://schemas.microsoft.com/office/powerpoint/2010/main" val="1579011935"/>
              </p:ext>
            </p:extLst>
          </p:nvPr>
        </p:nvGraphicFramePr>
        <p:xfrm>
          <a:off x="6629400" y="1783080"/>
          <a:ext cx="5010912" cy="914400"/>
        </p:xfrm>
        <a:graphic>
          <a:graphicData uri="http://schemas.openxmlformats.org/drawingml/2006/table">
            <a:tbl>
              <a:tblPr/>
              <a:tblGrid>
                <a:gridCol w="320040"/>
                <a:gridCol w="1097280"/>
                <a:gridCol w="822960"/>
                <a:gridCol w="1874520"/>
                <a:gridCol w="896112"/>
              </a:tblGrid>
              <a:tr h="347472">
                <a:tc>
                  <a:txBody>
                    <a:bodyPr/>
                    <a:lstStyle/>
                    <a:p>
                      <a:pPr indent="0" marL="0">
                        <a:buNone/>
                      </a:pPr>
                      <a:r>
                        <a:rPr lang="en-US" sz="1050" b="1" dirty="0">
                          <a:solidFill>
                            <a:schemeClr val="bg1"/>
                          </a:solidFill>
                        </a:rPr>
                        <a: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050" b="1" dirty="0">
                          <a:solidFill>
                            <a:schemeClr val="bg1"/>
                          </a:solidFill>
                        </a:rPr>
                        <a:t>모듈</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050" b="1" dirty="0">
                          <a:solidFill>
                            <a:schemeClr val="bg1"/>
                          </a:solidFill>
                        </a:rPr>
                        <a:t>속성</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050" b="1" dirty="0">
                          <a:solidFill>
                            <a:schemeClr val="bg1"/>
                          </a:solidFill>
                        </a:rPr>
                        <a:t>값</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050" b="1" dirty="0">
                          <a:solidFill>
                            <a:schemeClr val="bg1"/>
                          </a:solidFill>
                        </a:rPr>
                        <a:t>ActionMode</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1"/>
                    </a:solidFill>
                  </a:tcPr>
                </a:tc>
              </a:tr>
              <a:tr h="347472">
                <a:tc>
                  <a:txBody>
                    <a:bodyPr/>
                    <a:lstStyle/>
                    <a:p>
                      <a:pPr indent="0" marL="0">
                        <a:buNone/>
                      </a:pPr>
                      <a:r>
                        <a:rPr lang="en-US" sz="1050" dirty="0">
                          <a:solidFill>
                            <a:schemeClr val="tx1"/>
                          </a:solidFill>
                        </a:rPr>
                        <a:t>1</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OpenUrl</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Url</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demowebshop.tricentis.com</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Input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47472">
                <a:tc>
                  <a:txBody>
                    <a:bodyPr/>
                    <a:lstStyle/>
                    <a:p>
                      <a:pPr indent="0" marL="0">
                        <a:buNone/>
                      </a:pPr>
                      <a:r>
                        <a:rPr lang="en-US" sz="1050" dirty="0">
                          <a:solidFill>
                            <a:schemeClr val="tx1"/>
                          </a:solidFill>
                        </a:rPr>
                        <a:t>2</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Header</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Log in</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{CLICK}</a:t>
                      </a:r>
                      <a:endParaRPr lang="en-US" sz="1050" dirty="0">
                        <a:latin typeface="Consolas" charset="0"/>
                        <a:ea typeface="Consolas" charset="0"/>
                        <a:cs typeface="Consolas" charset="0"/>
                      </a:endParaRPr>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Input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47472">
                <a:tc>
                  <a:txBody>
                    <a:bodyPr/>
                    <a:lstStyle/>
                    <a:p>
                      <a:pPr indent="0" marL="0">
                        <a:buNone/>
                      </a:pPr>
                      <a:r>
                        <a:rPr lang="en-US" sz="1050" dirty="0">
                          <a:solidFill>
                            <a:schemeClr val="tx1"/>
                          </a:solidFill>
                        </a:rPr>
                        <a:t>3</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Login</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Email</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[실습 이메일]</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Input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47472">
                <a:tc>
                  <a:txBody>
                    <a:bodyPr/>
                    <a:lstStyle/>
                    <a:p>
                      <a:pPr indent="0" marL="0">
                        <a:buNone/>
                      </a:pP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Login</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Password</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[실습 비밀번호]</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Input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47472">
                <a:tc>
                  <a:txBody>
                    <a:bodyPr/>
                    <a:lstStyle/>
                    <a:p>
                      <a:pPr indent="0" marL="0">
                        <a:buNone/>
                      </a:pP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Login</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Log in</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{CLICK}</a:t>
                      </a:r>
                      <a:endParaRPr lang="en-US" sz="1050" dirty="0">
                        <a:latin typeface="Consolas" charset="0"/>
                        <a:ea typeface="Consolas" charset="0"/>
                        <a:cs typeface="Consolas" charset="0"/>
                      </a:endParaRPr>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Input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47472">
                <a:tc>
                  <a:txBody>
                    <a:bodyPr/>
                    <a:lstStyle/>
                    <a:p>
                      <a:pPr indent="0" marL="0">
                        <a:buNone/>
                      </a:pPr>
                      <a:r>
                        <a:rPr lang="en-US" sz="1050" dirty="0">
                          <a:solidFill>
                            <a:schemeClr val="tx1"/>
                          </a:solidFill>
                        </a:rPr>
                        <a:t>4</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CEFD8"/>
                    </a:solidFill>
                  </a:tcPr>
                </a:tc>
                <a:tc>
                  <a:txBody>
                    <a:bodyPr/>
                    <a:lstStyle/>
                    <a:p>
                      <a:pPr indent="0" marL="0">
                        <a:buNone/>
                      </a:pPr>
                      <a:r>
                        <a:rPr lang="en-US" sz="1050" dirty="0">
                          <a:solidFill>
                            <a:schemeClr val="tx1"/>
                          </a:solidFill>
                        </a:rPr>
                        <a:t>Header</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CEFD8"/>
                    </a:solidFill>
                  </a:tcPr>
                </a:tc>
                <a:tc>
                  <a:txBody>
                    <a:bodyPr/>
                    <a:lstStyle/>
                    <a:p>
                      <a:pPr indent="0" marL="0">
                        <a:buNone/>
                      </a:pPr>
                      <a:r>
                        <a:rPr lang="en-US" sz="1050" dirty="0">
                          <a:solidFill>
                            <a:schemeClr val="tx1"/>
                          </a:solidFill>
                        </a:rPr>
                        <a:t>Account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CEFD8"/>
                    </a:solidFill>
                  </a:tcPr>
                </a:tc>
                <a:tc>
                  <a:txBody>
                    <a:bodyPr/>
                    <a:lstStyle/>
                    <a:p>
                      <a:pPr indent="0" marL="0">
                        <a:buNone/>
                      </a:pPr>
                      <a:r>
                        <a:rPr lang="en-US" sz="1050" dirty="0">
                          <a:solidFill>
                            <a:schemeClr val="tx1"/>
                          </a:solidFill>
                        </a:rPr>
                        <a:t>[실습 이메일]</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CEFD8"/>
                    </a:solidFill>
                  </a:tcPr>
                </a:tc>
                <a:tc>
                  <a:txBody>
                    <a:bodyPr/>
                    <a:lstStyle/>
                    <a:p>
                      <a:pPr indent="0" marL="0">
                        <a:buNone/>
                      </a:pPr>
                      <a:r>
                        <a:rPr lang="en-US" sz="1050" b="1" dirty="0">
                          <a:solidFill>
                            <a:schemeClr val="tx1"/>
                          </a:solidFill>
                        </a:rPr>
                        <a:t>Verify</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CEFD8"/>
                    </a:solidFill>
                  </a:tcPr>
                </a:tc>
              </a:tr>
              <a:tr h="347472">
                <a:tc>
                  <a:txBody>
                    <a:bodyPr/>
                    <a:lstStyle/>
                    <a:p>
                      <a:pPr indent="0" marL="0">
                        <a:buNone/>
                      </a:pPr>
                      <a:r>
                        <a:rPr lang="en-US" sz="1050" dirty="0">
                          <a:solidFill>
                            <a:schemeClr val="tx1"/>
                          </a:solidFill>
                        </a:rPr>
                        <a:t>5</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Header</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Log out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{CLICK}</a:t>
                      </a:r>
                      <a:endParaRPr lang="en-US" sz="1050" dirty="0">
                        <a:latin typeface="Consolas" charset="0"/>
                        <a:ea typeface="Consolas" charset="0"/>
                        <a:cs typeface="Consolas" charset="0"/>
                      </a:endParaRPr>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Input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47472">
                <a:tc>
                  <a:txBody>
                    <a:bodyPr/>
                    <a:lstStyle/>
                    <a:p>
                      <a:pPr indent="0" marL="0">
                        <a:buNone/>
                      </a:pPr>
                      <a:r>
                        <a:rPr lang="en-US" sz="1050" dirty="0">
                          <a:solidFill>
                            <a:schemeClr val="tx1"/>
                          </a:solidFill>
                        </a:rPr>
                        <a:t>6</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CloseBrowser</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Title</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Demo Web Shop*</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Input</a:t>
                      </a:r>
                      <a:endParaRPr lang="en-US" sz="1050" dirty="0"/>
                    </a:p>
                  </a:txBody>
                  <a:tcPr marL="54864" marR="54864"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1" name="card_511"/>
          <p:cNvSpPr/>
          <p:nvPr/>
        </p:nvSpPr>
        <p:spPr>
          <a:xfrm>
            <a:off x="6629400" y="5257800"/>
            <a:ext cx="5010912" cy="914400"/>
          </a:xfrm>
          <a:prstGeom prst="roundRect">
            <a:avLst>
              <a:gd name="adj" fmla="val 10000"/>
            </a:avLst>
          </a:prstGeom>
          <a:solidFill>
            <a:schemeClr val="bg2"/>
          </a:solidFill>
          <a:ln/>
        </p:spPr>
      </p:sp>
      <p:pic>
        <p:nvPicPr>
          <p:cNvPr id="12" name="icon_512" descr="preencoded.png">    </p:cNvPr>
          <p:cNvPicPr>
            <a:picLocks noChangeAspect="1"/>
          </p:cNvPicPr>
          <p:nvPr/>
        </p:nvPicPr>
        <p:blipFill>
          <a:blip r:embed="rId1"/>
          <a:stretch>
            <a:fillRect/>
          </a:stretch>
        </p:blipFill>
        <p:spPr>
          <a:xfrm>
            <a:off x="6812280" y="5458968"/>
            <a:ext cx="457200" cy="457200"/>
          </a:xfrm>
          <a:prstGeom prst="rect">
            <a:avLst/>
          </a:prstGeom>
        </p:spPr>
      </p:pic>
      <p:sp>
        <p:nvSpPr>
          <p:cNvPr id="13" name="text_513"/>
          <p:cNvSpPr txBox="1"/>
          <p:nvPr/>
        </p:nvSpPr>
        <p:spPr>
          <a:xfrm>
            <a:off x="7406640" y="5303520"/>
            <a:ext cx="4114800" cy="822960"/>
          </a:xfrm>
          <a:prstGeom prst="rect">
            <a:avLst/>
          </a:prstGeom>
          <a:noFill/>
          <a:ln/>
        </p:spPr>
        <p:txBody>
          <a:bodyPr wrap="square" lIns="0" tIns="0" rIns="0" bIns="0" rtlCol="0" anchor="ctr"/>
          <a:lstStyle/>
          <a:p>
            <a:pPr indent="0" marL="0">
              <a:buNone/>
            </a:pPr>
            <a:r>
              <a:rPr lang="en-US" sz="1300" dirty="0">
                <a:solidFill>
                  <a:schemeClr val="tx1"/>
                </a:solidFill>
              </a:rPr>
              <a:t>맞는 모듈을 못 찾은 스텝: 없음</a:t>
            </a:r>
            <a:endParaRPr lang="en-US" sz="1300" dirty="0"/>
          </a:p>
          <a:p>
            <a:pPr indent="0" marL="0">
              <a:buNone/>
            </a:pPr>
            <a:r>
              <a:rPr lang="en-US" sz="1300" dirty="0">
                <a:solidFill>
                  <a:schemeClr val="tx1"/>
                </a:solidFill>
              </a:rPr>
              <a:t>확인했으면 프롬프트 3-2로 승인한다</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Lab 3  자동 테스트케이스 (2) 승인하고 확인</a:t>
            </a:r>
            <a:endParaRPr lang="en-US" sz="3200" dirty="0"/>
          </a:p>
        </p:txBody>
      </p:sp>
      <p:sp>
        <p:nvSpPr>
          <p:cNvPr id="4" name="chip_514"/>
          <p:cNvSpPr txBox="1"/>
          <p:nvPr/>
        </p:nvSpPr>
        <p:spPr>
          <a:xfrm>
            <a:off x="9646920" y="548640"/>
            <a:ext cx="914400" cy="384048"/>
          </a:xfrm>
          <a:prstGeom prst="roundRect">
            <a:avLst>
              <a:gd name="adj" fmla="val 14286"/>
            </a:avLst>
          </a:prstGeom>
          <a:solidFill>
            <a:schemeClr val="accent1"/>
          </a:solidFill>
          <a:ln/>
        </p:spPr>
        <p:txBody>
          <a:bodyPr wrap="square" lIns="0" tIns="50800" rIns="50800" bIns="0" rtlCol="0" anchor="ctr"/>
          <a:lstStyle/>
          <a:p>
            <a:pPr algn="ctr" indent="0" marL="0">
              <a:buNone/>
            </a:pPr>
            <a:r>
              <a:rPr lang="en-US" sz="1300" b="1" dirty="0">
                <a:solidFill>
                  <a:schemeClr val="bg1"/>
                </a:solidFill>
              </a:rPr>
              <a:t>Lab 3</a:t>
            </a:r>
            <a:endParaRPr lang="en-US" sz="1300" dirty="0"/>
          </a:p>
        </p:txBody>
      </p:sp>
      <p:sp>
        <p:nvSpPr>
          <p:cNvPr id="5" name="chip_515"/>
          <p:cNvSpPr txBox="1"/>
          <p:nvPr/>
        </p:nvSpPr>
        <p:spPr>
          <a:xfrm>
            <a:off x="10680192" y="548640"/>
            <a:ext cx="960120" cy="384048"/>
          </a:xfrm>
          <a:prstGeom prst="roundRect">
            <a:avLst>
              <a:gd name="adj" fmla="val 14286"/>
            </a:avLst>
          </a:prstGeom>
          <a:solidFill>
            <a:schemeClr val="bg2"/>
          </a:solidFill>
          <a:ln/>
        </p:spPr>
        <p:txBody>
          <a:bodyPr wrap="square" lIns="0" tIns="50800" rIns="50800" bIns="0" rtlCol="0" anchor="ctr"/>
          <a:lstStyle/>
          <a:p>
            <a:pPr algn="ctr" indent="0" marL="0">
              <a:buNone/>
            </a:pPr>
            <a:r>
              <a:rPr lang="en-US" sz="1300" b="1" dirty="0">
                <a:solidFill>
                  <a:schemeClr val="tx2"/>
                </a:solidFill>
              </a:rPr>
              <a:t>25분</a:t>
            </a:r>
            <a:endParaRPr lang="en-US" sz="1300" dirty="0"/>
          </a:p>
        </p:txBody>
      </p:sp>
      <p:sp>
        <p:nvSpPr>
          <p:cNvPr id="6" name="prompt_516"/>
          <p:cNvSpPr/>
          <p:nvPr/>
        </p:nvSpPr>
        <p:spPr>
          <a:xfrm>
            <a:off x="548640" y="1371600"/>
            <a:ext cx="5486400" cy="1188720"/>
          </a:xfrm>
          <a:prstGeom prst="roundRect">
            <a:avLst>
              <a:gd name="adj" fmla="val 6154"/>
            </a:avLst>
          </a:prstGeom>
          <a:solidFill>
            <a:schemeClr val="accent2">
              <a:alpha val="14000"/>
            </a:schemeClr>
          </a:solidFill>
          <a:ln w="9525">
            <a:solidFill>
              <a:schemeClr val="accent2"/>
            </a:solidFill>
            <a:prstDash val="solid"/>
          </a:ln>
        </p:spPr>
      </p:sp>
      <p:sp>
        <p:nvSpPr>
          <p:cNvPr id="7" name="chip_517"/>
          <p:cNvSpPr txBox="1"/>
          <p:nvPr/>
        </p:nvSpPr>
        <p:spPr>
          <a:xfrm>
            <a:off x="713232" y="1490472"/>
            <a:ext cx="1234440" cy="274320"/>
          </a:xfrm>
          <a:prstGeom prst="roundRect">
            <a:avLst>
              <a:gd name="adj" fmla="val 2000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3-2</a:t>
            </a:r>
            <a:endParaRPr lang="en-US" sz="1100" dirty="0"/>
          </a:p>
        </p:txBody>
      </p:sp>
      <p:sp>
        <p:nvSpPr>
          <p:cNvPr id="8" name="text_518"/>
          <p:cNvSpPr txBox="1"/>
          <p:nvPr/>
        </p:nvSpPr>
        <p:spPr>
          <a:xfrm>
            <a:off x="731520" y="1874520"/>
            <a:ext cx="5120640" cy="566928"/>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계획대로 만들어줘. 다 만들면 테스트케이스의 스텝 구조를 다시 읽어서 표로 보여줘.</a:t>
            </a:r>
            <a:endParaRPr lang="en-US" sz="1300" dirty="0"/>
          </a:p>
        </p:txBody>
      </p:sp>
      <p:sp>
        <p:nvSpPr>
          <p:cNvPr id="9" name="text_519"/>
          <p:cNvSpPr txBox="1"/>
          <p:nvPr/>
        </p:nvSpPr>
        <p:spPr>
          <a:xfrm>
            <a:off x="548640" y="2788920"/>
            <a:ext cx="5486400" cy="320040"/>
          </a:xfrm>
          <a:prstGeom prst="rect">
            <a:avLst/>
          </a:prstGeom>
          <a:noFill/>
          <a:ln/>
        </p:spPr>
        <p:txBody>
          <a:bodyPr wrap="square" lIns="0" tIns="0" rIns="0" bIns="0" rtlCol="0" anchor="ctr"/>
          <a:lstStyle/>
          <a:p>
            <a:pPr indent="0" marL="0">
              <a:buNone/>
            </a:pPr>
            <a:r>
              <a:rPr lang="en-US" sz="1400" b="1" dirty="0">
                <a:solidFill>
                  <a:schemeClr val="tx2"/>
                </a:solidFill>
              </a:rPr>
              <a:t>확인 포인트</a:t>
            </a:r>
            <a:endParaRPr lang="en-US" sz="1400" dirty="0"/>
          </a:p>
        </p:txBody>
      </p:sp>
      <p:sp>
        <p:nvSpPr>
          <p:cNvPr id="10" name="checkbox_520"/>
          <p:cNvSpPr/>
          <p:nvPr/>
        </p:nvSpPr>
        <p:spPr>
          <a:xfrm>
            <a:off x="548640" y="3218688"/>
            <a:ext cx="219456" cy="219456"/>
          </a:xfrm>
          <a:prstGeom prst="roundRect">
            <a:avLst>
              <a:gd name="adj" fmla="val 16667"/>
            </a:avLst>
          </a:prstGeom>
          <a:solidFill>
            <a:schemeClr val="bg1"/>
          </a:solidFill>
          <a:ln w="12700">
            <a:solidFill>
              <a:schemeClr val="accent1"/>
            </a:solidFill>
            <a:prstDash val="solid"/>
          </a:ln>
        </p:spPr>
      </p:sp>
      <p:sp>
        <p:nvSpPr>
          <p:cNvPr id="11" name="text_521"/>
          <p:cNvSpPr txBox="1"/>
          <p:nvPr/>
        </p:nvSpPr>
        <p:spPr>
          <a:xfrm>
            <a:off x="896112" y="3154680"/>
            <a:ext cx="5138928" cy="457200"/>
          </a:xfrm>
          <a:prstGeom prst="rect">
            <a:avLst/>
          </a:prstGeom>
          <a:noFill/>
          <a:ln/>
        </p:spPr>
        <p:txBody>
          <a:bodyPr wrap="square" lIns="0" tIns="0" rIns="0" bIns="0" rtlCol="0" anchor="ctr"/>
          <a:lstStyle/>
          <a:p>
            <a:pPr indent="0" marL="0">
              <a:buNone/>
            </a:pPr>
            <a:r>
              <a:rPr lang="en-US" sz="1400" dirty="0">
                <a:solidFill>
                  <a:schemeClr val="tx1"/>
                </a:solidFill>
              </a:rPr>
              <a:t>계획 표를 먼저 받았고, 모든 스텝에 모듈이 매칭됐다</a:t>
            </a:r>
            <a:endParaRPr lang="en-US" sz="1400" dirty="0"/>
          </a:p>
        </p:txBody>
      </p:sp>
      <p:sp>
        <p:nvSpPr>
          <p:cNvPr id="12" name="checkbox_522"/>
          <p:cNvSpPr/>
          <p:nvPr/>
        </p:nvSpPr>
        <p:spPr>
          <a:xfrm>
            <a:off x="548640" y="3675888"/>
            <a:ext cx="219456" cy="219456"/>
          </a:xfrm>
          <a:prstGeom prst="roundRect">
            <a:avLst>
              <a:gd name="adj" fmla="val 16667"/>
            </a:avLst>
          </a:prstGeom>
          <a:solidFill>
            <a:schemeClr val="bg1"/>
          </a:solidFill>
          <a:ln w="12700">
            <a:solidFill>
              <a:schemeClr val="accent1"/>
            </a:solidFill>
            <a:prstDash val="solid"/>
          </a:ln>
        </p:spPr>
      </p:sp>
      <p:sp>
        <p:nvSpPr>
          <p:cNvPr id="13" name="text_523"/>
          <p:cNvSpPr txBox="1"/>
          <p:nvPr/>
        </p:nvSpPr>
        <p:spPr>
          <a:xfrm>
            <a:off x="896112" y="3611880"/>
            <a:ext cx="5138928" cy="457200"/>
          </a:xfrm>
          <a:prstGeom prst="rect">
            <a:avLst/>
          </a:prstGeom>
          <a:noFill/>
          <a:ln/>
        </p:spPr>
        <p:txBody>
          <a:bodyPr wrap="square" lIns="0" tIns="0" rIns="0" bIns="0" rtlCol="0" anchor="ctr"/>
          <a:lstStyle/>
          <a:p>
            <a:pPr indent="0" marL="0">
              <a:buNone/>
            </a:pPr>
            <a:r>
              <a:rPr lang="en-US" sz="1400" dirty="0">
                <a:solidFill>
                  <a:schemeClr val="tx1"/>
                </a:solidFill>
              </a:rPr>
              <a:t>4번 스텝(Account)의 ActionMode가 Verify다</a:t>
            </a:r>
            <a:endParaRPr lang="en-US" sz="1400" dirty="0"/>
          </a:p>
        </p:txBody>
      </p:sp>
      <p:sp>
        <p:nvSpPr>
          <p:cNvPr id="14" name="checkbox_524"/>
          <p:cNvSpPr/>
          <p:nvPr/>
        </p:nvSpPr>
        <p:spPr>
          <a:xfrm>
            <a:off x="548640" y="4133088"/>
            <a:ext cx="219456" cy="219456"/>
          </a:xfrm>
          <a:prstGeom prst="roundRect">
            <a:avLst>
              <a:gd name="adj" fmla="val 16667"/>
            </a:avLst>
          </a:prstGeom>
          <a:solidFill>
            <a:schemeClr val="bg1"/>
          </a:solidFill>
          <a:ln w="12700">
            <a:solidFill>
              <a:schemeClr val="accent1"/>
            </a:solidFill>
            <a:prstDash val="solid"/>
          </a:ln>
        </p:spPr>
      </p:sp>
      <p:sp>
        <p:nvSpPr>
          <p:cNvPr id="15" name="text_525"/>
          <p:cNvSpPr txBox="1"/>
          <p:nvPr/>
        </p:nvSpPr>
        <p:spPr>
          <a:xfrm>
            <a:off x="896112" y="4069080"/>
            <a:ext cx="5138928" cy="457200"/>
          </a:xfrm>
          <a:prstGeom prst="rect">
            <a:avLst/>
          </a:prstGeom>
          <a:noFill/>
          <a:ln/>
        </p:spPr>
        <p:txBody>
          <a:bodyPr wrap="square" lIns="0" tIns="0" rIns="0" bIns="0" rtlCol="0" anchor="ctr"/>
          <a:lstStyle/>
          <a:p>
            <a:pPr indent="0" marL="0">
              <a:buNone/>
            </a:pPr>
            <a:r>
              <a:rPr lang="en-US" sz="1400" dirty="0">
                <a:solidFill>
                  <a:schemeClr val="tx1"/>
                </a:solidFill>
              </a:rPr>
              <a:t>결과 표가 계획 표(기대 스텝)와 같다</a:t>
            </a:r>
            <a:endParaRPr lang="en-US" sz="1400" dirty="0"/>
          </a:p>
        </p:txBody>
      </p:sp>
      <p:sp>
        <p:nvSpPr>
          <p:cNvPr id="16" name="checkbox_526"/>
          <p:cNvSpPr/>
          <p:nvPr/>
        </p:nvSpPr>
        <p:spPr>
          <a:xfrm>
            <a:off x="548640" y="4590288"/>
            <a:ext cx="219456" cy="219456"/>
          </a:xfrm>
          <a:prstGeom prst="roundRect">
            <a:avLst>
              <a:gd name="adj" fmla="val 16667"/>
            </a:avLst>
          </a:prstGeom>
          <a:solidFill>
            <a:schemeClr val="bg1"/>
          </a:solidFill>
          <a:ln w="12700">
            <a:solidFill>
              <a:schemeClr val="accent1"/>
            </a:solidFill>
            <a:prstDash val="solid"/>
          </a:ln>
        </p:spPr>
      </p:sp>
      <p:sp>
        <p:nvSpPr>
          <p:cNvPr id="17" name="text_527"/>
          <p:cNvSpPr txBox="1"/>
          <p:nvPr/>
        </p:nvSpPr>
        <p:spPr>
          <a:xfrm>
            <a:off x="896112" y="4526280"/>
            <a:ext cx="5138928" cy="457200"/>
          </a:xfrm>
          <a:prstGeom prst="rect">
            <a:avLst/>
          </a:prstGeom>
          <a:noFill/>
          <a:ln/>
        </p:spPr>
        <p:txBody>
          <a:bodyPr wrap="square" lIns="0" tIns="0" rIns="0" bIns="0" rtlCol="0" anchor="ctr"/>
          <a:lstStyle/>
          <a:p>
            <a:pPr indent="0" marL="0">
              <a:buNone/>
            </a:pPr>
            <a:r>
              <a:rPr lang="en-US" sz="1400" dirty="0">
                <a:solidFill>
                  <a:schemeClr val="tx1"/>
                </a:solidFill>
              </a:rPr>
              <a:t>Commander에서 스텝과 값을 직접 확인했다</a:t>
            </a:r>
            <a:endParaRPr lang="en-US" sz="1400" dirty="0"/>
          </a:p>
        </p:txBody>
      </p:sp>
      <p:sp>
        <p:nvSpPr>
          <p:cNvPr id="18" name="card_528"/>
          <p:cNvSpPr/>
          <p:nvPr/>
        </p:nvSpPr>
        <p:spPr>
          <a:xfrm>
            <a:off x="548640" y="5120640"/>
            <a:ext cx="5486400" cy="1051560"/>
          </a:xfrm>
          <a:prstGeom prst="roundRect">
            <a:avLst>
              <a:gd name="adj" fmla="val 8696"/>
            </a:avLst>
          </a:prstGeom>
          <a:solidFill>
            <a:schemeClr val="accent2">
              <a:alpha val="14000"/>
            </a:schemeClr>
          </a:solidFill>
          <a:ln/>
        </p:spPr>
      </p:sp>
      <p:pic>
        <p:nvPicPr>
          <p:cNvPr id="19" name="icon_529" descr="preencoded.png">    </p:cNvPr>
          <p:cNvPicPr>
            <a:picLocks noChangeAspect="1"/>
          </p:cNvPicPr>
          <p:nvPr/>
        </p:nvPicPr>
        <p:blipFill>
          <a:blip r:embed="rId1"/>
          <a:stretch>
            <a:fillRect/>
          </a:stretch>
        </p:blipFill>
        <p:spPr>
          <a:xfrm>
            <a:off x="749808" y="5349240"/>
            <a:ext cx="384048" cy="384048"/>
          </a:xfrm>
          <a:prstGeom prst="rect">
            <a:avLst/>
          </a:prstGeom>
        </p:spPr>
      </p:pic>
      <p:sp>
        <p:nvSpPr>
          <p:cNvPr id="20" name="text_530"/>
          <p:cNvSpPr txBox="1"/>
          <p:nvPr/>
        </p:nvSpPr>
        <p:spPr>
          <a:xfrm>
            <a:off x="1280160" y="5166360"/>
            <a:ext cx="4617720" cy="960120"/>
          </a:xfrm>
          <a:prstGeom prst="rect">
            <a:avLst/>
          </a:prstGeom>
          <a:noFill/>
          <a:ln/>
        </p:spPr>
        <p:txBody>
          <a:bodyPr wrap="square" lIns="0" tIns="0" rIns="0" bIns="0" rtlCol="0" anchor="ctr"/>
          <a:lstStyle/>
          <a:p>
            <a:pPr indent="0" marL="0">
              <a:buNone/>
            </a:pPr>
            <a:r>
              <a:rPr lang="en-US" sz="1400" dirty="0">
                <a:solidFill>
                  <a:schemeClr val="tx1"/>
                </a:solidFill>
              </a:rPr>
              <a:t>모듈이 없다는 답이 오면: 사람이 XScan으로 스캔 → 같은 프롬프트로 다시 요청</a:t>
            </a:r>
            <a:endParaRPr lang="en-US" sz="1400" dirty="0"/>
          </a:p>
        </p:txBody>
      </p:sp>
      <p:sp>
        <p:nvSpPr>
          <p:cNvPr id="21" name="tree_531"/>
          <p:cNvSpPr/>
          <p:nvPr/>
        </p:nvSpPr>
        <p:spPr>
          <a:xfrm>
            <a:off x="6355080" y="1371600"/>
            <a:ext cx="5285232" cy="4800600"/>
          </a:xfrm>
          <a:prstGeom prst="roundRect">
            <a:avLst>
              <a:gd name="adj" fmla="val 1905"/>
            </a:avLst>
          </a:prstGeom>
          <a:solidFill>
            <a:schemeClr val="bg1"/>
          </a:solidFill>
          <a:ln w="12700">
            <a:solidFill>
              <a:schemeClr val="accent3"/>
            </a:solidFill>
            <a:prstDash val="solid"/>
          </a:ln>
          <a:effectLst>
            <a:outerShdw sx="100000" sy="100000" kx="0" ky="0" algn="bl" rotWithShape="0" blurRad="76200" dist="25400" dir="5400000">
              <a:srgbClr val="1E2B2F">
                <a:alpha val="12000"/>
              </a:srgbClr>
            </a:outerShdw>
          </a:effectLst>
        </p:spPr>
      </p:sp>
      <p:sp>
        <p:nvSpPr>
          <p:cNvPr id="22" name="treehead_532"/>
          <p:cNvSpPr/>
          <p:nvPr/>
        </p:nvSpPr>
        <p:spPr>
          <a:xfrm>
            <a:off x="6355080" y="1371600"/>
            <a:ext cx="5285232" cy="384048"/>
          </a:xfrm>
          <a:prstGeom prst="roundRect">
            <a:avLst>
              <a:gd name="adj" fmla="val 23810"/>
            </a:avLst>
          </a:prstGeom>
          <a:solidFill>
            <a:schemeClr val="bg2"/>
          </a:solidFill>
          <a:ln/>
        </p:spPr>
      </p:sp>
      <p:sp>
        <p:nvSpPr>
          <p:cNvPr id="23" name="treehead2_533"/>
          <p:cNvSpPr/>
          <p:nvPr/>
        </p:nvSpPr>
        <p:spPr>
          <a:xfrm>
            <a:off x="6355080" y="1627632"/>
            <a:ext cx="5285232" cy="128016"/>
          </a:xfrm>
          <a:prstGeom prst="rect">
            <a:avLst/>
          </a:prstGeom>
          <a:solidFill>
            <a:schemeClr val="bg2"/>
          </a:solidFill>
          <a:ln/>
        </p:spPr>
      </p:sp>
      <p:sp>
        <p:nvSpPr>
          <p:cNvPr id="24" name="text_534"/>
          <p:cNvSpPr txBox="1"/>
          <p:nvPr/>
        </p:nvSpPr>
        <p:spPr>
          <a:xfrm>
            <a:off x="6537960" y="1426464"/>
            <a:ext cx="4919472" cy="274320"/>
          </a:xfrm>
          <a:prstGeom prst="rect">
            <a:avLst/>
          </a:prstGeom>
          <a:noFill/>
          <a:ln/>
        </p:spPr>
        <p:txBody>
          <a:bodyPr wrap="square" lIns="0" tIns="0" rIns="0" bIns="0" rtlCol="0" anchor="ctr"/>
          <a:lstStyle/>
          <a:p>
            <a:pPr indent="0" marL="0">
              <a:buNone/>
            </a:pPr>
            <a:r>
              <a:rPr lang="en-US" sz="1100" b="1" dirty="0">
                <a:solidFill>
                  <a:schemeClr val="tx2"/>
                </a:solidFill>
              </a:rPr>
              <a:t>Commander에서 확인</a:t>
            </a:r>
            <a:endParaRPr lang="en-US" sz="1100" dirty="0"/>
          </a:p>
        </p:txBody>
      </p:sp>
      <p:pic>
        <p:nvPicPr>
          <p:cNvPr id="25" name="icon_535" descr="preencoded.png">    </p:cNvPr>
          <p:cNvPicPr>
            <a:picLocks noChangeAspect="1"/>
          </p:cNvPicPr>
          <p:nvPr/>
        </p:nvPicPr>
        <p:blipFill>
          <a:blip r:embed="rId2"/>
          <a:stretch>
            <a:fillRect/>
          </a:stretch>
        </p:blipFill>
        <p:spPr>
          <a:xfrm>
            <a:off x="6583680" y="1975104"/>
            <a:ext cx="201168" cy="201168"/>
          </a:xfrm>
          <a:prstGeom prst="rect">
            <a:avLst/>
          </a:prstGeom>
        </p:spPr>
      </p:pic>
      <p:sp>
        <p:nvSpPr>
          <p:cNvPr id="26" name="text_536"/>
          <p:cNvSpPr txBox="1"/>
          <p:nvPr/>
        </p:nvSpPr>
        <p:spPr>
          <a:xfrm>
            <a:off x="6858000" y="1920240"/>
            <a:ext cx="4645152" cy="347472"/>
          </a:xfrm>
          <a:prstGeom prst="rect">
            <a:avLst/>
          </a:prstGeom>
          <a:noFill/>
          <a:ln/>
        </p:spPr>
        <p:txBody>
          <a:bodyPr wrap="square" lIns="0" tIns="0" rIns="0" bIns="0" rtlCol="0" anchor="ctr"/>
          <a:lstStyle/>
          <a:p>
            <a:pPr indent="0" marL="0">
              <a:buNone/>
            </a:pPr>
            <a:r>
              <a:rPr lang="en-US" sz="1200" dirty="0">
                <a:solidFill>
                  <a:schemeClr val="tx1"/>
                </a:solidFill>
              </a:rPr>
              <a:t>TestCases / MCP실습 / 홍길동</a:t>
            </a:r>
            <a:endParaRPr lang="en-US" sz="1200" dirty="0"/>
          </a:p>
        </p:txBody>
      </p:sp>
      <p:pic>
        <p:nvPicPr>
          <p:cNvPr id="27" name="icon_537" descr="preencoded.png">    </p:cNvPr>
          <p:cNvPicPr>
            <a:picLocks noChangeAspect="1"/>
          </p:cNvPicPr>
          <p:nvPr/>
        </p:nvPicPr>
        <p:blipFill>
          <a:blip r:embed="rId3"/>
          <a:stretch>
            <a:fillRect/>
          </a:stretch>
        </p:blipFill>
        <p:spPr>
          <a:xfrm>
            <a:off x="6876288" y="2322576"/>
            <a:ext cx="201168" cy="201168"/>
          </a:xfrm>
          <a:prstGeom prst="rect">
            <a:avLst/>
          </a:prstGeom>
        </p:spPr>
      </p:pic>
      <p:sp>
        <p:nvSpPr>
          <p:cNvPr id="28" name="text_538"/>
          <p:cNvSpPr txBox="1"/>
          <p:nvPr/>
        </p:nvSpPr>
        <p:spPr>
          <a:xfrm>
            <a:off x="7150608" y="2267712"/>
            <a:ext cx="4352544" cy="347472"/>
          </a:xfrm>
          <a:prstGeom prst="rect">
            <a:avLst/>
          </a:prstGeom>
          <a:noFill/>
          <a:ln/>
        </p:spPr>
        <p:txBody>
          <a:bodyPr wrap="square" lIns="0" tIns="0" rIns="0" bIns="0" rtlCol="0" anchor="ctr"/>
          <a:lstStyle/>
          <a:p>
            <a:pPr indent="0" marL="0">
              <a:buNone/>
            </a:pPr>
            <a:r>
              <a:rPr lang="en-US" sz="1200" b="1" dirty="0">
                <a:solidFill>
                  <a:schemeClr val="tx1"/>
                </a:solidFill>
              </a:rPr>
              <a:t>로그인 성공_자동</a:t>
            </a:r>
            <a:endParaRPr lang="en-US" sz="1200" dirty="0"/>
          </a:p>
        </p:txBody>
      </p:sp>
      <p:pic>
        <p:nvPicPr>
          <p:cNvPr id="29" name="icon_539" descr="preencoded.png">    </p:cNvPr>
          <p:cNvPicPr>
            <a:picLocks noChangeAspect="1"/>
          </p:cNvPicPr>
          <p:nvPr/>
        </p:nvPicPr>
        <p:blipFill>
          <a:blip r:embed="rId4"/>
          <a:stretch>
            <a:fillRect/>
          </a:stretch>
        </p:blipFill>
        <p:spPr>
          <a:xfrm>
            <a:off x="7168896" y="2670048"/>
            <a:ext cx="201168" cy="201168"/>
          </a:xfrm>
          <a:prstGeom prst="rect">
            <a:avLst/>
          </a:prstGeom>
        </p:spPr>
      </p:pic>
      <p:sp>
        <p:nvSpPr>
          <p:cNvPr id="30" name="text_540"/>
          <p:cNvSpPr txBox="1"/>
          <p:nvPr/>
        </p:nvSpPr>
        <p:spPr>
          <a:xfrm>
            <a:off x="7443216" y="2615184"/>
            <a:ext cx="4059936" cy="347472"/>
          </a:xfrm>
          <a:prstGeom prst="rect">
            <a:avLst/>
          </a:prstGeom>
          <a:noFill/>
          <a:ln/>
        </p:spPr>
        <p:txBody>
          <a:bodyPr wrap="square" lIns="0" tIns="0" rIns="0" bIns="0" rtlCol="0" anchor="ctr"/>
          <a:lstStyle/>
          <a:p>
            <a:pPr indent="0" marL="0">
              <a:buNone/>
            </a:pPr>
            <a:r>
              <a:rPr lang="en-US" sz="1200" dirty="0">
                <a:solidFill>
                  <a:schemeClr val="tx1"/>
                </a:solidFill>
              </a:rPr>
              <a:t>OpenUrl</a:t>
            </a:r>
            <a:pPr indent="0" marL="0">
              <a:buNone/>
            </a:pPr>
            <a:r>
              <a:rPr lang="en-US" sz="1200" dirty="0">
                <a:solidFill>
                  <a:schemeClr val="accent6"/>
                </a:solidFill>
              </a:rPr>
              <a:t>   Url = demowebshop.tricentis.com</a:t>
            </a:r>
            <a:endParaRPr lang="en-US" sz="1200" dirty="0"/>
          </a:p>
        </p:txBody>
      </p:sp>
      <p:pic>
        <p:nvPicPr>
          <p:cNvPr id="31" name="icon_541" descr="preencoded.png">    </p:cNvPr>
          <p:cNvPicPr>
            <a:picLocks noChangeAspect="1"/>
          </p:cNvPicPr>
          <p:nvPr/>
        </p:nvPicPr>
        <p:blipFill>
          <a:blip r:embed="rId5"/>
          <a:stretch>
            <a:fillRect/>
          </a:stretch>
        </p:blipFill>
        <p:spPr>
          <a:xfrm>
            <a:off x="7168896" y="3017520"/>
            <a:ext cx="201168" cy="201168"/>
          </a:xfrm>
          <a:prstGeom prst="rect">
            <a:avLst/>
          </a:prstGeom>
        </p:spPr>
      </p:pic>
      <p:sp>
        <p:nvSpPr>
          <p:cNvPr id="32" name="text_542"/>
          <p:cNvSpPr txBox="1"/>
          <p:nvPr/>
        </p:nvSpPr>
        <p:spPr>
          <a:xfrm>
            <a:off x="7443216" y="2962656"/>
            <a:ext cx="4059936" cy="347472"/>
          </a:xfrm>
          <a:prstGeom prst="rect">
            <a:avLst/>
          </a:prstGeom>
          <a:noFill/>
          <a:ln/>
        </p:spPr>
        <p:txBody>
          <a:bodyPr wrap="square" lIns="0" tIns="0" rIns="0" bIns="0" rtlCol="0" anchor="ctr"/>
          <a:lstStyle/>
          <a:p>
            <a:pPr indent="0" marL="0">
              <a:buNone/>
            </a:pPr>
            <a:r>
              <a:rPr lang="en-US" sz="1200" dirty="0">
                <a:solidFill>
                  <a:schemeClr val="tx1"/>
                </a:solidFill>
              </a:rPr>
              <a:t>Header</a:t>
            </a:r>
            <a:pPr indent="0" marL="0">
              <a:buNone/>
            </a:pPr>
            <a:r>
              <a:rPr lang="en-US" sz="1200" dirty="0">
                <a:solidFill>
                  <a:schemeClr val="accent6"/>
                </a:solidFill>
              </a:rPr>
              <a:t>   Log in = {CLICK}</a:t>
            </a:r>
            <a:endParaRPr lang="en-US" sz="1200" dirty="0"/>
          </a:p>
        </p:txBody>
      </p:sp>
      <p:pic>
        <p:nvPicPr>
          <p:cNvPr id="33" name="icon_543" descr="preencoded.png">    </p:cNvPr>
          <p:cNvPicPr>
            <a:picLocks noChangeAspect="1"/>
          </p:cNvPicPr>
          <p:nvPr/>
        </p:nvPicPr>
        <p:blipFill>
          <a:blip r:embed="rId6"/>
          <a:stretch>
            <a:fillRect/>
          </a:stretch>
        </p:blipFill>
        <p:spPr>
          <a:xfrm>
            <a:off x="7168896" y="3364992"/>
            <a:ext cx="201168" cy="201168"/>
          </a:xfrm>
          <a:prstGeom prst="rect">
            <a:avLst/>
          </a:prstGeom>
        </p:spPr>
      </p:pic>
      <p:sp>
        <p:nvSpPr>
          <p:cNvPr id="34" name="text_544"/>
          <p:cNvSpPr txBox="1"/>
          <p:nvPr/>
        </p:nvSpPr>
        <p:spPr>
          <a:xfrm>
            <a:off x="7443216" y="3310128"/>
            <a:ext cx="4059936" cy="347472"/>
          </a:xfrm>
          <a:prstGeom prst="rect">
            <a:avLst/>
          </a:prstGeom>
          <a:noFill/>
          <a:ln/>
        </p:spPr>
        <p:txBody>
          <a:bodyPr wrap="square" lIns="0" tIns="0" rIns="0" bIns="0" rtlCol="0" anchor="ctr"/>
          <a:lstStyle/>
          <a:p>
            <a:pPr indent="0" marL="0">
              <a:buNone/>
            </a:pPr>
            <a:r>
              <a:rPr lang="en-US" sz="1200" dirty="0">
                <a:solidFill>
                  <a:schemeClr val="tx1"/>
                </a:solidFill>
              </a:rPr>
              <a:t>Login</a:t>
            </a:r>
            <a:pPr indent="0" marL="0">
              <a:buNone/>
            </a:pPr>
            <a:r>
              <a:rPr lang="en-US" sz="1200" dirty="0">
                <a:solidFill>
                  <a:schemeClr val="accent6"/>
                </a:solidFill>
              </a:rPr>
              <a:t>   Email, Password, Log in</a:t>
            </a:r>
            <a:endParaRPr lang="en-US" sz="1200" dirty="0"/>
          </a:p>
        </p:txBody>
      </p:sp>
      <p:pic>
        <p:nvPicPr>
          <p:cNvPr id="35" name="icon_545" descr="preencoded.png">    </p:cNvPr>
          <p:cNvPicPr>
            <a:picLocks noChangeAspect="1"/>
          </p:cNvPicPr>
          <p:nvPr/>
        </p:nvPicPr>
        <p:blipFill>
          <a:blip r:embed="rId7"/>
          <a:stretch>
            <a:fillRect/>
          </a:stretch>
        </p:blipFill>
        <p:spPr>
          <a:xfrm>
            <a:off x="7168896" y="3712464"/>
            <a:ext cx="201168" cy="201168"/>
          </a:xfrm>
          <a:prstGeom prst="rect">
            <a:avLst/>
          </a:prstGeom>
        </p:spPr>
      </p:pic>
      <p:sp>
        <p:nvSpPr>
          <p:cNvPr id="36" name="text_546"/>
          <p:cNvSpPr txBox="1"/>
          <p:nvPr/>
        </p:nvSpPr>
        <p:spPr>
          <a:xfrm>
            <a:off x="7443216" y="3657600"/>
            <a:ext cx="4059936" cy="347472"/>
          </a:xfrm>
          <a:prstGeom prst="rect">
            <a:avLst/>
          </a:prstGeom>
          <a:noFill/>
          <a:ln/>
        </p:spPr>
        <p:txBody>
          <a:bodyPr wrap="square" lIns="0" tIns="0" rIns="0" bIns="0" rtlCol="0" anchor="ctr"/>
          <a:lstStyle/>
          <a:p>
            <a:pPr indent="0" marL="0">
              <a:buNone/>
            </a:pPr>
            <a:r>
              <a:rPr lang="en-US" sz="1200" dirty="0">
                <a:solidFill>
                  <a:schemeClr val="tx1"/>
                </a:solidFill>
              </a:rPr>
              <a:t>Header</a:t>
            </a:r>
            <a:pPr indent="0" marL="0">
              <a:buNone/>
            </a:pPr>
            <a:r>
              <a:rPr lang="en-US" sz="1200" dirty="0">
                <a:solidFill>
                  <a:schemeClr val="accent6"/>
                </a:solidFill>
              </a:rPr>
              <a:t>   Account = [실습 이메일]  Verify</a:t>
            </a:r>
            <a:endParaRPr lang="en-US" sz="1200" dirty="0"/>
          </a:p>
        </p:txBody>
      </p:sp>
      <p:pic>
        <p:nvPicPr>
          <p:cNvPr id="37" name="icon_547" descr="preencoded.png">    </p:cNvPr>
          <p:cNvPicPr>
            <a:picLocks noChangeAspect="1"/>
          </p:cNvPicPr>
          <p:nvPr/>
        </p:nvPicPr>
        <p:blipFill>
          <a:blip r:embed="rId8"/>
          <a:stretch>
            <a:fillRect/>
          </a:stretch>
        </p:blipFill>
        <p:spPr>
          <a:xfrm>
            <a:off x="7168896" y="4059936"/>
            <a:ext cx="201168" cy="201168"/>
          </a:xfrm>
          <a:prstGeom prst="rect">
            <a:avLst/>
          </a:prstGeom>
        </p:spPr>
      </p:pic>
      <p:sp>
        <p:nvSpPr>
          <p:cNvPr id="38" name="text_548"/>
          <p:cNvSpPr txBox="1"/>
          <p:nvPr/>
        </p:nvSpPr>
        <p:spPr>
          <a:xfrm>
            <a:off x="7443216" y="4005072"/>
            <a:ext cx="4059936" cy="347472"/>
          </a:xfrm>
          <a:prstGeom prst="rect">
            <a:avLst/>
          </a:prstGeom>
          <a:noFill/>
          <a:ln/>
        </p:spPr>
        <p:txBody>
          <a:bodyPr wrap="square" lIns="0" tIns="0" rIns="0" bIns="0" rtlCol="0" anchor="ctr"/>
          <a:lstStyle/>
          <a:p>
            <a:pPr indent="0" marL="0">
              <a:buNone/>
            </a:pPr>
            <a:r>
              <a:rPr lang="en-US" sz="1200" dirty="0">
                <a:solidFill>
                  <a:schemeClr val="tx1"/>
                </a:solidFill>
              </a:rPr>
              <a:t>Header</a:t>
            </a:r>
            <a:pPr indent="0" marL="0">
              <a:buNone/>
            </a:pPr>
            <a:r>
              <a:rPr lang="en-US" sz="1200" dirty="0">
                <a:solidFill>
                  <a:schemeClr val="accent6"/>
                </a:solidFill>
              </a:rPr>
              <a:t>   Log out = {CLICK}</a:t>
            </a:r>
            <a:endParaRPr lang="en-US" sz="1200" dirty="0"/>
          </a:p>
        </p:txBody>
      </p:sp>
      <p:pic>
        <p:nvPicPr>
          <p:cNvPr id="39" name="icon_549" descr="preencoded.png">    </p:cNvPr>
          <p:cNvPicPr>
            <a:picLocks noChangeAspect="1"/>
          </p:cNvPicPr>
          <p:nvPr/>
        </p:nvPicPr>
        <p:blipFill>
          <a:blip r:embed="rId9"/>
          <a:stretch>
            <a:fillRect/>
          </a:stretch>
        </p:blipFill>
        <p:spPr>
          <a:xfrm>
            <a:off x="7168896" y="4407408"/>
            <a:ext cx="201168" cy="201168"/>
          </a:xfrm>
          <a:prstGeom prst="rect">
            <a:avLst/>
          </a:prstGeom>
        </p:spPr>
      </p:pic>
      <p:sp>
        <p:nvSpPr>
          <p:cNvPr id="40" name="text_550"/>
          <p:cNvSpPr txBox="1"/>
          <p:nvPr/>
        </p:nvSpPr>
        <p:spPr>
          <a:xfrm>
            <a:off x="7443216" y="4352544"/>
            <a:ext cx="4059936" cy="347472"/>
          </a:xfrm>
          <a:prstGeom prst="rect">
            <a:avLst/>
          </a:prstGeom>
          <a:noFill/>
          <a:ln/>
        </p:spPr>
        <p:txBody>
          <a:bodyPr wrap="square" lIns="0" tIns="0" rIns="0" bIns="0" rtlCol="0" anchor="ctr"/>
          <a:lstStyle/>
          <a:p>
            <a:pPr indent="0" marL="0">
              <a:buNone/>
            </a:pPr>
            <a:r>
              <a:rPr lang="en-US" sz="1200" dirty="0">
                <a:solidFill>
                  <a:schemeClr val="tx1"/>
                </a:solidFill>
              </a:rPr>
              <a:t>CloseBrowser</a:t>
            </a:r>
            <a:pPr indent="0" marL="0">
              <a:buNone/>
            </a:pPr>
            <a:r>
              <a:rPr lang="en-US" sz="1200" dirty="0">
                <a:solidFill>
                  <a:schemeClr val="accent6"/>
                </a:solidFill>
              </a:rPr>
              <a:t>   Title = Demo Web Shop*</a:t>
            </a:r>
            <a:endParaRPr lang="en-US" sz="1200" dirty="0"/>
          </a:p>
        </p:txBody>
      </p:sp>
      <p:sp>
        <p:nvSpPr>
          <p:cNvPr id="41" name="text_551"/>
          <p:cNvSpPr txBox="1"/>
          <p:nvPr/>
        </p:nvSpPr>
        <p:spPr>
          <a:xfrm>
            <a:off x="6583680" y="4700016"/>
            <a:ext cx="4645152" cy="347472"/>
          </a:xfrm>
          <a:prstGeom prst="rect">
            <a:avLst/>
          </a:prstGeom>
          <a:noFill/>
          <a:ln/>
        </p:spPr>
        <p:txBody>
          <a:bodyPr wrap="square" lIns="0" tIns="0" rIns="0" bIns="0" rtlCol="0" anchor="ctr"/>
          <a:lstStyle/>
          <a:p>
            <a:pPr indent="0" marL="0">
              <a:buNone/>
            </a:pPr>
            <a:endParaRPr lang="en-US" sz="1200" dirty="0"/>
          </a:p>
        </p:txBody>
      </p:sp>
      <p:sp>
        <p:nvSpPr>
          <p:cNvPr id="42" name="text_552"/>
          <p:cNvSpPr txBox="1"/>
          <p:nvPr/>
        </p:nvSpPr>
        <p:spPr>
          <a:xfrm>
            <a:off x="6583680" y="5047488"/>
            <a:ext cx="4645152" cy="347472"/>
          </a:xfrm>
          <a:prstGeom prst="rect">
            <a:avLst/>
          </a:prstGeom>
          <a:noFill/>
          <a:ln/>
        </p:spPr>
        <p:txBody>
          <a:bodyPr wrap="square" lIns="0" tIns="0" rIns="0" bIns="0" rtlCol="0" anchor="ctr"/>
          <a:lstStyle/>
          <a:p>
            <a:pPr indent="0" marL="0">
              <a:buNone/>
            </a:pPr>
            <a:r>
              <a:rPr lang="en-US" sz="1200" dirty="0">
                <a:solidFill>
                  <a:schemeClr val="accent6"/>
                </a:solidFill>
              </a:rPr>
              <a:t>값과 ActionMode는 스텝을 펼쳐서 확인한다.</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Lab 4  ScratchBook 검증 실행과 수정</a:t>
            </a:r>
            <a:endParaRPr lang="en-US" sz="3200" dirty="0"/>
          </a:p>
        </p:txBody>
      </p:sp>
      <p:sp>
        <p:nvSpPr>
          <p:cNvPr id="4" name="chip_553"/>
          <p:cNvSpPr txBox="1"/>
          <p:nvPr/>
        </p:nvSpPr>
        <p:spPr>
          <a:xfrm>
            <a:off x="9646920" y="548640"/>
            <a:ext cx="914400" cy="384048"/>
          </a:xfrm>
          <a:prstGeom prst="roundRect">
            <a:avLst>
              <a:gd name="adj" fmla="val 14286"/>
            </a:avLst>
          </a:prstGeom>
          <a:solidFill>
            <a:schemeClr val="accent1"/>
          </a:solidFill>
          <a:ln/>
        </p:spPr>
        <p:txBody>
          <a:bodyPr wrap="square" lIns="0" tIns="50800" rIns="50800" bIns="0" rtlCol="0" anchor="ctr"/>
          <a:lstStyle/>
          <a:p>
            <a:pPr algn="ctr" indent="0" marL="0">
              <a:buNone/>
            </a:pPr>
            <a:r>
              <a:rPr lang="en-US" sz="1300" b="1" dirty="0">
                <a:solidFill>
                  <a:schemeClr val="bg1"/>
                </a:solidFill>
              </a:rPr>
              <a:t>Lab 4</a:t>
            </a:r>
            <a:endParaRPr lang="en-US" sz="1300" dirty="0"/>
          </a:p>
        </p:txBody>
      </p:sp>
      <p:sp>
        <p:nvSpPr>
          <p:cNvPr id="5" name="chip_554"/>
          <p:cNvSpPr txBox="1"/>
          <p:nvPr/>
        </p:nvSpPr>
        <p:spPr>
          <a:xfrm>
            <a:off x="10680192" y="548640"/>
            <a:ext cx="960120" cy="384048"/>
          </a:xfrm>
          <a:prstGeom prst="roundRect">
            <a:avLst>
              <a:gd name="adj" fmla="val 14286"/>
            </a:avLst>
          </a:prstGeom>
          <a:solidFill>
            <a:schemeClr val="bg2"/>
          </a:solidFill>
          <a:ln/>
        </p:spPr>
        <p:txBody>
          <a:bodyPr wrap="square" lIns="0" tIns="50800" rIns="50800" bIns="0" rtlCol="0" anchor="ctr"/>
          <a:lstStyle/>
          <a:p>
            <a:pPr algn="ctr" indent="0" marL="0">
              <a:buNone/>
            </a:pPr>
            <a:r>
              <a:rPr lang="en-US" sz="1300" b="1" dirty="0">
                <a:solidFill>
                  <a:schemeClr val="tx2"/>
                </a:solidFill>
              </a:rPr>
              <a:t>20분</a:t>
            </a:r>
            <a:endParaRPr lang="en-US" sz="1300" dirty="0"/>
          </a:p>
        </p:txBody>
      </p:sp>
      <p:sp>
        <p:nvSpPr>
          <p:cNvPr id="6" name="card_555"/>
          <p:cNvSpPr/>
          <p:nvPr/>
        </p:nvSpPr>
        <p:spPr>
          <a:xfrm>
            <a:off x="548640" y="1417320"/>
            <a:ext cx="2587752" cy="3200400"/>
          </a:xfrm>
          <a:prstGeom prst="roundRect">
            <a:avLst>
              <a:gd name="adj" fmla="val 3534"/>
            </a:avLst>
          </a:prstGeom>
          <a:solidFill>
            <a:schemeClr val="bg2"/>
          </a:solidFill>
          <a:ln/>
        </p:spPr>
      </p:sp>
      <p:sp>
        <p:nvSpPr>
          <p:cNvPr id="7" name="chip_556"/>
          <p:cNvSpPr txBox="1"/>
          <p:nvPr/>
        </p:nvSpPr>
        <p:spPr>
          <a:xfrm>
            <a:off x="731520" y="1600200"/>
            <a:ext cx="685800" cy="310896"/>
          </a:xfrm>
          <a:prstGeom prst="roundRect">
            <a:avLst>
              <a:gd name="adj" fmla="val 1764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4-1</a:t>
            </a:r>
            <a:endParaRPr lang="en-US" sz="1200" dirty="0"/>
          </a:p>
        </p:txBody>
      </p:sp>
      <p:sp>
        <p:nvSpPr>
          <p:cNvPr id="8" name="text_557"/>
          <p:cNvSpPr txBox="1"/>
          <p:nvPr/>
        </p:nvSpPr>
        <p:spPr>
          <a:xfrm>
            <a:off x="731520" y="2011680"/>
            <a:ext cx="2221992" cy="685800"/>
          </a:xfrm>
          <a:prstGeom prst="rect">
            <a:avLst/>
          </a:prstGeom>
          <a:noFill/>
          <a:ln/>
        </p:spPr>
        <p:txBody>
          <a:bodyPr wrap="square" lIns="0" tIns="0" rIns="0" bIns="0" rtlCol="0" anchor="t"/>
          <a:lstStyle/>
          <a:p>
            <a:pPr indent="0" marL="0">
              <a:buNone/>
            </a:pPr>
            <a:r>
              <a:rPr lang="en-US" sz="1600" b="1" dirty="0">
                <a:solidFill>
                  <a:schemeClr val="tx1"/>
                </a:solidFill>
              </a:rPr>
              <a:t>검증 실행</a:t>
            </a:r>
            <a:endParaRPr lang="en-US" sz="1600" dirty="0"/>
          </a:p>
        </p:txBody>
      </p:sp>
      <p:sp>
        <p:nvSpPr>
          <p:cNvPr id="9" name="text_558"/>
          <p:cNvSpPr txBox="1"/>
          <p:nvPr/>
        </p:nvSpPr>
        <p:spPr>
          <a:xfrm>
            <a:off x="731520" y="2697480"/>
            <a:ext cx="2221992" cy="1280160"/>
          </a:xfrm>
          <a:prstGeom prst="rect">
            <a:avLst/>
          </a:prstGeom>
          <a:noFill/>
          <a:ln/>
        </p:spPr>
        <p:txBody>
          <a:bodyPr wrap="square" lIns="0" tIns="0" rIns="0" bIns="0" rtlCol="0" anchor="t"/>
          <a:lstStyle/>
          <a:p>
            <a:pPr indent="0" marL="0">
              <a:buNone/>
            </a:pPr>
            <a:r>
              <a:rPr lang="en-US" sz="1300" dirty="0">
                <a:solidFill>
                  <a:schemeClr val="accent6"/>
                </a:solidFill>
              </a:rPr>
              <a:t>'로그인 성공_자동' 테스트케이스를 ScratchBook에서 검증 실행해줘. 끝나면 스텝별 통과/실패를 표로 보여줘.</a:t>
            </a:r>
            <a:endParaRPr lang="en-US" sz="1300" dirty="0"/>
          </a:p>
        </p:txBody>
      </p:sp>
      <p:sp>
        <p:nvSpPr>
          <p:cNvPr id="10" name="chip_559"/>
          <p:cNvSpPr txBox="1"/>
          <p:nvPr/>
        </p:nvSpPr>
        <p:spPr>
          <a:xfrm>
            <a:off x="731520" y="4023360"/>
            <a:ext cx="2221992" cy="384048"/>
          </a:xfrm>
          <a:prstGeom prst="roundRect">
            <a:avLst>
              <a:gd name="adj" fmla="val 14286"/>
            </a:avLst>
          </a:prstGeom>
          <a:solidFill>
            <a:schemeClr val="accent4"/>
          </a:solidFill>
          <a:ln/>
        </p:spPr>
        <p:txBody>
          <a:bodyPr wrap="square" lIns="0" tIns="50800" rIns="50800" bIns="0" rtlCol="0" anchor="ctr"/>
          <a:lstStyle/>
          <a:p>
            <a:pPr algn="ctr" indent="0" marL="0">
              <a:buNone/>
            </a:pPr>
            <a:r>
              <a:rPr lang="en-US" sz="1300" b="1" dirty="0">
                <a:solidFill>
                  <a:schemeClr val="bg1"/>
                </a:solidFill>
              </a:rPr>
              <a:t>통과</a:t>
            </a:r>
            <a:endParaRPr lang="en-US" sz="1300" dirty="0"/>
          </a:p>
        </p:txBody>
      </p:sp>
      <p:sp>
        <p:nvSpPr>
          <p:cNvPr id="11" name="line_560"/>
          <p:cNvSpPr/>
          <p:nvPr/>
        </p:nvSpPr>
        <p:spPr>
          <a:xfrm>
            <a:off x="3163824" y="3017520"/>
            <a:ext cx="192024" cy="0"/>
          </a:xfrm>
          <a:prstGeom prst="line">
            <a:avLst/>
          </a:prstGeom>
          <a:noFill/>
          <a:ln w="19050">
            <a:solidFill>
              <a:schemeClr val="accent1"/>
            </a:solidFill>
            <a:prstDash val="solid"/>
            <a:tailEnd type="triangle"/>
          </a:ln>
        </p:spPr>
      </p:sp>
      <p:sp>
        <p:nvSpPr>
          <p:cNvPr id="12" name="card_561"/>
          <p:cNvSpPr/>
          <p:nvPr/>
        </p:nvSpPr>
        <p:spPr>
          <a:xfrm>
            <a:off x="3383280" y="1417320"/>
            <a:ext cx="2587752" cy="3200400"/>
          </a:xfrm>
          <a:prstGeom prst="roundRect">
            <a:avLst>
              <a:gd name="adj" fmla="val 3534"/>
            </a:avLst>
          </a:prstGeom>
          <a:solidFill>
            <a:schemeClr val="bg2"/>
          </a:solidFill>
          <a:ln/>
        </p:spPr>
      </p:sp>
      <p:sp>
        <p:nvSpPr>
          <p:cNvPr id="13" name="chip_562"/>
          <p:cNvSpPr txBox="1"/>
          <p:nvPr/>
        </p:nvSpPr>
        <p:spPr>
          <a:xfrm>
            <a:off x="3566160" y="1600200"/>
            <a:ext cx="685800" cy="310896"/>
          </a:xfrm>
          <a:prstGeom prst="roundRect">
            <a:avLst>
              <a:gd name="adj" fmla="val 1764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4-2</a:t>
            </a:r>
            <a:endParaRPr lang="en-US" sz="1200" dirty="0"/>
          </a:p>
        </p:txBody>
      </p:sp>
      <p:sp>
        <p:nvSpPr>
          <p:cNvPr id="14" name="text_563"/>
          <p:cNvSpPr txBox="1"/>
          <p:nvPr/>
        </p:nvSpPr>
        <p:spPr>
          <a:xfrm>
            <a:off x="3566160" y="2011680"/>
            <a:ext cx="2221992" cy="685800"/>
          </a:xfrm>
          <a:prstGeom prst="rect">
            <a:avLst/>
          </a:prstGeom>
          <a:noFill/>
          <a:ln/>
        </p:spPr>
        <p:txBody>
          <a:bodyPr wrap="square" lIns="0" tIns="0" rIns="0" bIns="0" rtlCol="0" anchor="t"/>
          <a:lstStyle/>
          <a:p>
            <a:pPr indent="0" marL="0">
              <a:buNone/>
            </a:pPr>
            <a:r>
              <a:rPr lang="en-US" sz="1600" b="1" dirty="0">
                <a:solidFill>
                  <a:schemeClr val="tx1"/>
                </a:solidFill>
              </a:rPr>
              <a:t>값을 틀리게 바꿔 실행</a:t>
            </a:r>
            <a:endParaRPr lang="en-US" sz="1600" dirty="0"/>
          </a:p>
        </p:txBody>
      </p:sp>
      <p:sp>
        <p:nvSpPr>
          <p:cNvPr id="15" name="text_564"/>
          <p:cNvSpPr txBox="1"/>
          <p:nvPr/>
        </p:nvSpPr>
        <p:spPr>
          <a:xfrm>
            <a:off x="3566160" y="2697480"/>
            <a:ext cx="2221992" cy="1280160"/>
          </a:xfrm>
          <a:prstGeom prst="rect">
            <a:avLst/>
          </a:prstGeom>
          <a:noFill/>
          <a:ln/>
        </p:spPr>
        <p:txBody>
          <a:bodyPr wrap="square" lIns="0" tIns="0" rIns="0" bIns="0" rtlCol="0" anchor="t"/>
          <a:lstStyle/>
          <a:p>
            <a:pPr indent="0" marL="0">
              <a:buNone/>
            </a:pPr>
            <a:r>
              <a:rPr lang="en-US" sz="1300" dirty="0">
                <a:solidFill>
                  <a:schemeClr val="accent6"/>
                </a:solidFill>
              </a:rPr>
              <a:t>같은 테스트케이스에서 Account의 Verify 값을 wrong@example.com 으로 바꾸고 다시 검증 실행해줘.</a:t>
            </a:r>
            <a:endParaRPr lang="en-US" sz="1300" dirty="0"/>
          </a:p>
        </p:txBody>
      </p:sp>
      <p:sp>
        <p:nvSpPr>
          <p:cNvPr id="16" name="chip_565"/>
          <p:cNvSpPr txBox="1"/>
          <p:nvPr/>
        </p:nvSpPr>
        <p:spPr>
          <a:xfrm>
            <a:off x="3566160" y="4023360"/>
            <a:ext cx="2221992" cy="384048"/>
          </a:xfrm>
          <a:prstGeom prst="roundRect">
            <a:avLst>
              <a:gd name="adj" fmla="val 14286"/>
            </a:avLst>
          </a:prstGeom>
          <a:solidFill>
            <a:schemeClr val="accent5"/>
          </a:solidFill>
          <a:ln/>
        </p:spPr>
        <p:txBody>
          <a:bodyPr wrap="square" lIns="0" tIns="50800" rIns="50800" bIns="0" rtlCol="0" anchor="ctr"/>
          <a:lstStyle/>
          <a:p>
            <a:pPr algn="ctr" indent="0" marL="0">
              <a:buNone/>
            </a:pPr>
            <a:r>
              <a:rPr lang="en-US" sz="1300" b="1" dirty="0">
                <a:solidFill>
                  <a:schemeClr val="bg1"/>
                </a:solidFill>
              </a:rPr>
              <a:t>실패</a:t>
            </a:r>
            <a:endParaRPr lang="en-US" sz="1300" dirty="0"/>
          </a:p>
        </p:txBody>
      </p:sp>
      <p:sp>
        <p:nvSpPr>
          <p:cNvPr id="17" name="line_566"/>
          <p:cNvSpPr/>
          <p:nvPr/>
        </p:nvSpPr>
        <p:spPr>
          <a:xfrm>
            <a:off x="5998464" y="3017520"/>
            <a:ext cx="192024" cy="0"/>
          </a:xfrm>
          <a:prstGeom prst="line">
            <a:avLst/>
          </a:prstGeom>
          <a:noFill/>
          <a:ln w="19050">
            <a:solidFill>
              <a:schemeClr val="accent1"/>
            </a:solidFill>
            <a:prstDash val="solid"/>
            <a:tailEnd type="triangle"/>
          </a:ln>
        </p:spPr>
      </p:sp>
      <p:sp>
        <p:nvSpPr>
          <p:cNvPr id="18" name="card_567"/>
          <p:cNvSpPr/>
          <p:nvPr/>
        </p:nvSpPr>
        <p:spPr>
          <a:xfrm>
            <a:off x="6217920" y="1417320"/>
            <a:ext cx="2587752" cy="3200400"/>
          </a:xfrm>
          <a:prstGeom prst="roundRect">
            <a:avLst>
              <a:gd name="adj" fmla="val 3534"/>
            </a:avLst>
          </a:prstGeom>
          <a:solidFill>
            <a:schemeClr val="bg2"/>
          </a:solidFill>
          <a:ln/>
        </p:spPr>
      </p:sp>
      <p:sp>
        <p:nvSpPr>
          <p:cNvPr id="19" name="chip_568"/>
          <p:cNvSpPr txBox="1"/>
          <p:nvPr/>
        </p:nvSpPr>
        <p:spPr>
          <a:xfrm>
            <a:off x="6400800" y="1600200"/>
            <a:ext cx="685800" cy="310896"/>
          </a:xfrm>
          <a:prstGeom prst="roundRect">
            <a:avLst>
              <a:gd name="adj" fmla="val 1764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4-3</a:t>
            </a:r>
            <a:endParaRPr lang="en-US" sz="1200" dirty="0"/>
          </a:p>
        </p:txBody>
      </p:sp>
      <p:sp>
        <p:nvSpPr>
          <p:cNvPr id="20" name="text_569"/>
          <p:cNvSpPr txBox="1"/>
          <p:nvPr/>
        </p:nvSpPr>
        <p:spPr>
          <a:xfrm>
            <a:off x="6400800" y="2011680"/>
            <a:ext cx="2221992" cy="685800"/>
          </a:xfrm>
          <a:prstGeom prst="rect">
            <a:avLst/>
          </a:prstGeom>
          <a:noFill/>
          <a:ln/>
        </p:spPr>
        <p:txBody>
          <a:bodyPr wrap="square" lIns="0" tIns="0" rIns="0" bIns="0" rtlCol="0" anchor="t"/>
          <a:lstStyle/>
          <a:p>
            <a:pPr indent="0" marL="0">
              <a:buNone/>
            </a:pPr>
            <a:r>
              <a:rPr lang="en-US" sz="1600" b="1" dirty="0">
                <a:solidFill>
                  <a:schemeClr val="tx1"/>
                </a:solidFill>
              </a:rPr>
              <a:t>원인만 설명 듣기</a:t>
            </a:r>
            <a:endParaRPr lang="en-US" sz="1600" dirty="0"/>
          </a:p>
        </p:txBody>
      </p:sp>
      <p:sp>
        <p:nvSpPr>
          <p:cNvPr id="21" name="text_570"/>
          <p:cNvSpPr txBox="1"/>
          <p:nvPr/>
        </p:nvSpPr>
        <p:spPr>
          <a:xfrm>
            <a:off x="6400800" y="2697480"/>
            <a:ext cx="2221992" cy="1280160"/>
          </a:xfrm>
          <a:prstGeom prst="rect">
            <a:avLst/>
          </a:prstGeom>
          <a:noFill/>
          <a:ln/>
        </p:spPr>
        <p:txBody>
          <a:bodyPr wrap="square" lIns="0" tIns="0" rIns="0" bIns="0" rtlCol="0" anchor="t"/>
          <a:lstStyle/>
          <a:p>
            <a:pPr indent="0" marL="0">
              <a:buNone/>
            </a:pPr>
            <a:r>
              <a:rPr lang="en-US" sz="1300" dirty="0">
                <a:solidFill>
                  <a:schemeClr val="accent6"/>
                </a:solidFill>
              </a:rPr>
              <a:t>실패한 스텝과 메시지를 알려줘. 원인이 테스트 데이터 문제인지 애플리케이션 문제인지 근거와 함께 설명해줘. 아직 고치지는 마.</a:t>
            </a:r>
            <a:endParaRPr lang="en-US" sz="1300" dirty="0"/>
          </a:p>
        </p:txBody>
      </p:sp>
      <p:sp>
        <p:nvSpPr>
          <p:cNvPr id="22" name="chip_571"/>
          <p:cNvSpPr txBox="1"/>
          <p:nvPr/>
        </p:nvSpPr>
        <p:spPr>
          <a:xfrm>
            <a:off x="6400800" y="4023360"/>
            <a:ext cx="2221992" cy="384048"/>
          </a:xfrm>
          <a:prstGeom prst="roundRect">
            <a:avLst>
              <a:gd name="adj" fmla="val 14286"/>
            </a:avLst>
          </a:prstGeom>
          <a:solidFill>
            <a:schemeClr val="accent2"/>
          </a:solidFill>
          <a:ln/>
        </p:spPr>
        <p:txBody>
          <a:bodyPr wrap="square" lIns="0" tIns="50800" rIns="50800" bIns="0" rtlCol="0" anchor="ctr"/>
          <a:lstStyle/>
          <a:p>
            <a:pPr algn="ctr" indent="0" marL="0">
              <a:buNone/>
            </a:pPr>
            <a:r>
              <a:rPr lang="en-US" sz="1300" b="1" dirty="0">
                <a:solidFill>
                  <a:schemeClr val="tx1"/>
                </a:solidFill>
              </a:rPr>
              <a:t>기대값 불일치</a:t>
            </a:r>
            <a:endParaRPr lang="en-US" sz="1300" dirty="0"/>
          </a:p>
        </p:txBody>
      </p:sp>
      <p:sp>
        <p:nvSpPr>
          <p:cNvPr id="23" name="line_572"/>
          <p:cNvSpPr/>
          <p:nvPr/>
        </p:nvSpPr>
        <p:spPr>
          <a:xfrm>
            <a:off x="8833104" y="3017520"/>
            <a:ext cx="192024" cy="0"/>
          </a:xfrm>
          <a:prstGeom prst="line">
            <a:avLst/>
          </a:prstGeom>
          <a:noFill/>
          <a:ln w="19050">
            <a:solidFill>
              <a:schemeClr val="accent1"/>
            </a:solidFill>
            <a:prstDash val="solid"/>
            <a:tailEnd type="triangle"/>
          </a:ln>
        </p:spPr>
      </p:sp>
      <p:sp>
        <p:nvSpPr>
          <p:cNvPr id="24" name="card_573"/>
          <p:cNvSpPr/>
          <p:nvPr/>
        </p:nvSpPr>
        <p:spPr>
          <a:xfrm>
            <a:off x="9052560" y="1417320"/>
            <a:ext cx="2587752" cy="3200400"/>
          </a:xfrm>
          <a:prstGeom prst="roundRect">
            <a:avLst>
              <a:gd name="adj" fmla="val 3534"/>
            </a:avLst>
          </a:prstGeom>
          <a:solidFill>
            <a:schemeClr val="bg2"/>
          </a:solidFill>
          <a:ln/>
        </p:spPr>
      </p:sp>
      <p:sp>
        <p:nvSpPr>
          <p:cNvPr id="25" name="chip_574"/>
          <p:cNvSpPr txBox="1"/>
          <p:nvPr/>
        </p:nvSpPr>
        <p:spPr>
          <a:xfrm>
            <a:off x="9235440" y="1600200"/>
            <a:ext cx="685800" cy="310896"/>
          </a:xfrm>
          <a:prstGeom prst="roundRect">
            <a:avLst>
              <a:gd name="adj" fmla="val 17647"/>
            </a:avLst>
          </a:prstGeom>
          <a:solidFill>
            <a:schemeClr val="accent2"/>
          </a:solidFill>
          <a:ln/>
        </p:spPr>
        <p:txBody>
          <a:bodyPr wrap="square" lIns="0" tIns="50800" rIns="50800" bIns="0" rtlCol="0" anchor="ctr"/>
          <a:lstStyle/>
          <a:p>
            <a:pPr algn="ctr" indent="0" marL="0">
              <a:buNone/>
            </a:pPr>
            <a:r>
              <a:rPr lang="en-US" sz="1200" b="1" dirty="0">
                <a:solidFill>
                  <a:schemeClr val="tx1"/>
                </a:solidFill>
              </a:rPr>
              <a:t>4-4</a:t>
            </a:r>
            <a:endParaRPr lang="en-US" sz="1200" dirty="0"/>
          </a:p>
        </p:txBody>
      </p:sp>
      <p:sp>
        <p:nvSpPr>
          <p:cNvPr id="26" name="text_575"/>
          <p:cNvSpPr txBox="1"/>
          <p:nvPr/>
        </p:nvSpPr>
        <p:spPr>
          <a:xfrm>
            <a:off x="9235440" y="2011680"/>
            <a:ext cx="2221992" cy="685800"/>
          </a:xfrm>
          <a:prstGeom prst="rect">
            <a:avLst/>
          </a:prstGeom>
          <a:noFill/>
          <a:ln/>
        </p:spPr>
        <p:txBody>
          <a:bodyPr wrap="square" lIns="0" tIns="0" rIns="0" bIns="0" rtlCol="0" anchor="t"/>
          <a:lstStyle/>
          <a:p>
            <a:pPr indent="0" marL="0">
              <a:buNone/>
            </a:pPr>
            <a:r>
              <a:rPr lang="en-US" sz="1600" b="1" dirty="0">
                <a:solidFill>
                  <a:schemeClr val="tx1"/>
                </a:solidFill>
              </a:rPr>
              <a:t>되돌리고 다시 실행</a:t>
            </a:r>
            <a:endParaRPr lang="en-US" sz="1600" dirty="0"/>
          </a:p>
        </p:txBody>
      </p:sp>
      <p:sp>
        <p:nvSpPr>
          <p:cNvPr id="27" name="text_576"/>
          <p:cNvSpPr txBox="1"/>
          <p:nvPr/>
        </p:nvSpPr>
        <p:spPr>
          <a:xfrm>
            <a:off x="9235440" y="2697480"/>
            <a:ext cx="2221992" cy="1280160"/>
          </a:xfrm>
          <a:prstGeom prst="rect">
            <a:avLst/>
          </a:prstGeom>
          <a:noFill/>
          <a:ln/>
        </p:spPr>
        <p:txBody>
          <a:bodyPr wrap="square" lIns="0" tIns="0" rIns="0" bIns="0" rtlCol="0" anchor="t"/>
          <a:lstStyle/>
          <a:p>
            <a:pPr indent="0" marL="0">
              <a:buNone/>
            </a:pPr>
            <a:r>
              <a:rPr lang="en-US" sz="1300" dirty="0">
                <a:solidFill>
                  <a:schemeClr val="accent6"/>
                </a:solidFill>
              </a:rPr>
              <a:t>Verify 값을 원래 [실습 이메일]로 되돌리고 다시 검증 실행해줘. 통과하면 결과 표를 보여줘.</a:t>
            </a:r>
            <a:endParaRPr lang="en-US" sz="1300" dirty="0"/>
          </a:p>
        </p:txBody>
      </p:sp>
      <p:sp>
        <p:nvSpPr>
          <p:cNvPr id="28" name="chip_577"/>
          <p:cNvSpPr txBox="1"/>
          <p:nvPr/>
        </p:nvSpPr>
        <p:spPr>
          <a:xfrm>
            <a:off x="9235440" y="4023360"/>
            <a:ext cx="2221992" cy="384048"/>
          </a:xfrm>
          <a:prstGeom prst="roundRect">
            <a:avLst>
              <a:gd name="adj" fmla="val 14286"/>
            </a:avLst>
          </a:prstGeom>
          <a:solidFill>
            <a:schemeClr val="accent4"/>
          </a:solidFill>
          <a:ln/>
        </p:spPr>
        <p:txBody>
          <a:bodyPr wrap="square" lIns="0" tIns="50800" rIns="50800" bIns="0" rtlCol="0" anchor="ctr"/>
          <a:lstStyle/>
          <a:p>
            <a:pPr algn="ctr" indent="0" marL="0">
              <a:buNone/>
            </a:pPr>
            <a:r>
              <a:rPr lang="en-US" sz="1300" b="1" dirty="0">
                <a:solidFill>
                  <a:schemeClr val="bg1"/>
                </a:solidFill>
              </a:rPr>
              <a:t>통과</a:t>
            </a:r>
            <a:endParaRPr lang="en-US" sz="1300" dirty="0"/>
          </a:p>
        </p:txBody>
      </p:sp>
      <p:pic>
        <p:nvPicPr>
          <p:cNvPr id="29" name="icon_578" descr="preencoded.png">    </p:cNvPr>
          <p:cNvPicPr>
            <a:picLocks noChangeAspect="1"/>
          </p:cNvPicPr>
          <p:nvPr/>
        </p:nvPicPr>
        <p:blipFill>
          <a:blip r:embed="rId1"/>
          <a:stretch>
            <a:fillRect/>
          </a:stretch>
        </p:blipFill>
        <p:spPr>
          <a:xfrm>
            <a:off x="548640" y="4983480"/>
            <a:ext cx="384048" cy="384048"/>
          </a:xfrm>
          <a:prstGeom prst="rect">
            <a:avLst/>
          </a:prstGeom>
        </p:spPr>
      </p:pic>
      <p:sp>
        <p:nvSpPr>
          <p:cNvPr id="30" name="text_579"/>
          <p:cNvSpPr txBox="1"/>
          <p:nvPr/>
        </p:nvSpPr>
        <p:spPr>
          <a:xfrm>
            <a:off x="1051560" y="4892040"/>
            <a:ext cx="4846320" cy="566928"/>
          </a:xfrm>
          <a:prstGeom prst="rect">
            <a:avLst/>
          </a:prstGeom>
          <a:noFill/>
          <a:ln/>
        </p:spPr>
        <p:txBody>
          <a:bodyPr wrap="square" lIns="0" tIns="0" rIns="0" bIns="0" rtlCol="0" anchor="ctr"/>
          <a:lstStyle/>
          <a:p>
            <a:pPr indent="0" marL="0">
              <a:buNone/>
            </a:pPr>
            <a:r>
              <a:rPr lang="en-US" sz="1400" dirty="0">
                <a:solidFill>
                  <a:schemeClr val="tx1"/>
                </a:solidFill>
              </a:rPr>
              <a:t>실행 중에는 마우스와 키보드를 건드리지 않는다</a:t>
            </a:r>
            <a:endParaRPr lang="en-US" sz="1400" dirty="0"/>
          </a:p>
        </p:txBody>
      </p:sp>
      <p:pic>
        <p:nvPicPr>
          <p:cNvPr id="31" name="icon_580" descr="preencoded.png">    </p:cNvPr>
          <p:cNvPicPr>
            <a:picLocks noChangeAspect="1"/>
          </p:cNvPicPr>
          <p:nvPr/>
        </p:nvPicPr>
        <p:blipFill>
          <a:blip r:embed="rId2"/>
          <a:stretch>
            <a:fillRect/>
          </a:stretch>
        </p:blipFill>
        <p:spPr>
          <a:xfrm>
            <a:off x="6263640" y="4983480"/>
            <a:ext cx="384048" cy="384048"/>
          </a:xfrm>
          <a:prstGeom prst="rect">
            <a:avLst/>
          </a:prstGeom>
        </p:spPr>
      </p:pic>
      <p:sp>
        <p:nvSpPr>
          <p:cNvPr id="32" name="text_581"/>
          <p:cNvSpPr txBox="1"/>
          <p:nvPr/>
        </p:nvSpPr>
        <p:spPr>
          <a:xfrm>
            <a:off x="6766560" y="4892040"/>
            <a:ext cx="4873752" cy="566928"/>
          </a:xfrm>
          <a:prstGeom prst="rect">
            <a:avLst/>
          </a:prstGeom>
          <a:noFill/>
          <a:ln/>
        </p:spPr>
        <p:txBody>
          <a:bodyPr wrap="square" lIns="0" tIns="0" rIns="0" bIns="0" rtlCol="0" anchor="ctr"/>
          <a:lstStyle/>
          <a:p>
            <a:pPr indent="0" marL="0">
              <a:buNone/>
            </a:pPr>
            <a:r>
              <a:rPr lang="en-US" sz="1400" dirty="0">
                <a:solidFill>
                  <a:schemeClr val="tx1"/>
                </a:solidFill>
              </a:rPr>
              <a:t>실행은 한 번에 하나. 응답이 끊겨도 다시 실행하지 말고 결과만 다시 묻는다</a:t>
            </a:r>
            <a:endParaRPr lang="en-US" sz="1400" dirty="0"/>
          </a:p>
        </p:txBody>
      </p:sp>
      <p:sp>
        <p:nvSpPr>
          <p:cNvPr id="33" name="text_582"/>
          <p:cNvSpPr txBox="1"/>
          <p:nvPr/>
        </p:nvSpPr>
        <p:spPr>
          <a:xfrm>
            <a:off x="548640" y="5669280"/>
            <a:ext cx="11091672" cy="320040"/>
          </a:xfrm>
          <a:prstGeom prst="rect">
            <a:avLst/>
          </a:prstGeom>
          <a:noFill/>
          <a:ln/>
        </p:spPr>
        <p:txBody>
          <a:bodyPr wrap="square" lIns="0" tIns="0" rIns="0" bIns="0" rtlCol="0" anchor="ctr"/>
          <a:lstStyle/>
          <a:p>
            <a:pPr indent="0" marL="0">
              <a:buNone/>
            </a:pPr>
            <a:r>
              <a:rPr lang="en-US" sz="1100" dirty="0">
                <a:solidFill>
                  <a:schemeClr val="accent6"/>
                </a:solidFill>
              </a:rPr>
              <a:t>AI가 쓰는 도구: execute_test_suite (is_validation_run=true), execute_test_suite_status, set_attribute</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Lab 5  저장, 그리고 막혔을 때</a:t>
            </a:r>
            <a:endParaRPr lang="en-US" sz="3200" dirty="0"/>
          </a:p>
        </p:txBody>
      </p:sp>
      <p:sp>
        <p:nvSpPr>
          <p:cNvPr id="4" name="chip_583"/>
          <p:cNvSpPr txBox="1"/>
          <p:nvPr/>
        </p:nvSpPr>
        <p:spPr>
          <a:xfrm>
            <a:off x="9646920" y="548640"/>
            <a:ext cx="914400" cy="384048"/>
          </a:xfrm>
          <a:prstGeom prst="roundRect">
            <a:avLst>
              <a:gd name="adj" fmla="val 14286"/>
            </a:avLst>
          </a:prstGeom>
          <a:solidFill>
            <a:schemeClr val="accent1"/>
          </a:solidFill>
          <a:ln/>
        </p:spPr>
        <p:txBody>
          <a:bodyPr wrap="square" lIns="0" tIns="50800" rIns="50800" bIns="0" rtlCol="0" anchor="ctr"/>
          <a:lstStyle/>
          <a:p>
            <a:pPr algn="ctr" indent="0" marL="0">
              <a:buNone/>
            </a:pPr>
            <a:r>
              <a:rPr lang="en-US" sz="1300" b="1" dirty="0">
                <a:solidFill>
                  <a:schemeClr val="bg1"/>
                </a:solidFill>
              </a:rPr>
              <a:t>Lab 5</a:t>
            </a:r>
            <a:endParaRPr lang="en-US" sz="1300" dirty="0"/>
          </a:p>
        </p:txBody>
      </p:sp>
      <p:sp>
        <p:nvSpPr>
          <p:cNvPr id="5" name="chip_584"/>
          <p:cNvSpPr txBox="1"/>
          <p:nvPr/>
        </p:nvSpPr>
        <p:spPr>
          <a:xfrm>
            <a:off x="10680192" y="548640"/>
            <a:ext cx="960120" cy="384048"/>
          </a:xfrm>
          <a:prstGeom prst="roundRect">
            <a:avLst>
              <a:gd name="adj" fmla="val 14286"/>
            </a:avLst>
          </a:prstGeom>
          <a:solidFill>
            <a:schemeClr val="bg2"/>
          </a:solidFill>
          <a:ln/>
        </p:spPr>
        <p:txBody>
          <a:bodyPr wrap="square" lIns="0" tIns="50800" rIns="50800" bIns="0" rtlCol="0" anchor="ctr"/>
          <a:lstStyle/>
          <a:p>
            <a:pPr algn="ctr" indent="0" marL="0">
              <a:buNone/>
            </a:pPr>
            <a:r>
              <a:rPr lang="en-US" sz="1300" b="1" dirty="0">
                <a:solidFill>
                  <a:schemeClr val="tx2"/>
                </a:solidFill>
              </a:rPr>
              <a:t>10분</a:t>
            </a:r>
            <a:endParaRPr lang="en-US" sz="1300" dirty="0"/>
          </a:p>
        </p:txBody>
      </p:sp>
      <p:sp>
        <p:nvSpPr>
          <p:cNvPr id="6" name="prompt_585"/>
          <p:cNvSpPr/>
          <p:nvPr/>
        </p:nvSpPr>
        <p:spPr>
          <a:xfrm>
            <a:off x="548640" y="1371600"/>
            <a:ext cx="5120640" cy="1234440"/>
          </a:xfrm>
          <a:prstGeom prst="roundRect">
            <a:avLst>
              <a:gd name="adj" fmla="val 5926"/>
            </a:avLst>
          </a:prstGeom>
          <a:solidFill>
            <a:schemeClr val="accent2">
              <a:alpha val="14000"/>
            </a:schemeClr>
          </a:solidFill>
          <a:ln w="9525">
            <a:solidFill>
              <a:schemeClr val="accent2"/>
            </a:solidFill>
            <a:prstDash val="solid"/>
          </a:ln>
        </p:spPr>
      </p:sp>
      <p:sp>
        <p:nvSpPr>
          <p:cNvPr id="7" name="chip_586"/>
          <p:cNvSpPr txBox="1"/>
          <p:nvPr/>
        </p:nvSpPr>
        <p:spPr>
          <a:xfrm>
            <a:off x="713232" y="1490472"/>
            <a:ext cx="1234440" cy="274320"/>
          </a:xfrm>
          <a:prstGeom prst="roundRect">
            <a:avLst>
              <a:gd name="adj" fmla="val 2000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5-1</a:t>
            </a:r>
            <a:endParaRPr lang="en-US" sz="1100" dirty="0"/>
          </a:p>
        </p:txBody>
      </p:sp>
      <p:sp>
        <p:nvSpPr>
          <p:cNvPr id="8" name="text_587"/>
          <p:cNvSpPr txBox="1"/>
          <p:nvPr/>
        </p:nvSpPr>
        <p:spPr>
          <a:xfrm>
            <a:off x="731520" y="1874520"/>
            <a:ext cx="4754880" cy="612648"/>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오늘 만들거나 바꾼 객체를 경로와 함께 표로 정리하고, 워크스페이스를 저장해줘.</a:t>
            </a:r>
            <a:endParaRPr lang="en-US" sz="1300" dirty="0"/>
          </a:p>
        </p:txBody>
      </p:sp>
      <p:graphicFrame>
        <p:nvGraphicFramePr>
          <p:cNvPr id="23" name="table_588"/>
          <p:cNvGraphicFramePr>
            <a:graphicFrameLocks noGrp="1"/>
          </p:cNvGraphicFramePr>
          <p:nvPr>
            <p:extLst>
              <p:ext uri="{D42A27DB-BD31-4B8C-83A1-F6EECF244321}">
                <p14:modId xmlns:p14="http://schemas.microsoft.com/office/powerpoint/2010/main" val="1579011935"/>
              </p:ext>
            </p:extLst>
          </p:nvPr>
        </p:nvGraphicFramePr>
        <p:xfrm>
          <a:off x="548640" y="2834640"/>
          <a:ext cx="5120640" cy="914400"/>
        </p:xfrm>
        <a:graphic>
          <a:graphicData uri="http://schemas.openxmlformats.org/drawingml/2006/table">
            <a:tbl>
              <a:tblPr/>
              <a:tblGrid>
                <a:gridCol w="1188720"/>
                <a:gridCol w="3931920"/>
              </a:tblGrid>
              <a:tr h="502920">
                <a:tc>
                  <a:txBody>
                    <a:bodyPr/>
                    <a:lstStyle/>
                    <a:p>
                      <a:pPr indent="0" marL="0">
                        <a:buNone/>
                      </a:pPr>
                      <a:endParaRPr lang="en-US" sz="12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작업 끝에 하는 일</a:t>
                      </a:r>
                      <a:endParaRPr lang="en-US" sz="12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02920">
                <a:tc>
                  <a:txBody>
                    <a:bodyPr/>
                    <a:lstStyle/>
                    <a:p>
                      <a:pPr indent="0" marL="0">
                        <a:buNone/>
                      </a:pPr>
                      <a:r>
                        <a:rPr lang="en-US" sz="1200" b="1" dirty="0">
                          <a:solidFill>
                            <a:schemeClr val="tx1"/>
                          </a:solidFill>
                        </a:rPr>
                        <a:t>싱글 유저</a:t>
                      </a:r>
                      <a:endParaRPr lang="en-US" sz="12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save_workspace</a:t>
                      </a:r>
                      <a:endParaRPr lang="en-US" sz="1200" dirty="0">
                        <a:latin typeface="Consolas" charset="0"/>
                        <a:ea typeface="Consolas" charset="0"/>
                        <a:cs typeface="Consolas" charset="0"/>
                      </a:endParaRPr>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멀티 유저</a:t>
                      </a:r>
                      <a:endParaRPr lang="en-US" sz="1200" dirty="0"/>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update_all → 편집 → save_workspace → check_in_all</a:t>
                      </a:r>
                      <a:endParaRPr lang="en-US" sz="1200" dirty="0">
                        <a:latin typeface="Consolas" charset="0"/>
                        <a:ea typeface="Consolas" charset="0"/>
                        <a:cs typeface="Consolas" charset="0"/>
                      </a:endParaRPr>
                    </a:p>
                  </a:txBody>
                  <a:tcPr marL="73152" marR="73152"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bl>
          </a:graphicData>
        </a:graphic>
      </p:graphicFrame>
      <p:sp>
        <p:nvSpPr>
          <p:cNvPr id="10" name="card_589"/>
          <p:cNvSpPr/>
          <p:nvPr/>
        </p:nvSpPr>
        <p:spPr>
          <a:xfrm>
            <a:off x="548640" y="4526280"/>
            <a:ext cx="5120640" cy="1645920"/>
          </a:xfrm>
          <a:prstGeom prst="roundRect">
            <a:avLst>
              <a:gd name="adj" fmla="val 5556"/>
            </a:avLst>
          </a:prstGeom>
          <a:solidFill>
            <a:schemeClr val="bg2"/>
          </a:solidFill>
          <a:ln/>
        </p:spPr>
      </p:sp>
      <p:sp>
        <p:nvSpPr>
          <p:cNvPr id="11" name="text_590"/>
          <p:cNvSpPr txBox="1"/>
          <p:nvPr/>
        </p:nvSpPr>
        <p:spPr>
          <a:xfrm>
            <a:off x="777240" y="4617720"/>
            <a:ext cx="4663440" cy="347472"/>
          </a:xfrm>
          <a:prstGeom prst="rect">
            <a:avLst/>
          </a:prstGeom>
          <a:noFill/>
          <a:ln/>
        </p:spPr>
        <p:txBody>
          <a:bodyPr wrap="square" lIns="0" tIns="0" rIns="0" bIns="0" rtlCol="0" anchor="ctr"/>
          <a:lstStyle/>
          <a:p>
            <a:pPr indent="0" marL="0">
              <a:buNone/>
            </a:pPr>
            <a:r>
              <a:rPr lang="en-US" sz="1300" b="1" dirty="0">
                <a:solidFill>
                  <a:schemeClr val="tx2"/>
                </a:solidFill>
              </a:rPr>
              <a:t>멀티 유저일 때 (5-2)</a:t>
            </a:r>
            <a:endParaRPr lang="en-US" sz="1300" dirty="0"/>
          </a:p>
        </p:txBody>
      </p:sp>
      <p:sp>
        <p:nvSpPr>
          <p:cNvPr id="12" name="text_591"/>
          <p:cNvSpPr txBox="1"/>
          <p:nvPr/>
        </p:nvSpPr>
        <p:spPr>
          <a:xfrm>
            <a:off x="777240" y="4983480"/>
            <a:ext cx="4709160" cy="1097280"/>
          </a:xfrm>
          <a:prstGeom prst="rect">
            <a:avLst/>
          </a:prstGeom>
          <a:noFill/>
          <a:ln/>
        </p:spPr>
        <p:txBody>
          <a:bodyPr wrap="square" lIns="0" tIns="0" rIns="0" bIns="0" rtlCol="0" anchor="t"/>
          <a:lstStyle/>
          <a:p>
            <a:pPr indent="0" marL="0">
              <a:buNone/>
            </a:pPr>
            <a:r>
              <a:rPr lang="en-US" sz="1200" dirty="0">
                <a:solidFill>
                  <a:schemeClr val="tx1"/>
                </a:solidFill>
              </a:rPr>
              <a:t>바뀐 객체 목록을 먼저 보여줘. 내가 확인하면 저장하고 체크인해줘. 체크인 코멘트는 'MCP 실습: 로그인 테스트 추가'로 남겨줘.</a:t>
            </a:r>
            <a:endParaRPr lang="en-US" sz="1200" dirty="0"/>
          </a:p>
        </p:txBody>
      </p:sp>
      <p:sp>
        <p:nvSpPr>
          <p:cNvPr id="13" name="text_592"/>
          <p:cNvSpPr txBox="1"/>
          <p:nvPr/>
        </p:nvSpPr>
        <p:spPr>
          <a:xfrm>
            <a:off x="5989320" y="1371600"/>
            <a:ext cx="5486400" cy="320040"/>
          </a:xfrm>
          <a:prstGeom prst="rect">
            <a:avLst/>
          </a:prstGeom>
          <a:noFill/>
          <a:ln/>
        </p:spPr>
        <p:txBody>
          <a:bodyPr wrap="square" lIns="0" tIns="0" rIns="0" bIns="0" rtlCol="0" anchor="ctr"/>
          <a:lstStyle/>
          <a:p>
            <a:pPr indent="0" marL="0">
              <a:buNone/>
            </a:pPr>
            <a:r>
              <a:rPr lang="en-US" sz="1400" b="1" dirty="0">
                <a:solidFill>
                  <a:schemeClr val="tx2"/>
                </a:solidFill>
              </a:rPr>
              <a:t>막혔을 때</a:t>
            </a:r>
            <a:endParaRPr lang="en-US" sz="1400" dirty="0"/>
          </a:p>
        </p:txBody>
      </p:sp>
      <p:graphicFrame>
        <p:nvGraphicFramePr>
          <p:cNvPr id="45" name="table_593"/>
          <p:cNvGraphicFramePr>
            <a:graphicFrameLocks noGrp="1"/>
          </p:cNvGraphicFramePr>
          <p:nvPr>
            <p:extLst>
              <p:ext uri="{D42A27DB-BD31-4B8C-83A1-F6EECF244321}">
                <p14:modId xmlns:p14="http://schemas.microsoft.com/office/powerpoint/2010/main" val="1579011935"/>
              </p:ext>
            </p:extLst>
          </p:nvPr>
        </p:nvGraphicFramePr>
        <p:xfrm>
          <a:off x="5989320" y="1783080"/>
          <a:ext cx="5650992" cy="914400"/>
        </p:xfrm>
        <a:graphic>
          <a:graphicData uri="http://schemas.openxmlformats.org/drawingml/2006/table">
            <a:tbl>
              <a:tblPr/>
              <a:tblGrid>
                <a:gridCol w="1920240"/>
                <a:gridCol w="3730752"/>
              </a:tblGrid>
              <a:tr h="0">
                <a:tc>
                  <a:txBody>
                    <a:bodyPr/>
                    <a:lstStyle/>
                    <a:p>
                      <a:pPr indent="0" marL="0">
                        <a:buNone/>
                      </a:pPr>
                      <a:r>
                        <a:rPr lang="en-US" sz="1150" b="1" dirty="0">
                          <a:solidFill>
                            <a:schemeClr val="bg1"/>
                          </a:solidFill>
                        </a:rPr>
                        <a:t>증상</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이렇게 한다</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0">
                <a:tc>
                  <a:txBody>
                    <a:bodyPr/>
                    <a:lstStyle/>
                    <a:p>
                      <a:pPr indent="0" marL="0">
                        <a:buNone/>
                      </a:pPr>
                      <a:r>
                        <a:rPr lang="en-US" sz="1150" b="1" dirty="0">
                          <a:solidFill>
                            <a:schemeClr val="tx1"/>
                          </a:solidFill>
                        </a:rPr>
                        <a:t>연결 거부, 서버 응답 없음</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Commander 실행 → 워크스페이스 열기 → 포트 46248 확인 (디버그 빌드는 8080, 직접 바꿨다면 그 값)</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0">
                <a:tc>
                  <a:txBody>
                    <a:bodyPr/>
                    <a:lstStyle/>
                    <a:p>
                      <a:pPr indent="0" marL="0">
                        <a:buNone/>
                      </a:pPr>
                      <a:r>
                        <a:rPr lang="en-US" sz="1150" b="1" dirty="0">
                          <a:solidFill>
                            <a:schemeClr val="tx1"/>
                          </a:solidFill>
                        </a:rPr>
                        <a:t>"Unknown task ..." 응답</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"상위 폴더를 Checkout 한 다음 다시 시도해줘"</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0">
                <a:tc>
                  <a:txBody>
                    <a:bodyPr/>
                    <a:lstStyle/>
                    <a:p>
                      <a:pPr indent="0" marL="0">
                        <a:buNone/>
                      </a:pPr>
                      <a:r>
                        <a:rPr lang="en-US" sz="1150" b="1" dirty="0">
                          <a:solidFill>
                            <a:schemeClr val="tx1"/>
                          </a:solidFill>
                        </a:rPr>
                        <a:t>모듈을 못 찾음</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모듈 폴더 경로를 알려 준다. 없으면 XScan으로 스캔 후 재요청</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0">
                <a:tc>
                  <a:txBody>
                    <a:bodyPr/>
                    <a:lstStyle/>
                    <a:p>
                      <a:pPr indent="0" marL="0">
                        <a:buNone/>
                      </a:pPr>
                      <a:r>
                        <a:rPr lang="en-US" sz="1150" b="1" dirty="0">
                          <a:solidFill>
                            <a:schemeClr val="tx1"/>
                          </a:solidFill>
                        </a:rPr>
                        <a:t>Commander가 대화상자를 띄우고 멈춤</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대화상자 닫기 → "속성 변경(set_attribute)으로 해줘". 스킬팩 설치로 예방</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0">
                <a:tc>
                  <a:txBody>
                    <a:bodyPr/>
                    <a:lstStyle/>
                    <a:p>
                      <a:pPr indent="0" marL="0">
                        <a:buNone/>
                      </a:pPr>
                      <a:r>
                        <a:rPr lang="en-US" sz="1150" b="1" dirty="0">
                          <a:solidFill>
                            <a:schemeClr val="tx1"/>
                          </a:solidFill>
                        </a:rPr>
                        <a:t>실행 결과가 안 돌아옴, 시간 초과</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재실행하지 말고 "마지막 실행 결과를 확인해줘"</a:t>
                      </a:r>
                      <a:endParaRPr lang="en-US" sz="1150" dirty="0"/>
                    </a:p>
                  </a:txBody>
                  <a:tcPr marL="76200" marR="762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15" name="card_594"/>
          <p:cNvSpPr/>
          <p:nvPr/>
        </p:nvSpPr>
        <p:spPr>
          <a:xfrm>
            <a:off x="5989320" y="4892040"/>
            <a:ext cx="5650992" cy="1280160"/>
          </a:xfrm>
          <a:prstGeom prst="roundRect">
            <a:avLst>
              <a:gd name="adj" fmla="val 7143"/>
            </a:avLst>
          </a:prstGeom>
          <a:solidFill>
            <a:schemeClr val="accent2">
              <a:alpha val="14000"/>
            </a:schemeClr>
          </a:solidFill>
          <a:ln/>
        </p:spPr>
      </p:sp>
      <p:pic>
        <p:nvPicPr>
          <p:cNvPr id="16" name="icon_595" descr="preencoded.png">    </p:cNvPr>
          <p:cNvPicPr>
            <a:picLocks noChangeAspect="1"/>
          </p:cNvPicPr>
          <p:nvPr/>
        </p:nvPicPr>
        <p:blipFill>
          <a:blip r:embed="rId1"/>
          <a:stretch>
            <a:fillRect/>
          </a:stretch>
        </p:blipFill>
        <p:spPr>
          <a:xfrm>
            <a:off x="6217920" y="5120640"/>
            <a:ext cx="384048" cy="384048"/>
          </a:xfrm>
          <a:prstGeom prst="rect">
            <a:avLst/>
          </a:prstGeom>
        </p:spPr>
      </p:pic>
      <p:sp>
        <p:nvSpPr>
          <p:cNvPr id="17" name="text_596"/>
          <p:cNvSpPr txBox="1"/>
          <p:nvPr/>
        </p:nvSpPr>
        <p:spPr>
          <a:xfrm>
            <a:off x="6766560" y="4983480"/>
            <a:ext cx="4709160" cy="1097280"/>
          </a:xfrm>
          <a:prstGeom prst="rect">
            <a:avLst/>
          </a:prstGeom>
          <a:noFill/>
          <a:ln/>
        </p:spPr>
        <p:txBody>
          <a:bodyPr wrap="square" lIns="0" tIns="0" rIns="0" bIns="0" rtlCol="0" anchor="ctr"/>
          <a:lstStyle/>
          <a:p>
            <a:pPr indent="0" marL="0">
              <a:buNone/>
            </a:pPr>
            <a:r>
              <a:rPr lang="en-US" sz="1300" dirty="0">
                <a:solidFill>
                  <a:schemeClr val="tx1"/>
                </a:solidFill>
              </a:rPr>
              <a:t>그래도 안 되면 AI에게 받은 응답을 그대로 복사해 강사에게 보여 준다. 증상 8가지 전체는 워크북 부록 B.</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3657600" cy="1280160"/>
          </a:xfrm>
          <a:prstGeom prst="rect">
            <a:avLst/>
          </a:prstGeom>
          <a:noFill/>
          <a:ln/>
        </p:spPr>
        <p:txBody>
          <a:bodyPr wrap="square" lIns="0" tIns="0" rIns="0" bIns="0" rtlCol="0" anchor="b"/>
          <a:lstStyle/>
          <a:p>
            <a:pPr algn="l" indent="0" marL="0">
              <a:buNone/>
            </a:pPr>
            <a:r>
              <a:rPr lang="en-US" sz="7200" b="1" dirty="0">
                <a:solidFill>
                  <a:schemeClr val="accent2"/>
                </a:solidFill>
              </a:rPr>
              <a:t>03</a:t>
            </a:r>
            <a:endParaRPr lang="en-US" sz="7200" dirty="0"/>
          </a:p>
        </p:txBody>
      </p:sp>
      <p:sp>
        <p:nvSpPr>
          <p:cNvPr id="3" name="Text 0"/>
          <p:cNvSpPr/>
          <p:nvPr>
            <p:ph idx="101" type="title" hasCustomPrompt="1"/>
          </p:nvPr>
        </p:nvSpPr>
        <p:spPr>
          <a:xfrm>
            <a:off x="731520" y="2971800"/>
            <a:ext cx="10515600" cy="914400"/>
          </a:xfrm>
          <a:prstGeom prst="rect">
            <a:avLst/>
          </a:prstGeom>
          <a:noFill/>
          <a:ln/>
        </p:spPr>
        <p:txBody>
          <a:bodyPr wrap="square" lIns="0" tIns="0" rIns="0" bIns="0" rtlCol="0" anchor="ctr"/>
          <a:lstStyle/>
          <a:p>
            <a:pPr algn="l" indent="0" marL="0">
              <a:buNone/>
            </a:pPr>
            <a:r>
              <a:rPr lang="en-US" sz="3800" b="1" dirty="0">
                <a:solidFill>
                  <a:schemeClr val="bg1"/>
                </a:solidFill>
              </a:rPr>
              <a:t>활용사례와 프롬프트 작성법</a:t>
            </a:r>
            <a:endParaRPr lang="en-US" sz="3800" dirty="0"/>
          </a:p>
        </p:txBody>
      </p:sp>
      <p:sp>
        <p:nvSpPr>
          <p:cNvPr id="4" name="Text 0"/>
          <p:cNvSpPr/>
          <p:nvPr>
            <p:ph idx="102" type="body" hasCustomPrompt="1"/>
          </p:nvPr>
        </p:nvSpPr>
        <p:spPr>
          <a:xfrm>
            <a:off x="731520" y="3977640"/>
            <a:ext cx="10515600" cy="731520"/>
          </a:xfrm>
          <a:prstGeom prst="rect">
            <a:avLst/>
          </a:prstGeom>
          <a:noFill/>
          <a:ln/>
        </p:spPr>
        <p:txBody>
          <a:bodyPr wrap="square" lIns="0" tIns="0" rIns="0" bIns="0" rtlCol="0" anchor="t"/>
          <a:lstStyle/>
          <a:p>
            <a:pPr algn="l" indent="0" marL="0">
              <a:buNone/>
            </a:pPr>
            <a:r>
              <a:rPr lang="en-US" sz="1800" dirty="0">
                <a:solidFill>
                  <a:schemeClr val="bg2"/>
                </a:solidFill>
              </a:rPr>
              <a:t>현업에서 많이 쓰는 여섯 가지와, 결과를 바꾸는 프롬프트 쓰는 법</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현업에서 많이 쓰는 여섯 가지</a:t>
            </a:r>
            <a:endParaRPr lang="en-US" sz="3200" dirty="0"/>
          </a:p>
        </p:txBody>
      </p:sp>
      <p:sp>
        <p:nvSpPr>
          <p:cNvPr id="4" name="card_597"/>
          <p:cNvSpPr/>
          <p:nvPr/>
        </p:nvSpPr>
        <p:spPr>
          <a:xfrm>
            <a:off x="548640" y="1325880"/>
            <a:ext cx="3566160" cy="2286000"/>
          </a:xfrm>
          <a:prstGeom prst="roundRect">
            <a:avLst>
              <a:gd name="adj" fmla="val 4000"/>
            </a:avLst>
          </a:prstGeom>
          <a:solidFill>
            <a:schemeClr val="bg1"/>
          </a:solidFill>
          <a:ln w="19050">
            <a:solidFill>
              <a:schemeClr val="bg2"/>
            </a:solidFill>
            <a:prstDash val="solid"/>
          </a:ln>
          <a:effectLst>
            <a:outerShdw sx="100000" sy="100000" kx="0" ky="0" algn="bl" rotWithShape="0" blurRad="76200" dist="25400" dir="5400000">
              <a:srgbClr val="1E2B2F">
                <a:alpha val="12000"/>
              </a:srgbClr>
            </a:outerShdw>
          </a:effectLst>
        </p:spPr>
      </p:sp>
      <p:sp>
        <p:nvSpPr>
          <p:cNvPr id="5" name="text_598"/>
          <p:cNvSpPr txBox="1"/>
          <p:nvPr/>
        </p:nvSpPr>
        <p:spPr>
          <a:xfrm>
            <a:off x="777240" y="1435608"/>
            <a:ext cx="548640" cy="594360"/>
          </a:xfrm>
          <a:prstGeom prst="rect">
            <a:avLst/>
          </a:prstGeom>
          <a:noFill/>
          <a:ln/>
        </p:spPr>
        <p:txBody>
          <a:bodyPr wrap="square" lIns="0" tIns="0" rIns="0" bIns="0" rtlCol="0" anchor="t"/>
          <a:lstStyle/>
          <a:p>
            <a:pPr indent="0" marL="0">
              <a:buNone/>
            </a:pPr>
            <a:r>
              <a:rPr lang="en-US" sz="3000" b="1" dirty="0">
                <a:solidFill>
                  <a:schemeClr val="accent2"/>
                </a:solidFill>
              </a:rPr>
              <a:t>1</a:t>
            </a:r>
            <a:endParaRPr lang="en-US" sz="3000" dirty="0"/>
          </a:p>
        </p:txBody>
      </p:sp>
      <p:sp>
        <p:nvSpPr>
          <p:cNvPr id="6" name="text_599"/>
          <p:cNvSpPr txBox="1"/>
          <p:nvPr/>
        </p:nvSpPr>
        <p:spPr>
          <a:xfrm>
            <a:off x="1325880" y="1490472"/>
            <a:ext cx="2606040" cy="502920"/>
          </a:xfrm>
          <a:prstGeom prst="rect">
            <a:avLst/>
          </a:prstGeom>
          <a:noFill/>
          <a:ln/>
        </p:spPr>
        <p:txBody>
          <a:bodyPr wrap="square" lIns="0" tIns="0" rIns="0" bIns="0" rtlCol="0" anchor="ctr"/>
          <a:lstStyle/>
          <a:p>
            <a:pPr indent="0" marL="0">
              <a:buNone/>
            </a:pPr>
            <a:r>
              <a:rPr lang="en-US" sz="1700" b="1" dirty="0">
                <a:solidFill>
                  <a:schemeClr val="tx1"/>
                </a:solidFill>
              </a:rPr>
              <a:t>수동 테스트 문서 옮기기</a:t>
            </a:r>
            <a:endParaRPr lang="en-US" sz="1700" dirty="0"/>
          </a:p>
        </p:txBody>
      </p:sp>
      <p:sp>
        <p:nvSpPr>
          <p:cNvPr id="7" name="text_600"/>
          <p:cNvSpPr txBox="1"/>
          <p:nvPr/>
        </p:nvSpPr>
        <p:spPr>
          <a:xfrm>
            <a:off x="777240" y="2075688"/>
            <a:ext cx="3108960" cy="868680"/>
          </a:xfrm>
          <a:prstGeom prst="rect">
            <a:avLst/>
          </a:prstGeom>
          <a:noFill/>
          <a:ln/>
        </p:spPr>
        <p:txBody>
          <a:bodyPr wrap="square" lIns="0" tIns="0" rIns="0" bIns="0" rtlCol="0" anchor="t"/>
          <a:lstStyle/>
          <a:p>
            <a:pPr indent="0" marL="0">
              <a:buNone/>
            </a:pPr>
            <a:r>
              <a:rPr lang="en-US" sz="1300" dirty="0">
                <a:solidFill>
                  <a:schemeClr val="tx1"/>
                </a:solidFill>
              </a:rPr>
              <a:t>엑셀이나 워드로 관리하던 수동 테스트 절차를 Tosca 수동 테스트케이스로 등록한다.</a:t>
            </a:r>
            <a:endParaRPr lang="en-US" sz="1300" dirty="0"/>
          </a:p>
        </p:txBody>
      </p:sp>
      <p:sp>
        <p:nvSpPr>
          <p:cNvPr id="8" name="line_601"/>
          <p:cNvSpPr/>
          <p:nvPr/>
        </p:nvSpPr>
        <p:spPr>
          <a:xfrm>
            <a:off x="777240" y="2990088"/>
            <a:ext cx="3108960" cy="0"/>
          </a:xfrm>
          <a:prstGeom prst="line">
            <a:avLst/>
          </a:prstGeom>
          <a:noFill/>
          <a:ln w="12700">
            <a:solidFill>
              <a:schemeClr val="bg2"/>
            </a:solidFill>
            <a:prstDash val="solid"/>
          </a:ln>
        </p:spPr>
      </p:sp>
      <p:sp>
        <p:nvSpPr>
          <p:cNvPr id="9" name="text_602"/>
          <p:cNvSpPr txBox="1"/>
          <p:nvPr/>
        </p:nvSpPr>
        <p:spPr>
          <a:xfrm>
            <a:off x="777240" y="3063240"/>
            <a:ext cx="2331720" cy="457200"/>
          </a:xfrm>
          <a:prstGeom prst="rect">
            <a:avLst/>
          </a:prstGeom>
          <a:noFill/>
          <a:ln/>
        </p:spPr>
        <p:txBody>
          <a:bodyPr wrap="square" lIns="0" tIns="0" rIns="0" bIns="0" rtlCol="0" anchor="ctr"/>
          <a:lstStyle/>
          <a:p>
            <a:pPr indent="0" marL="0">
              <a:buNone/>
            </a:pPr>
            <a:r>
              <a:rPr lang="en-US" sz="1150" b="1" dirty="0">
                <a:solidFill>
                  <a:schemeClr val="tx2"/>
                </a:solidFill>
              </a:rPr>
              <a:t>사람이 확인  </a:t>
            </a:r>
            <a:pPr indent="0" marL="0">
              <a:buNone/>
            </a:pPr>
            <a:r>
              <a:rPr lang="en-US" sz="1150" dirty="0">
                <a:solidFill>
                  <a:schemeClr val="tx1"/>
                </a:solidFill>
              </a:rPr>
              <a:t>스텝 누락, 기대 결과 문구</a:t>
            </a:r>
            <a:endParaRPr lang="en-US" sz="1150" dirty="0"/>
          </a:p>
        </p:txBody>
      </p:sp>
      <p:sp>
        <p:nvSpPr>
          <p:cNvPr id="10" name="chip_603"/>
          <p:cNvSpPr txBox="1"/>
          <p:nvPr/>
        </p:nvSpPr>
        <p:spPr>
          <a:xfrm>
            <a:off x="3246120" y="3127248"/>
            <a:ext cx="685800" cy="310896"/>
          </a:xfrm>
          <a:prstGeom prst="roundRect">
            <a:avLst>
              <a:gd name="adj" fmla="val 17647"/>
            </a:avLst>
          </a:prstGeom>
          <a:solidFill>
            <a:schemeClr val="bg2"/>
          </a:solidFill>
          <a:ln/>
        </p:spPr>
        <p:txBody>
          <a:bodyPr wrap="square" lIns="0" tIns="50800" rIns="50800" bIns="0" rtlCol="0" anchor="ctr"/>
          <a:lstStyle/>
          <a:p>
            <a:pPr algn="ctr" indent="0" marL="0">
              <a:buNone/>
            </a:pPr>
            <a:r>
              <a:rPr lang="en-US" sz="1000" b="1" dirty="0">
                <a:solidFill>
                  <a:schemeClr val="tx2"/>
                </a:solidFill>
              </a:rPr>
              <a:t>T05</a:t>
            </a:r>
            <a:endParaRPr lang="en-US" sz="1000" dirty="0"/>
          </a:p>
        </p:txBody>
      </p:sp>
      <p:sp>
        <p:nvSpPr>
          <p:cNvPr id="11" name="card_604"/>
          <p:cNvSpPr/>
          <p:nvPr/>
        </p:nvSpPr>
        <p:spPr>
          <a:xfrm>
            <a:off x="4311396" y="1325880"/>
            <a:ext cx="3566160" cy="2286000"/>
          </a:xfrm>
          <a:prstGeom prst="roundRect">
            <a:avLst>
              <a:gd name="adj" fmla="val 4000"/>
            </a:avLst>
          </a:prstGeom>
          <a:solidFill>
            <a:schemeClr val="bg1"/>
          </a:solidFill>
          <a:ln w="19050">
            <a:solidFill>
              <a:schemeClr val="bg2"/>
            </a:solidFill>
            <a:prstDash val="solid"/>
          </a:ln>
          <a:effectLst>
            <a:outerShdw sx="100000" sy="100000" kx="0" ky="0" algn="bl" rotWithShape="0" blurRad="76200" dist="25400" dir="5400000">
              <a:srgbClr val="1E2B2F">
                <a:alpha val="12000"/>
              </a:srgbClr>
            </a:outerShdw>
          </a:effectLst>
        </p:spPr>
      </p:sp>
      <p:sp>
        <p:nvSpPr>
          <p:cNvPr id="12" name="text_605"/>
          <p:cNvSpPr txBox="1"/>
          <p:nvPr/>
        </p:nvSpPr>
        <p:spPr>
          <a:xfrm>
            <a:off x="4539996" y="1435608"/>
            <a:ext cx="548640" cy="594360"/>
          </a:xfrm>
          <a:prstGeom prst="rect">
            <a:avLst/>
          </a:prstGeom>
          <a:noFill/>
          <a:ln/>
        </p:spPr>
        <p:txBody>
          <a:bodyPr wrap="square" lIns="0" tIns="0" rIns="0" bIns="0" rtlCol="0" anchor="t"/>
          <a:lstStyle/>
          <a:p>
            <a:pPr indent="0" marL="0">
              <a:buNone/>
            </a:pPr>
            <a:r>
              <a:rPr lang="en-US" sz="3000" b="1" dirty="0">
                <a:solidFill>
                  <a:schemeClr val="accent2"/>
                </a:solidFill>
              </a:rPr>
              <a:t>2</a:t>
            </a:r>
            <a:endParaRPr lang="en-US" sz="3000" dirty="0"/>
          </a:p>
        </p:txBody>
      </p:sp>
      <p:sp>
        <p:nvSpPr>
          <p:cNvPr id="13" name="text_606"/>
          <p:cNvSpPr txBox="1"/>
          <p:nvPr/>
        </p:nvSpPr>
        <p:spPr>
          <a:xfrm>
            <a:off x="5088636" y="1490472"/>
            <a:ext cx="2606040" cy="502920"/>
          </a:xfrm>
          <a:prstGeom prst="rect">
            <a:avLst/>
          </a:prstGeom>
          <a:noFill/>
          <a:ln/>
        </p:spPr>
        <p:txBody>
          <a:bodyPr wrap="square" lIns="0" tIns="0" rIns="0" bIns="0" rtlCol="0" anchor="ctr"/>
          <a:lstStyle/>
          <a:p>
            <a:pPr indent="0" marL="0">
              <a:buNone/>
            </a:pPr>
            <a:r>
              <a:rPr lang="en-US" sz="1700" b="1" dirty="0">
                <a:solidFill>
                  <a:schemeClr val="tx1"/>
                </a:solidFill>
              </a:rPr>
              <a:t>자동화 초안 만들기</a:t>
            </a:r>
            <a:endParaRPr lang="en-US" sz="1700" dirty="0"/>
          </a:p>
        </p:txBody>
      </p:sp>
      <p:sp>
        <p:nvSpPr>
          <p:cNvPr id="14" name="text_607"/>
          <p:cNvSpPr txBox="1"/>
          <p:nvPr/>
        </p:nvSpPr>
        <p:spPr>
          <a:xfrm>
            <a:off x="4539996" y="2075688"/>
            <a:ext cx="3108960" cy="868680"/>
          </a:xfrm>
          <a:prstGeom prst="rect">
            <a:avLst/>
          </a:prstGeom>
          <a:noFill/>
          <a:ln/>
        </p:spPr>
        <p:txBody>
          <a:bodyPr wrap="square" lIns="0" tIns="0" rIns="0" bIns="0" rtlCol="0" anchor="t"/>
          <a:lstStyle/>
          <a:p>
            <a:pPr indent="0" marL="0">
              <a:buNone/>
            </a:pPr>
            <a:r>
              <a:rPr lang="en-US" sz="1300" dirty="0">
                <a:solidFill>
                  <a:schemeClr val="tx1"/>
                </a:solidFill>
              </a:rPr>
              <a:t>시나리오 문장과 기존 모듈로 자동 테스트케이스 초안을 만들고 ScratchBook에서 바로 돌려 본다.</a:t>
            </a:r>
            <a:endParaRPr lang="en-US" sz="1300" dirty="0"/>
          </a:p>
        </p:txBody>
      </p:sp>
      <p:sp>
        <p:nvSpPr>
          <p:cNvPr id="15" name="line_608"/>
          <p:cNvSpPr/>
          <p:nvPr/>
        </p:nvSpPr>
        <p:spPr>
          <a:xfrm>
            <a:off x="4539996" y="2990088"/>
            <a:ext cx="3108960" cy="0"/>
          </a:xfrm>
          <a:prstGeom prst="line">
            <a:avLst/>
          </a:prstGeom>
          <a:noFill/>
          <a:ln w="12700">
            <a:solidFill>
              <a:schemeClr val="bg2"/>
            </a:solidFill>
            <a:prstDash val="solid"/>
          </a:ln>
        </p:spPr>
      </p:sp>
      <p:sp>
        <p:nvSpPr>
          <p:cNvPr id="16" name="text_609"/>
          <p:cNvSpPr txBox="1"/>
          <p:nvPr/>
        </p:nvSpPr>
        <p:spPr>
          <a:xfrm>
            <a:off x="4539996" y="3063240"/>
            <a:ext cx="2331720" cy="457200"/>
          </a:xfrm>
          <a:prstGeom prst="rect">
            <a:avLst/>
          </a:prstGeom>
          <a:noFill/>
          <a:ln/>
        </p:spPr>
        <p:txBody>
          <a:bodyPr wrap="square" lIns="0" tIns="0" rIns="0" bIns="0" rtlCol="0" anchor="ctr"/>
          <a:lstStyle/>
          <a:p>
            <a:pPr indent="0" marL="0">
              <a:buNone/>
            </a:pPr>
            <a:r>
              <a:rPr lang="en-US" sz="1150" b="1" dirty="0">
                <a:solidFill>
                  <a:schemeClr val="tx2"/>
                </a:solidFill>
              </a:rPr>
              <a:t>사람이 확인  </a:t>
            </a:r>
            <a:pPr indent="0" marL="0">
              <a:buNone/>
            </a:pPr>
            <a:r>
              <a:rPr lang="en-US" sz="1150" dirty="0">
                <a:solidFill>
                  <a:schemeClr val="tx1"/>
                </a:solidFill>
              </a:rPr>
              <a:t>모듈 매칭, ActionMode, 테스트 데이터</a:t>
            </a:r>
            <a:endParaRPr lang="en-US" sz="1150" dirty="0"/>
          </a:p>
        </p:txBody>
      </p:sp>
      <p:sp>
        <p:nvSpPr>
          <p:cNvPr id="17" name="chip_610"/>
          <p:cNvSpPr txBox="1"/>
          <p:nvPr/>
        </p:nvSpPr>
        <p:spPr>
          <a:xfrm>
            <a:off x="7008876" y="3127248"/>
            <a:ext cx="685800" cy="310896"/>
          </a:xfrm>
          <a:prstGeom prst="roundRect">
            <a:avLst>
              <a:gd name="adj" fmla="val 17647"/>
            </a:avLst>
          </a:prstGeom>
          <a:solidFill>
            <a:schemeClr val="bg2"/>
          </a:solidFill>
          <a:ln/>
        </p:spPr>
        <p:txBody>
          <a:bodyPr wrap="square" lIns="0" tIns="50800" rIns="50800" bIns="0" rtlCol="0" anchor="ctr"/>
          <a:lstStyle/>
          <a:p>
            <a:pPr algn="ctr" indent="0" marL="0">
              <a:buNone/>
            </a:pPr>
            <a:r>
              <a:rPr lang="en-US" sz="1000" b="1" dirty="0">
                <a:solidFill>
                  <a:schemeClr val="tx2"/>
                </a:solidFill>
              </a:rPr>
              <a:t>T06</a:t>
            </a:r>
            <a:endParaRPr lang="en-US" sz="1000" dirty="0"/>
          </a:p>
        </p:txBody>
      </p:sp>
      <p:sp>
        <p:nvSpPr>
          <p:cNvPr id="18" name="card_611"/>
          <p:cNvSpPr/>
          <p:nvPr/>
        </p:nvSpPr>
        <p:spPr>
          <a:xfrm>
            <a:off x="8074152" y="1325880"/>
            <a:ext cx="3566160" cy="2286000"/>
          </a:xfrm>
          <a:prstGeom prst="roundRect">
            <a:avLst>
              <a:gd name="adj" fmla="val 4000"/>
            </a:avLst>
          </a:prstGeom>
          <a:solidFill>
            <a:schemeClr val="bg1"/>
          </a:solidFill>
          <a:ln w="19050">
            <a:solidFill>
              <a:schemeClr val="bg2"/>
            </a:solidFill>
            <a:prstDash val="solid"/>
          </a:ln>
          <a:effectLst>
            <a:outerShdw sx="100000" sy="100000" kx="0" ky="0" algn="bl" rotWithShape="0" blurRad="76200" dist="25400" dir="5400000">
              <a:srgbClr val="1E2B2F">
                <a:alpha val="12000"/>
              </a:srgbClr>
            </a:outerShdw>
          </a:effectLst>
        </p:spPr>
      </p:sp>
      <p:sp>
        <p:nvSpPr>
          <p:cNvPr id="19" name="text_612"/>
          <p:cNvSpPr txBox="1"/>
          <p:nvPr/>
        </p:nvSpPr>
        <p:spPr>
          <a:xfrm>
            <a:off x="8302752" y="1435608"/>
            <a:ext cx="548640" cy="594360"/>
          </a:xfrm>
          <a:prstGeom prst="rect">
            <a:avLst/>
          </a:prstGeom>
          <a:noFill/>
          <a:ln/>
        </p:spPr>
        <p:txBody>
          <a:bodyPr wrap="square" lIns="0" tIns="0" rIns="0" bIns="0" rtlCol="0" anchor="t"/>
          <a:lstStyle/>
          <a:p>
            <a:pPr indent="0" marL="0">
              <a:buNone/>
            </a:pPr>
            <a:r>
              <a:rPr lang="en-US" sz="3000" b="1" dirty="0">
                <a:solidFill>
                  <a:schemeClr val="accent2"/>
                </a:solidFill>
              </a:rPr>
              <a:t>3</a:t>
            </a:r>
            <a:endParaRPr lang="en-US" sz="3000" dirty="0"/>
          </a:p>
        </p:txBody>
      </p:sp>
      <p:sp>
        <p:nvSpPr>
          <p:cNvPr id="20" name="text_613"/>
          <p:cNvSpPr txBox="1"/>
          <p:nvPr/>
        </p:nvSpPr>
        <p:spPr>
          <a:xfrm>
            <a:off x="8851392" y="1490472"/>
            <a:ext cx="2606040" cy="502920"/>
          </a:xfrm>
          <a:prstGeom prst="rect">
            <a:avLst/>
          </a:prstGeom>
          <a:noFill/>
          <a:ln/>
        </p:spPr>
        <p:txBody>
          <a:bodyPr wrap="square" lIns="0" tIns="0" rIns="0" bIns="0" rtlCol="0" anchor="ctr"/>
          <a:lstStyle/>
          <a:p>
            <a:pPr indent="0" marL="0">
              <a:buNone/>
            </a:pPr>
            <a:r>
              <a:rPr lang="en-US" sz="1700" b="1" dirty="0">
                <a:solidFill>
                  <a:schemeClr val="tx1"/>
                </a:solidFill>
              </a:rPr>
              <a:t>테스트케이스 읽어 주기</a:t>
            </a:r>
            <a:endParaRPr lang="en-US" sz="1700" dirty="0"/>
          </a:p>
        </p:txBody>
      </p:sp>
      <p:sp>
        <p:nvSpPr>
          <p:cNvPr id="21" name="text_614"/>
          <p:cNvSpPr txBox="1"/>
          <p:nvPr/>
        </p:nvSpPr>
        <p:spPr>
          <a:xfrm>
            <a:off x="8302752" y="2075688"/>
            <a:ext cx="3108960" cy="868680"/>
          </a:xfrm>
          <a:prstGeom prst="rect">
            <a:avLst/>
          </a:prstGeom>
          <a:noFill/>
          <a:ln/>
        </p:spPr>
        <p:txBody>
          <a:bodyPr wrap="square" lIns="0" tIns="0" rIns="0" bIns="0" rtlCol="0" anchor="t"/>
          <a:lstStyle/>
          <a:p>
            <a:pPr indent="0" marL="0">
              <a:buNone/>
            </a:pPr>
            <a:r>
              <a:rPr lang="en-US" sz="1300" dirty="0">
                <a:solidFill>
                  <a:schemeClr val="tx1"/>
                </a:solidFill>
              </a:rPr>
              <a:t>다른 사람이 만든 테스트케이스의 목적, 스텝, 데이터를 문장으로 요약해 인수인계 자료로 쓴다.</a:t>
            </a:r>
            <a:endParaRPr lang="en-US" sz="1300" dirty="0"/>
          </a:p>
        </p:txBody>
      </p:sp>
      <p:sp>
        <p:nvSpPr>
          <p:cNvPr id="22" name="line_615"/>
          <p:cNvSpPr/>
          <p:nvPr/>
        </p:nvSpPr>
        <p:spPr>
          <a:xfrm>
            <a:off x="8302752" y="2990088"/>
            <a:ext cx="3108960" cy="0"/>
          </a:xfrm>
          <a:prstGeom prst="line">
            <a:avLst/>
          </a:prstGeom>
          <a:noFill/>
          <a:ln w="12700">
            <a:solidFill>
              <a:schemeClr val="bg2"/>
            </a:solidFill>
            <a:prstDash val="solid"/>
          </a:ln>
        </p:spPr>
      </p:sp>
      <p:sp>
        <p:nvSpPr>
          <p:cNvPr id="23" name="text_616"/>
          <p:cNvSpPr txBox="1"/>
          <p:nvPr/>
        </p:nvSpPr>
        <p:spPr>
          <a:xfrm>
            <a:off x="8302752" y="3063240"/>
            <a:ext cx="2331720" cy="457200"/>
          </a:xfrm>
          <a:prstGeom prst="rect">
            <a:avLst/>
          </a:prstGeom>
          <a:noFill/>
          <a:ln/>
        </p:spPr>
        <p:txBody>
          <a:bodyPr wrap="square" lIns="0" tIns="0" rIns="0" bIns="0" rtlCol="0" anchor="ctr"/>
          <a:lstStyle/>
          <a:p>
            <a:pPr indent="0" marL="0">
              <a:buNone/>
            </a:pPr>
            <a:r>
              <a:rPr lang="en-US" sz="1150" b="1" dirty="0">
                <a:solidFill>
                  <a:schemeClr val="tx2"/>
                </a:solidFill>
              </a:rPr>
              <a:t>사람이 확인  </a:t>
            </a:r>
            <a:pPr indent="0" marL="0">
              <a:buNone/>
            </a:pPr>
            <a:r>
              <a:rPr lang="en-US" sz="1150" dirty="0">
                <a:solidFill>
                  <a:schemeClr val="tx1"/>
                </a:solidFill>
              </a:rPr>
              <a:t>업무 의미가 맞는지</a:t>
            </a:r>
            <a:endParaRPr lang="en-US" sz="1150" dirty="0"/>
          </a:p>
        </p:txBody>
      </p:sp>
      <p:sp>
        <p:nvSpPr>
          <p:cNvPr id="24" name="chip_617"/>
          <p:cNvSpPr txBox="1"/>
          <p:nvPr/>
        </p:nvSpPr>
        <p:spPr>
          <a:xfrm>
            <a:off x="10771632" y="3127248"/>
            <a:ext cx="685800" cy="310896"/>
          </a:xfrm>
          <a:prstGeom prst="roundRect">
            <a:avLst>
              <a:gd name="adj" fmla="val 17647"/>
            </a:avLst>
          </a:prstGeom>
          <a:solidFill>
            <a:schemeClr val="bg2"/>
          </a:solidFill>
          <a:ln/>
        </p:spPr>
        <p:txBody>
          <a:bodyPr wrap="square" lIns="0" tIns="50800" rIns="50800" bIns="0" rtlCol="0" anchor="ctr"/>
          <a:lstStyle/>
          <a:p>
            <a:pPr algn="ctr" indent="0" marL="0">
              <a:buNone/>
            </a:pPr>
            <a:r>
              <a:rPr lang="en-US" sz="1000" b="1" dirty="0">
                <a:solidFill>
                  <a:schemeClr val="tx2"/>
                </a:solidFill>
              </a:rPr>
              <a:t>T07</a:t>
            </a:r>
            <a:endParaRPr lang="en-US" sz="1000" dirty="0"/>
          </a:p>
        </p:txBody>
      </p:sp>
      <p:sp>
        <p:nvSpPr>
          <p:cNvPr id="25" name="card_618"/>
          <p:cNvSpPr/>
          <p:nvPr/>
        </p:nvSpPr>
        <p:spPr>
          <a:xfrm>
            <a:off x="548640" y="3794760"/>
            <a:ext cx="3566160" cy="2286000"/>
          </a:xfrm>
          <a:prstGeom prst="roundRect">
            <a:avLst>
              <a:gd name="adj" fmla="val 4000"/>
            </a:avLst>
          </a:prstGeom>
          <a:solidFill>
            <a:schemeClr val="bg1"/>
          </a:solidFill>
          <a:ln w="19050">
            <a:solidFill>
              <a:schemeClr val="bg2"/>
            </a:solidFill>
            <a:prstDash val="solid"/>
          </a:ln>
          <a:effectLst>
            <a:outerShdw sx="100000" sy="100000" kx="0" ky="0" algn="bl" rotWithShape="0" blurRad="76200" dist="25400" dir="5400000">
              <a:srgbClr val="1E2B2F">
                <a:alpha val="12000"/>
              </a:srgbClr>
            </a:outerShdw>
          </a:effectLst>
        </p:spPr>
      </p:sp>
      <p:sp>
        <p:nvSpPr>
          <p:cNvPr id="26" name="text_619"/>
          <p:cNvSpPr txBox="1"/>
          <p:nvPr/>
        </p:nvSpPr>
        <p:spPr>
          <a:xfrm>
            <a:off x="777240" y="3904488"/>
            <a:ext cx="548640" cy="594360"/>
          </a:xfrm>
          <a:prstGeom prst="rect">
            <a:avLst/>
          </a:prstGeom>
          <a:noFill/>
          <a:ln/>
        </p:spPr>
        <p:txBody>
          <a:bodyPr wrap="square" lIns="0" tIns="0" rIns="0" bIns="0" rtlCol="0" anchor="t"/>
          <a:lstStyle/>
          <a:p>
            <a:pPr indent="0" marL="0">
              <a:buNone/>
            </a:pPr>
            <a:r>
              <a:rPr lang="en-US" sz="3000" b="1" dirty="0">
                <a:solidFill>
                  <a:schemeClr val="accent2"/>
                </a:solidFill>
              </a:rPr>
              <a:t>4</a:t>
            </a:r>
            <a:endParaRPr lang="en-US" sz="3000" dirty="0"/>
          </a:p>
        </p:txBody>
      </p:sp>
      <p:sp>
        <p:nvSpPr>
          <p:cNvPr id="27" name="text_620"/>
          <p:cNvSpPr txBox="1"/>
          <p:nvPr/>
        </p:nvSpPr>
        <p:spPr>
          <a:xfrm>
            <a:off x="1325880" y="3959352"/>
            <a:ext cx="2606040" cy="502920"/>
          </a:xfrm>
          <a:prstGeom prst="rect">
            <a:avLst/>
          </a:prstGeom>
          <a:noFill/>
          <a:ln/>
        </p:spPr>
        <p:txBody>
          <a:bodyPr wrap="square" lIns="0" tIns="0" rIns="0" bIns="0" rtlCol="0" anchor="ctr"/>
          <a:lstStyle/>
          <a:p>
            <a:pPr indent="0" marL="0">
              <a:buNone/>
            </a:pPr>
            <a:r>
              <a:rPr lang="en-US" sz="1700" b="1" dirty="0">
                <a:solidFill>
                  <a:schemeClr val="tx1"/>
                </a:solidFill>
              </a:rPr>
              <a:t>실패 원인 분석</a:t>
            </a:r>
            <a:endParaRPr lang="en-US" sz="1700" dirty="0"/>
          </a:p>
        </p:txBody>
      </p:sp>
      <p:sp>
        <p:nvSpPr>
          <p:cNvPr id="28" name="text_621"/>
          <p:cNvSpPr txBox="1"/>
          <p:nvPr/>
        </p:nvSpPr>
        <p:spPr>
          <a:xfrm>
            <a:off x="777240" y="4544568"/>
            <a:ext cx="3108960" cy="868680"/>
          </a:xfrm>
          <a:prstGeom prst="rect">
            <a:avLst/>
          </a:prstGeom>
          <a:noFill/>
          <a:ln/>
        </p:spPr>
        <p:txBody>
          <a:bodyPr wrap="square" lIns="0" tIns="0" rIns="0" bIns="0" rtlCol="0" anchor="t"/>
          <a:lstStyle/>
          <a:p>
            <a:pPr indent="0" marL="0">
              <a:buNone/>
            </a:pPr>
            <a:r>
              <a:rPr lang="en-US" sz="1300" dirty="0">
                <a:solidFill>
                  <a:schemeClr val="tx1"/>
                </a:solidFill>
              </a:rPr>
              <a:t>실패한 실행을 읽어 원인을 분류하고, 두 실행을 비교하거나 자주 흔들리는 테스트를 찾는다.</a:t>
            </a:r>
            <a:endParaRPr lang="en-US" sz="1300" dirty="0"/>
          </a:p>
        </p:txBody>
      </p:sp>
      <p:sp>
        <p:nvSpPr>
          <p:cNvPr id="29" name="line_622"/>
          <p:cNvSpPr/>
          <p:nvPr/>
        </p:nvSpPr>
        <p:spPr>
          <a:xfrm>
            <a:off x="777240" y="5458968"/>
            <a:ext cx="3108960" cy="0"/>
          </a:xfrm>
          <a:prstGeom prst="line">
            <a:avLst/>
          </a:prstGeom>
          <a:noFill/>
          <a:ln w="12700">
            <a:solidFill>
              <a:schemeClr val="bg2"/>
            </a:solidFill>
            <a:prstDash val="solid"/>
          </a:ln>
        </p:spPr>
      </p:sp>
      <p:sp>
        <p:nvSpPr>
          <p:cNvPr id="30" name="text_623"/>
          <p:cNvSpPr txBox="1"/>
          <p:nvPr/>
        </p:nvSpPr>
        <p:spPr>
          <a:xfrm>
            <a:off x="777240" y="5532120"/>
            <a:ext cx="1691640" cy="457200"/>
          </a:xfrm>
          <a:prstGeom prst="rect">
            <a:avLst/>
          </a:prstGeom>
          <a:noFill/>
          <a:ln/>
        </p:spPr>
        <p:txBody>
          <a:bodyPr wrap="square" lIns="0" tIns="0" rIns="0" bIns="0" rtlCol="0" anchor="ctr"/>
          <a:lstStyle/>
          <a:p>
            <a:pPr indent="0" marL="0">
              <a:buNone/>
            </a:pPr>
            <a:r>
              <a:rPr lang="en-US" sz="1150" b="1" dirty="0">
                <a:solidFill>
                  <a:schemeClr val="tx2"/>
                </a:solidFill>
              </a:rPr>
              <a:t>사람이 확인  </a:t>
            </a:r>
            <a:pPr indent="0" marL="0">
              <a:buNone/>
            </a:pPr>
            <a:r>
              <a:rPr lang="en-US" sz="1150" dirty="0">
                <a:solidFill>
                  <a:schemeClr val="tx1"/>
                </a:solidFill>
              </a:rPr>
              <a:t>결함 등록 여부, 확신도 낮은 항목</a:t>
            </a:r>
            <a:endParaRPr lang="en-US" sz="1150" dirty="0"/>
          </a:p>
        </p:txBody>
      </p:sp>
      <p:sp>
        <p:nvSpPr>
          <p:cNvPr id="31" name="chip_624"/>
          <p:cNvSpPr txBox="1"/>
          <p:nvPr/>
        </p:nvSpPr>
        <p:spPr>
          <a:xfrm>
            <a:off x="2606040" y="5596128"/>
            <a:ext cx="1325880" cy="310896"/>
          </a:xfrm>
          <a:prstGeom prst="roundRect">
            <a:avLst>
              <a:gd name="adj" fmla="val 17647"/>
            </a:avLst>
          </a:prstGeom>
          <a:solidFill>
            <a:schemeClr val="bg2"/>
          </a:solidFill>
          <a:ln/>
        </p:spPr>
        <p:txBody>
          <a:bodyPr wrap="square" lIns="0" tIns="50800" rIns="50800" bIns="0" rtlCol="0" anchor="ctr"/>
          <a:lstStyle/>
          <a:p>
            <a:pPr algn="ctr" indent="0" marL="0">
              <a:buNone/>
            </a:pPr>
            <a:r>
              <a:rPr lang="en-US" sz="1000" b="1" dirty="0">
                <a:solidFill>
                  <a:schemeClr val="tx2"/>
                </a:solidFill>
              </a:rPr>
              <a:t>T10 · T12 · T13</a:t>
            </a:r>
            <a:endParaRPr lang="en-US" sz="1000" dirty="0"/>
          </a:p>
        </p:txBody>
      </p:sp>
      <p:sp>
        <p:nvSpPr>
          <p:cNvPr id="32" name="card_625"/>
          <p:cNvSpPr/>
          <p:nvPr/>
        </p:nvSpPr>
        <p:spPr>
          <a:xfrm>
            <a:off x="4311396" y="3794760"/>
            <a:ext cx="3566160" cy="2286000"/>
          </a:xfrm>
          <a:prstGeom prst="roundRect">
            <a:avLst>
              <a:gd name="adj" fmla="val 4000"/>
            </a:avLst>
          </a:prstGeom>
          <a:solidFill>
            <a:schemeClr val="bg1"/>
          </a:solidFill>
          <a:ln w="19050">
            <a:solidFill>
              <a:schemeClr val="bg2"/>
            </a:solidFill>
            <a:prstDash val="solid"/>
          </a:ln>
          <a:effectLst>
            <a:outerShdw sx="100000" sy="100000" kx="0" ky="0" algn="bl" rotWithShape="0" blurRad="76200" dist="25400" dir="5400000">
              <a:srgbClr val="1E2B2F">
                <a:alpha val="12000"/>
              </a:srgbClr>
            </a:outerShdw>
          </a:effectLst>
        </p:spPr>
      </p:sp>
      <p:sp>
        <p:nvSpPr>
          <p:cNvPr id="33" name="text_626"/>
          <p:cNvSpPr txBox="1"/>
          <p:nvPr/>
        </p:nvSpPr>
        <p:spPr>
          <a:xfrm>
            <a:off x="4539996" y="3904488"/>
            <a:ext cx="548640" cy="594360"/>
          </a:xfrm>
          <a:prstGeom prst="rect">
            <a:avLst/>
          </a:prstGeom>
          <a:noFill/>
          <a:ln/>
        </p:spPr>
        <p:txBody>
          <a:bodyPr wrap="square" lIns="0" tIns="0" rIns="0" bIns="0" rtlCol="0" anchor="t"/>
          <a:lstStyle/>
          <a:p>
            <a:pPr indent="0" marL="0">
              <a:buNone/>
            </a:pPr>
            <a:r>
              <a:rPr lang="en-US" sz="3000" b="1" dirty="0">
                <a:solidFill>
                  <a:schemeClr val="accent2"/>
                </a:solidFill>
              </a:rPr>
              <a:t>5</a:t>
            </a:r>
            <a:endParaRPr lang="en-US" sz="3000" dirty="0"/>
          </a:p>
        </p:txBody>
      </p:sp>
      <p:sp>
        <p:nvSpPr>
          <p:cNvPr id="34" name="text_627"/>
          <p:cNvSpPr txBox="1"/>
          <p:nvPr/>
        </p:nvSpPr>
        <p:spPr>
          <a:xfrm>
            <a:off x="5088636" y="3959352"/>
            <a:ext cx="2606040" cy="502920"/>
          </a:xfrm>
          <a:prstGeom prst="rect">
            <a:avLst/>
          </a:prstGeom>
          <a:noFill/>
          <a:ln/>
        </p:spPr>
        <p:txBody>
          <a:bodyPr wrap="square" lIns="0" tIns="0" rIns="0" bIns="0" rtlCol="0" anchor="ctr"/>
          <a:lstStyle/>
          <a:p>
            <a:pPr indent="0" marL="0">
              <a:buNone/>
            </a:pPr>
            <a:r>
              <a:rPr lang="en-US" sz="1700" b="1" dirty="0">
                <a:solidFill>
                  <a:schemeClr val="tx1"/>
                </a:solidFill>
              </a:rPr>
              <a:t>반복 편집</a:t>
            </a:r>
            <a:endParaRPr lang="en-US" sz="1700" dirty="0"/>
          </a:p>
        </p:txBody>
      </p:sp>
      <p:sp>
        <p:nvSpPr>
          <p:cNvPr id="35" name="text_628"/>
          <p:cNvSpPr txBox="1"/>
          <p:nvPr/>
        </p:nvSpPr>
        <p:spPr>
          <a:xfrm>
            <a:off x="4539996" y="4544568"/>
            <a:ext cx="3108960" cy="868680"/>
          </a:xfrm>
          <a:prstGeom prst="rect">
            <a:avLst/>
          </a:prstGeom>
          <a:noFill/>
          <a:ln/>
        </p:spPr>
        <p:txBody>
          <a:bodyPr wrap="square" lIns="0" tIns="0" rIns="0" bIns="0" rtlCol="0" anchor="t"/>
          <a:lstStyle/>
          <a:p>
            <a:pPr indent="0" marL="0">
              <a:buNone/>
            </a:pPr>
            <a:r>
              <a:rPr lang="en-US" sz="1300" dirty="0">
                <a:solidFill>
                  <a:schemeClr val="tx1"/>
                </a:solidFill>
              </a:rPr>
              <a:t>여러 테스트케이스의 상태값 변경, TCP 설정, 스텝 추가처럼 손이 많이 가는 편집을 맡긴다.</a:t>
            </a:r>
            <a:endParaRPr lang="en-US" sz="1300" dirty="0"/>
          </a:p>
        </p:txBody>
      </p:sp>
      <p:sp>
        <p:nvSpPr>
          <p:cNvPr id="36" name="line_629"/>
          <p:cNvSpPr/>
          <p:nvPr/>
        </p:nvSpPr>
        <p:spPr>
          <a:xfrm>
            <a:off x="4539996" y="5458968"/>
            <a:ext cx="3108960" cy="0"/>
          </a:xfrm>
          <a:prstGeom prst="line">
            <a:avLst/>
          </a:prstGeom>
          <a:noFill/>
          <a:ln w="12700">
            <a:solidFill>
              <a:schemeClr val="bg2"/>
            </a:solidFill>
            <a:prstDash val="solid"/>
          </a:ln>
        </p:spPr>
      </p:sp>
      <p:sp>
        <p:nvSpPr>
          <p:cNvPr id="37" name="text_630"/>
          <p:cNvSpPr txBox="1"/>
          <p:nvPr/>
        </p:nvSpPr>
        <p:spPr>
          <a:xfrm>
            <a:off x="4539996" y="5532120"/>
            <a:ext cx="1691640" cy="457200"/>
          </a:xfrm>
          <a:prstGeom prst="rect">
            <a:avLst/>
          </a:prstGeom>
          <a:noFill/>
          <a:ln/>
        </p:spPr>
        <p:txBody>
          <a:bodyPr wrap="square" lIns="0" tIns="0" rIns="0" bIns="0" rtlCol="0" anchor="ctr"/>
          <a:lstStyle/>
          <a:p>
            <a:pPr indent="0" marL="0">
              <a:buNone/>
            </a:pPr>
            <a:r>
              <a:rPr lang="en-US" sz="1150" b="1" dirty="0">
                <a:solidFill>
                  <a:schemeClr val="tx2"/>
                </a:solidFill>
              </a:rPr>
              <a:t>사람이 확인  </a:t>
            </a:r>
            <a:pPr indent="0" marL="0">
              <a:buNone/>
            </a:pPr>
            <a:r>
              <a:rPr lang="en-US" sz="1150" dirty="0">
                <a:solidFill>
                  <a:schemeClr val="tx1"/>
                </a:solidFill>
              </a:rPr>
              <a:t>대상 범위, 체크인 전 변경 목록</a:t>
            </a:r>
            <a:endParaRPr lang="en-US" sz="1150" dirty="0"/>
          </a:p>
        </p:txBody>
      </p:sp>
      <p:sp>
        <p:nvSpPr>
          <p:cNvPr id="38" name="chip_631"/>
          <p:cNvSpPr txBox="1"/>
          <p:nvPr/>
        </p:nvSpPr>
        <p:spPr>
          <a:xfrm>
            <a:off x="6368796" y="5596128"/>
            <a:ext cx="1325880" cy="310896"/>
          </a:xfrm>
          <a:prstGeom prst="roundRect">
            <a:avLst>
              <a:gd name="adj" fmla="val 17647"/>
            </a:avLst>
          </a:prstGeom>
          <a:solidFill>
            <a:schemeClr val="bg2"/>
          </a:solidFill>
          <a:ln/>
        </p:spPr>
        <p:txBody>
          <a:bodyPr wrap="square" lIns="0" tIns="50800" rIns="50800" bIns="0" rtlCol="0" anchor="ctr"/>
          <a:lstStyle/>
          <a:p>
            <a:pPr algn="ctr" indent="0" marL="0">
              <a:buNone/>
            </a:pPr>
            <a:r>
              <a:rPr lang="en-US" sz="1000" b="1" dirty="0">
                <a:solidFill>
                  <a:schemeClr val="tx2"/>
                </a:solidFill>
              </a:rPr>
              <a:t>T03 · T04</a:t>
            </a:r>
            <a:endParaRPr lang="en-US" sz="1000" dirty="0"/>
          </a:p>
        </p:txBody>
      </p:sp>
      <p:sp>
        <p:nvSpPr>
          <p:cNvPr id="39" name="card_632"/>
          <p:cNvSpPr/>
          <p:nvPr/>
        </p:nvSpPr>
        <p:spPr>
          <a:xfrm>
            <a:off x="8074152" y="3794760"/>
            <a:ext cx="3566160" cy="2286000"/>
          </a:xfrm>
          <a:prstGeom prst="roundRect">
            <a:avLst>
              <a:gd name="adj" fmla="val 4000"/>
            </a:avLst>
          </a:prstGeom>
          <a:solidFill>
            <a:schemeClr val="bg1"/>
          </a:solidFill>
          <a:ln w="19050">
            <a:solidFill>
              <a:schemeClr val="bg2"/>
            </a:solidFill>
            <a:prstDash val="solid"/>
          </a:ln>
          <a:effectLst>
            <a:outerShdw sx="100000" sy="100000" kx="0" ky="0" algn="bl" rotWithShape="0" blurRad="76200" dist="25400" dir="5400000">
              <a:srgbClr val="1E2B2F">
                <a:alpha val="12000"/>
              </a:srgbClr>
            </a:outerShdw>
          </a:effectLst>
        </p:spPr>
      </p:sp>
      <p:sp>
        <p:nvSpPr>
          <p:cNvPr id="40" name="text_633"/>
          <p:cNvSpPr txBox="1"/>
          <p:nvPr/>
        </p:nvSpPr>
        <p:spPr>
          <a:xfrm>
            <a:off x="8302752" y="3904488"/>
            <a:ext cx="548640" cy="594360"/>
          </a:xfrm>
          <a:prstGeom prst="rect">
            <a:avLst/>
          </a:prstGeom>
          <a:noFill/>
          <a:ln/>
        </p:spPr>
        <p:txBody>
          <a:bodyPr wrap="square" lIns="0" tIns="0" rIns="0" bIns="0" rtlCol="0" anchor="t"/>
          <a:lstStyle/>
          <a:p>
            <a:pPr indent="0" marL="0">
              <a:buNone/>
            </a:pPr>
            <a:r>
              <a:rPr lang="en-US" sz="3000" b="1" dirty="0">
                <a:solidFill>
                  <a:schemeClr val="accent2"/>
                </a:solidFill>
              </a:rPr>
              <a:t>6</a:t>
            </a:r>
            <a:endParaRPr lang="en-US" sz="3000" dirty="0"/>
          </a:p>
        </p:txBody>
      </p:sp>
      <p:sp>
        <p:nvSpPr>
          <p:cNvPr id="41" name="text_634"/>
          <p:cNvSpPr txBox="1"/>
          <p:nvPr/>
        </p:nvSpPr>
        <p:spPr>
          <a:xfrm>
            <a:off x="8851392" y="3959352"/>
            <a:ext cx="2606040" cy="502920"/>
          </a:xfrm>
          <a:prstGeom prst="rect">
            <a:avLst/>
          </a:prstGeom>
          <a:noFill/>
          <a:ln/>
        </p:spPr>
        <p:txBody>
          <a:bodyPr wrap="square" lIns="0" tIns="0" rIns="0" bIns="0" rtlCol="0" anchor="ctr"/>
          <a:lstStyle/>
          <a:p>
            <a:pPr indent="0" marL="0">
              <a:buNone/>
            </a:pPr>
            <a:r>
              <a:rPr lang="en-US" sz="1700" b="1" dirty="0">
                <a:solidFill>
                  <a:schemeClr val="tx1"/>
                </a:solidFill>
              </a:rPr>
              <a:t>API·데이터 테스트</a:t>
            </a:r>
            <a:endParaRPr lang="en-US" sz="1700" dirty="0"/>
          </a:p>
        </p:txBody>
      </p:sp>
      <p:sp>
        <p:nvSpPr>
          <p:cNvPr id="42" name="text_635"/>
          <p:cNvSpPr txBox="1"/>
          <p:nvPr/>
        </p:nvSpPr>
        <p:spPr>
          <a:xfrm>
            <a:off x="8302752" y="4544568"/>
            <a:ext cx="3108960" cy="868680"/>
          </a:xfrm>
          <a:prstGeom prst="rect">
            <a:avLst/>
          </a:prstGeom>
          <a:noFill/>
          <a:ln/>
        </p:spPr>
        <p:txBody>
          <a:bodyPr wrap="square" lIns="0" tIns="0" rIns="0" bIns="0" rtlCol="0" anchor="t"/>
          <a:lstStyle/>
          <a:p>
            <a:pPr indent="0" marL="0">
              <a:buNone/>
            </a:pPr>
            <a:r>
              <a:rPr lang="en-US" sz="1300" dirty="0">
                <a:solidFill>
                  <a:schemeClr val="tx1"/>
                </a:solidFill>
              </a:rPr>
              <a:t>API 요청 모듈을 실제 응답까지 받아 만들고, Data Integrity로 DB 간 데이터 비교 테스트를 만든다.</a:t>
            </a:r>
            <a:endParaRPr lang="en-US" sz="1300" dirty="0"/>
          </a:p>
        </p:txBody>
      </p:sp>
      <p:sp>
        <p:nvSpPr>
          <p:cNvPr id="43" name="line_636"/>
          <p:cNvSpPr/>
          <p:nvPr/>
        </p:nvSpPr>
        <p:spPr>
          <a:xfrm>
            <a:off x="8302752" y="5458968"/>
            <a:ext cx="3108960" cy="0"/>
          </a:xfrm>
          <a:prstGeom prst="line">
            <a:avLst/>
          </a:prstGeom>
          <a:noFill/>
          <a:ln w="12700">
            <a:solidFill>
              <a:schemeClr val="bg2"/>
            </a:solidFill>
            <a:prstDash val="solid"/>
          </a:ln>
        </p:spPr>
      </p:sp>
      <p:sp>
        <p:nvSpPr>
          <p:cNvPr id="44" name="text_637"/>
          <p:cNvSpPr txBox="1"/>
          <p:nvPr/>
        </p:nvSpPr>
        <p:spPr>
          <a:xfrm>
            <a:off x="8302752" y="5532120"/>
            <a:ext cx="2331720" cy="457200"/>
          </a:xfrm>
          <a:prstGeom prst="rect">
            <a:avLst/>
          </a:prstGeom>
          <a:noFill/>
          <a:ln/>
        </p:spPr>
        <p:txBody>
          <a:bodyPr wrap="square" lIns="0" tIns="0" rIns="0" bIns="0" rtlCol="0" anchor="ctr"/>
          <a:lstStyle/>
          <a:p>
            <a:pPr indent="0" marL="0">
              <a:buNone/>
            </a:pPr>
            <a:r>
              <a:rPr lang="en-US" sz="1150" b="1" dirty="0">
                <a:solidFill>
                  <a:schemeClr val="tx2"/>
                </a:solidFill>
              </a:rPr>
              <a:t>사람이 확인  </a:t>
            </a:r>
            <a:pPr indent="0" marL="0">
              <a:buNone/>
            </a:pPr>
            <a:r>
              <a:rPr lang="en-US" sz="1150" dirty="0">
                <a:solidFill>
                  <a:schemeClr val="tx1"/>
                </a:solidFill>
              </a:rPr>
              <a:t>접속 정보와 비밀번호는 직접 입력</a:t>
            </a:r>
            <a:endParaRPr lang="en-US" sz="1150" dirty="0"/>
          </a:p>
        </p:txBody>
      </p:sp>
      <p:sp>
        <p:nvSpPr>
          <p:cNvPr id="45" name="chip_638"/>
          <p:cNvSpPr txBox="1"/>
          <p:nvPr/>
        </p:nvSpPr>
        <p:spPr>
          <a:xfrm>
            <a:off x="10771632" y="5596128"/>
            <a:ext cx="685800" cy="310896"/>
          </a:xfrm>
          <a:prstGeom prst="roundRect">
            <a:avLst>
              <a:gd name="adj" fmla="val 17647"/>
            </a:avLst>
          </a:prstGeom>
          <a:solidFill>
            <a:schemeClr val="bg2"/>
          </a:solidFill>
          <a:ln/>
        </p:spPr>
        <p:txBody>
          <a:bodyPr wrap="square" lIns="0" tIns="50800" rIns="50800" bIns="0" rtlCol="0" anchor="ctr"/>
          <a:lstStyle/>
          <a:p>
            <a:pPr algn="ctr" indent="0" marL="0">
              <a:buNone/>
            </a:pPr>
            <a:r>
              <a:rPr lang="en-US" sz="1000" b="1" dirty="0">
                <a:solidFill>
                  <a:schemeClr val="tx2"/>
                </a:solidFill>
              </a:rPr>
              <a:t>T17</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프롬프트 문장이 도구 입력이 된다</a:t>
            </a:r>
            <a:endParaRPr lang="en-US" sz="3200" dirty="0"/>
          </a:p>
        </p:txBody>
      </p:sp>
      <p:sp>
        <p:nvSpPr>
          <p:cNvPr id="4" name="card_639"/>
          <p:cNvSpPr/>
          <p:nvPr/>
        </p:nvSpPr>
        <p:spPr>
          <a:xfrm>
            <a:off x="548640" y="1371600"/>
            <a:ext cx="11091672" cy="1508760"/>
          </a:xfrm>
          <a:prstGeom prst="roundRect">
            <a:avLst>
              <a:gd name="adj" fmla="val 6061"/>
            </a:avLst>
          </a:prstGeom>
          <a:solidFill>
            <a:schemeClr val="accent2">
              <a:alpha val="14000"/>
            </a:schemeClr>
          </a:solidFill>
          <a:ln w="9525">
            <a:solidFill>
              <a:schemeClr val="accent2"/>
            </a:solidFill>
            <a:prstDash val="solid"/>
          </a:ln>
        </p:spPr>
      </p:sp>
      <p:sp>
        <p:nvSpPr>
          <p:cNvPr id="5" name="text_640"/>
          <p:cNvSpPr txBox="1"/>
          <p:nvPr/>
        </p:nvSpPr>
        <p:spPr>
          <a:xfrm>
            <a:off x="822960" y="1481328"/>
            <a:ext cx="10607040" cy="1280160"/>
          </a:xfrm>
          <a:prstGeom prst="rect">
            <a:avLst/>
          </a:prstGeom>
          <a:noFill/>
          <a:ln/>
        </p:spPr>
        <p:txBody>
          <a:bodyPr wrap="square" lIns="0" tIns="0" rIns="0" bIns="0" rtlCol="0" anchor="ctr"/>
          <a:lstStyle/>
          <a:p>
            <a:pPr indent="0" marL="0">
              <a:lnSpc>
                <a:spcPct val="125000"/>
              </a:lnSpc>
              <a:buNone/>
            </a:pPr>
            <a:r>
              <a:rPr lang="en-US" sz="1900" b="1" u="sng" dirty="0">
                <a:solidFill>
                  <a:schemeClr val="tx2"/>
                </a:solidFill>
              </a:rPr>
              <a:t>TestCases/MCP실습/홍길동</a:t>
            </a:r>
            <a:pPr indent="0" marL="0">
              <a:lnSpc>
                <a:spcPct val="125000"/>
              </a:lnSpc>
              <a:buNone/>
            </a:pPr>
            <a:r>
              <a:rPr lang="en-US" sz="1900" b="1" dirty="0">
                <a:solidFill>
                  <a:schemeClr val="accent5"/>
                </a:solidFill>
              </a:rPr>
              <a:t> ①</a:t>
            </a:r>
            <a:pPr indent="0" marL="0">
              <a:lnSpc>
                <a:spcPct val="125000"/>
              </a:lnSpc>
              <a:buNone/>
            </a:pPr>
            <a:r>
              <a:rPr lang="en-US" sz="1900" dirty="0">
                <a:solidFill>
                  <a:schemeClr val="tx1"/>
                </a:solidFill>
              </a:rPr>
              <a:t> 폴더에 </a:t>
            </a:r>
            <a:pPr indent="0" marL="0">
              <a:lnSpc>
                <a:spcPct val="125000"/>
              </a:lnSpc>
              <a:buNone/>
            </a:pPr>
            <a:r>
              <a:rPr lang="en-US" sz="1900" b="1" u="sng" dirty="0">
                <a:solidFill>
                  <a:schemeClr val="tx2"/>
                </a:solidFill>
              </a:rPr>
              <a:t>'로그인 성공_자동'</a:t>
            </a:r>
            <a:pPr indent="0" marL="0">
              <a:lnSpc>
                <a:spcPct val="125000"/>
              </a:lnSpc>
              <a:buNone/>
            </a:pPr>
            <a:r>
              <a:rPr lang="en-US" sz="1900" b="1" dirty="0">
                <a:solidFill>
                  <a:schemeClr val="accent5"/>
                </a:solidFill>
              </a:rPr>
              <a:t> ②</a:t>
            </a:r>
            <a:pPr indent="0" marL="0">
              <a:lnSpc>
                <a:spcPct val="125000"/>
              </a:lnSpc>
              <a:buNone/>
            </a:pPr>
            <a:r>
              <a:rPr lang="en-US" sz="1900" dirty="0">
                <a:solidFill>
                  <a:schemeClr val="tx1"/>
                </a:solidFill>
              </a:rPr>
              <a:t> 테스트케이스를 만들어줘. 모듈은 </a:t>
            </a:r>
            <a:pPr indent="0" marL="0">
              <a:lnSpc>
                <a:spcPct val="125000"/>
              </a:lnSpc>
              <a:buNone/>
            </a:pPr>
            <a:r>
              <a:rPr lang="en-US" sz="1900" b="1" u="sng" dirty="0">
                <a:solidFill>
                  <a:schemeClr val="tx2"/>
                </a:solidFill>
              </a:rPr>
              <a:t>Modules/MCP실습에서만</a:t>
            </a:r>
            <a:pPr indent="0" marL="0">
              <a:lnSpc>
                <a:spcPct val="125000"/>
              </a:lnSpc>
              <a:buNone/>
            </a:pPr>
            <a:r>
              <a:rPr lang="en-US" sz="1900" b="1" dirty="0">
                <a:solidFill>
                  <a:schemeClr val="accent5"/>
                </a:solidFill>
              </a:rPr>
              <a:t> ③</a:t>
            </a:r>
            <a:pPr indent="0" marL="0">
              <a:lnSpc>
                <a:spcPct val="125000"/>
              </a:lnSpc>
              <a:buNone/>
            </a:pPr>
            <a:r>
              <a:rPr lang="en-US" sz="1900" dirty="0">
                <a:solidFill>
                  <a:schemeClr val="tx1"/>
                </a:solidFill>
              </a:rPr>
              <a:t> 찾고, Account는 </a:t>
            </a:r>
            <a:pPr indent="0" marL="0">
              <a:lnSpc>
                <a:spcPct val="125000"/>
              </a:lnSpc>
              <a:buNone/>
            </a:pPr>
            <a:r>
              <a:rPr lang="en-US" sz="1900" b="1" u="sng" dirty="0">
                <a:solidFill>
                  <a:schemeClr val="tx2"/>
                </a:solidFill>
              </a:rPr>
              <a:t>Verify</a:t>
            </a:r>
            <a:pPr indent="0" marL="0">
              <a:lnSpc>
                <a:spcPct val="125000"/>
              </a:lnSpc>
              <a:buNone/>
            </a:pPr>
            <a:r>
              <a:rPr lang="en-US" sz="1900" b="1" dirty="0">
                <a:solidFill>
                  <a:schemeClr val="accent5"/>
                </a:solidFill>
              </a:rPr>
              <a:t> ④</a:t>
            </a:r>
            <a:pPr indent="0" marL="0">
              <a:lnSpc>
                <a:spcPct val="125000"/>
              </a:lnSpc>
              <a:buNone/>
            </a:pPr>
            <a:r>
              <a:rPr lang="en-US" sz="1900" dirty="0">
                <a:solidFill>
                  <a:schemeClr val="tx1"/>
                </a:solidFill>
              </a:rPr>
              <a:t>로 검증해줘.</a:t>
            </a:r>
            <a:endParaRPr lang="en-US" sz="1900" dirty="0"/>
          </a:p>
        </p:txBody>
      </p:sp>
      <p:sp>
        <p:nvSpPr>
          <p:cNvPr id="6" name="card_641"/>
          <p:cNvSpPr/>
          <p:nvPr/>
        </p:nvSpPr>
        <p:spPr>
          <a:xfrm>
            <a:off x="548640" y="3337560"/>
            <a:ext cx="2587752" cy="2011680"/>
          </a:xfrm>
          <a:prstGeom prst="roundRect">
            <a:avLst>
              <a:gd name="adj" fmla="val 4545"/>
            </a:avLst>
          </a:prstGeom>
          <a:solidFill>
            <a:schemeClr val="bg2"/>
          </a:solidFill>
          <a:ln/>
        </p:spPr>
      </p:sp>
      <p:sp>
        <p:nvSpPr>
          <p:cNvPr id="7" name="chip_642"/>
          <p:cNvSpPr txBox="1"/>
          <p:nvPr/>
        </p:nvSpPr>
        <p:spPr>
          <a:xfrm>
            <a:off x="731520" y="3502152"/>
            <a:ext cx="685800" cy="310896"/>
          </a:xfrm>
          <a:prstGeom prst="roundRect">
            <a:avLst>
              <a:gd name="adj" fmla="val 17647"/>
            </a:avLst>
          </a:prstGeom>
          <a:solidFill>
            <a:schemeClr val="bg1"/>
          </a:solidFill>
          <a:ln/>
        </p:spPr>
        <p:txBody>
          <a:bodyPr wrap="square" lIns="0" tIns="50800" rIns="50800" bIns="0" rtlCol="0" anchor="ctr"/>
          <a:lstStyle/>
          <a:p>
            <a:pPr algn="ctr" indent="0" marL="0">
              <a:buNone/>
            </a:pPr>
            <a:r>
              <a:rPr lang="en-US" sz="1200" b="1" dirty="0">
                <a:solidFill>
                  <a:schemeClr val="accent5"/>
                </a:solidFill>
              </a:rPr>
              <a:t>③</a:t>
            </a:r>
            <a:endParaRPr lang="en-US" sz="1200" dirty="0"/>
          </a:p>
        </p:txBody>
      </p:sp>
      <p:sp>
        <p:nvSpPr>
          <p:cNvPr id="8" name="text_643"/>
          <p:cNvSpPr txBox="1"/>
          <p:nvPr/>
        </p:nvSpPr>
        <p:spPr>
          <a:xfrm>
            <a:off x="731520" y="3886200"/>
            <a:ext cx="2221992" cy="365760"/>
          </a:xfrm>
          <a:prstGeom prst="rect">
            <a:avLst/>
          </a:prstGeom>
          <a:noFill/>
          <a:ln/>
        </p:spPr>
        <p:txBody>
          <a:bodyPr wrap="square" lIns="0" tIns="0" rIns="0" bIns="0" rtlCol="0" anchor="t"/>
          <a:lstStyle/>
          <a:p>
            <a:pPr indent="0" marL="0">
              <a:buNone/>
            </a:pPr>
            <a:r>
              <a:rPr lang="en-US" sz="1400" b="1" dirty="0">
                <a:solidFill>
                  <a:schemeClr val="tx2"/>
                </a:solidFill>
                <a:latin typeface="Consolas" pitchFamily="34" charset="0"/>
                <a:ea typeface="Consolas" pitchFamily="34" charset="-122"/>
                <a:cs typeface="Consolas" pitchFamily="34" charset="-120"/>
              </a:rPr>
              <a:t>list_assets</a:t>
            </a:r>
            <a:endParaRPr lang="en-US" sz="1400" dirty="0"/>
          </a:p>
        </p:txBody>
      </p:sp>
      <p:sp>
        <p:nvSpPr>
          <p:cNvPr id="9" name="text_644"/>
          <p:cNvSpPr txBox="1"/>
          <p:nvPr/>
        </p:nvSpPr>
        <p:spPr>
          <a:xfrm>
            <a:off x="731520" y="4297680"/>
            <a:ext cx="2221992" cy="960120"/>
          </a:xfrm>
          <a:prstGeom prst="rect">
            <a:avLst/>
          </a:prstGeom>
          <a:noFill/>
          <a:ln/>
        </p:spPr>
        <p:txBody>
          <a:bodyPr wrap="square" lIns="0" tIns="0" rIns="0" bIns="0" rtlCol="0" anchor="t"/>
          <a:lstStyle/>
          <a:p>
            <a:pPr indent="0" marL="0">
              <a:buNone/>
            </a:pPr>
            <a:r>
              <a:rPr lang="en-US" sz="1150" dirty="0">
                <a:solidFill>
                  <a:schemeClr val="tx1"/>
                </a:solidFill>
              </a:rPr>
              <a:t>assetType = XModule</a:t>
            </a:r>
            <a:endParaRPr lang="en-US" sz="1150" dirty="0"/>
          </a:p>
          <a:p>
            <a:pPr indent="0" marL="0">
              <a:buNone/>
            </a:pPr>
            <a:r>
              <a:rPr lang="en-US" sz="1150" dirty="0">
                <a:solidFill>
                  <a:schemeClr val="tx1"/>
                </a:solidFill>
              </a:rPr>
              <a:t>root = Modules/MCP실습</a:t>
            </a:r>
            <a:endParaRPr lang="en-US" sz="1150" dirty="0"/>
          </a:p>
        </p:txBody>
      </p:sp>
      <p:sp>
        <p:nvSpPr>
          <p:cNvPr id="10" name="line_645"/>
          <p:cNvSpPr/>
          <p:nvPr/>
        </p:nvSpPr>
        <p:spPr>
          <a:xfrm>
            <a:off x="3163824" y="4343400"/>
            <a:ext cx="192024" cy="0"/>
          </a:xfrm>
          <a:prstGeom prst="line">
            <a:avLst/>
          </a:prstGeom>
          <a:noFill/>
          <a:ln w="19050">
            <a:solidFill>
              <a:schemeClr val="accent1"/>
            </a:solidFill>
            <a:prstDash val="solid"/>
            <a:tailEnd type="triangle"/>
          </a:ln>
        </p:spPr>
      </p:sp>
      <p:sp>
        <p:nvSpPr>
          <p:cNvPr id="11" name="card_646"/>
          <p:cNvSpPr/>
          <p:nvPr/>
        </p:nvSpPr>
        <p:spPr>
          <a:xfrm>
            <a:off x="3383280" y="3337560"/>
            <a:ext cx="2587752" cy="2011680"/>
          </a:xfrm>
          <a:prstGeom prst="roundRect">
            <a:avLst>
              <a:gd name="adj" fmla="val 4545"/>
            </a:avLst>
          </a:prstGeom>
          <a:solidFill>
            <a:schemeClr val="bg2"/>
          </a:solidFill>
          <a:ln/>
        </p:spPr>
      </p:sp>
      <p:sp>
        <p:nvSpPr>
          <p:cNvPr id="12" name="chip_647"/>
          <p:cNvSpPr txBox="1"/>
          <p:nvPr/>
        </p:nvSpPr>
        <p:spPr>
          <a:xfrm>
            <a:off x="3566160" y="3502152"/>
            <a:ext cx="868680" cy="310896"/>
          </a:xfrm>
          <a:prstGeom prst="roundRect">
            <a:avLst>
              <a:gd name="adj" fmla="val 17647"/>
            </a:avLst>
          </a:prstGeom>
          <a:solidFill>
            <a:schemeClr val="bg1"/>
          </a:solidFill>
          <a:ln/>
        </p:spPr>
        <p:txBody>
          <a:bodyPr wrap="square" lIns="0" tIns="50800" rIns="50800" bIns="0" rtlCol="0" anchor="ctr"/>
          <a:lstStyle/>
          <a:p>
            <a:pPr algn="ctr" indent="0" marL="0">
              <a:buNone/>
            </a:pPr>
            <a:r>
              <a:rPr lang="en-US" sz="1200" b="1" dirty="0">
                <a:solidFill>
                  <a:schemeClr val="accent6"/>
                </a:solidFill>
              </a:rPr>
              <a:t>AI 판단</a:t>
            </a:r>
            <a:endParaRPr lang="en-US" sz="1200" dirty="0"/>
          </a:p>
        </p:txBody>
      </p:sp>
      <p:sp>
        <p:nvSpPr>
          <p:cNvPr id="13" name="text_648"/>
          <p:cNvSpPr txBox="1"/>
          <p:nvPr/>
        </p:nvSpPr>
        <p:spPr>
          <a:xfrm>
            <a:off x="3566160" y="3886200"/>
            <a:ext cx="2221992" cy="365760"/>
          </a:xfrm>
          <a:prstGeom prst="rect">
            <a:avLst/>
          </a:prstGeom>
          <a:noFill/>
          <a:ln/>
        </p:spPr>
        <p:txBody>
          <a:bodyPr wrap="square" lIns="0" tIns="0" rIns="0" bIns="0" rtlCol="0" anchor="t"/>
          <a:lstStyle/>
          <a:p>
            <a:pPr indent="0" marL="0">
              <a:buNone/>
            </a:pPr>
            <a:r>
              <a:rPr lang="en-US" sz="1400" b="1" dirty="0">
                <a:solidFill>
                  <a:schemeClr val="tx2"/>
                </a:solidFill>
                <a:latin typeface="Consolas" pitchFamily="34" charset="0"/>
                <a:ea typeface="Consolas" pitchFamily="34" charset="-122"/>
                <a:cs typeface="Consolas" pitchFamily="34" charset="-120"/>
              </a:rPr>
              <a:t>get_object_info</a:t>
            </a:r>
            <a:endParaRPr lang="en-US" sz="1400" dirty="0"/>
          </a:p>
        </p:txBody>
      </p:sp>
      <p:sp>
        <p:nvSpPr>
          <p:cNvPr id="14" name="text_649"/>
          <p:cNvSpPr txBox="1"/>
          <p:nvPr/>
        </p:nvSpPr>
        <p:spPr>
          <a:xfrm>
            <a:off x="3566160" y="4297680"/>
            <a:ext cx="2221992" cy="960120"/>
          </a:xfrm>
          <a:prstGeom prst="rect">
            <a:avLst/>
          </a:prstGeom>
          <a:noFill/>
          <a:ln/>
        </p:spPr>
        <p:txBody>
          <a:bodyPr wrap="square" lIns="0" tIns="0" rIns="0" bIns="0" rtlCol="0" anchor="t"/>
          <a:lstStyle/>
          <a:p>
            <a:pPr indent="0" marL="0">
              <a:buNone/>
            </a:pPr>
            <a:r>
              <a:rPr lang="en-US" sz="1150" dirty="0">
                <a:solidFill>
                  <a:schemeClr val="tx1"/>
                </a:solidFill>
              </a:rPr>
              <a:t>찾은 모듈의 속성 확인</a:t>
            </a:r>
            <a:endParaRPr lang="en-US" sz="1150" dirty="0"/>
          </a:p>
          <a:p>
            <a:pPr indent="0" marL="0">
              <a:buNone/>
            </a:pPr>
            <a:r>
              <a:rPr lang="en-US" sz="1150" dirty="0">
                <a:solidFill>
                  <a:schemeClr val="tx1"/>
                </a:solidFill>
              </a:rPr>
              <a:t>(Header, Login, OpenUrl, CloseBrowser)</a:t>
            </a:r>
            <a:endParaRPr lang="en-US" sz="1150" dirty="0"/>
          </a:p>
        </p:txBody>
      </p:sp>
      <p:sp>
        <p:nvSpPr>
          <p:cNvPr id="15" name="line_650"/>
          <p:cNvSpPr/>
          <p:nvPr/>
        </p:nvSpPr>
        <p:spPr>
          <a:xfrm>
            <a:off x="5998464" y="4343400"/>
            <a:ext cx="192024" cy="0"/>
          </a:xfrm>
          <a:prstGeom prst="line">
            <a:avLst/>
          </a:prstGeom>
          <a:noFill/>
          <a:ln w="19050">
            <a:solidFill>
              <a:schemeClr val="accent1"/>
            </a:solidFill>
            <a:prstDash val="solid"/>
            <a:tailEnd type="triangle"/>
          </a:ln>
        </p:spPr>
      </p:sp>
      <p:sp>
        <p:nvSpPr>
          <p:cNvPr id="16" name="card_651"/>
          <p:cNvSpPr/>
          <p:nvPr/>
        </p:nvSpPr>
        <p:spPr>
          <a:xfrm>
            <a:off x="6217920" y="3337560"/>
            <a:ext cx="2587752" cy="2011680"/>
          </a:xfrm>
          <a:prstGeom prst="roundRect">
            <a:avLst>
              <a:gd name="adj" fmla="val 4545"/>
            </a:avLst>
          </a:prstGeom>
          <a:solidFill>
            <a:schemeClr val="bg2"/>
          </a:solidFill>
          <a:ln/>
        </p:spPr>
      </p:sp>
      <p:sp>
        <p:nvSpPr>
          <p:cNvPr id="17" name="chip_652"/>
          <p:cNvSpPr txBox="1"/>
          <p:nvPr/>
        </p:nvSpPr>
        <p:spPr>
          <a:xfrm>
            <a:off x="6400800" y="3502152"/>
            <a:ext cx="685800" cy="310896"/>
          </a:xfrm>
          <a:prstGeom prst="roundRect">
            <a:avLst>
              <a:gd name="adj" fmla="val 17647"/>
            </a:avLst>
          </a:prstGeom>
          <a:solidFill>
            <a:schemeClr val="bg1"/>
          </a:solidFill>
          <a:ln/>
        </p:spPr>
        <p:txBody>
          <a:bodyPr wrap="square" lIns="0" tIns="50800" rIns="50800" bIns="0" rtlCol="0" anchor="ctr"/>
          <a:lstStyle/>
          <a:p>
            <a:pPr algn="ctr" indent="0" marL="0">
              <a:buNone/>
            </a:pPr>
            <a:r>
              <a:rPr lang="en-US" sz="1200" b="1" dirty="0">
                <a:solidFill>
                  <a:schemeClr val="accent5"/>
                </a:solidFill>
              </a:rPr>
              <a:t>① ②</a:t>
            </a:r>
            <a:endParaRPr lang="en-US" sz="1200" dirty="0"/>
          </a:p>
        </p:txBody>
      </p:sp>
      <p:sp>
        <p:nvSpPr>
          <p:cNvPr id="18" name="text_653"/>
          <p:cNvSpPr txBox="1"/>
          <p:nvPr/>
        </p:nvSpPr>
        <p:spPr>
          <a:xfrm>
            <a:off x="6400800" y="3886200"/>
            <a:ext cx="2221992" cy="365760"/>
          </a:xfrm>
          <a:prstGeom prst="rect">
            <a:avLst/>
          </a:prstGeom>
          <a:noFill/>
          <a:ln/>
        </p:spPr>
        <p:txBody>
          <a:bodyPr wrap="square" lIns="0" tIns="0" rIns="0" bIns="0" rtlCol="0" anchor="t"/>
          <a:lstStyle/>
          <a:p>
            <a:pPr indent="0" marL="0">
              <a:buNone/>
            </a:pPr>
            <a:r>
              <a:rPr lang="en-US" sz="1400" b="1" dirty="0">
                <a:solidFill>
                  <a:schemeClr val="tx2"/>
                </a:solidFill>
                <a:latin typeface="Consolas" pitchFamily="34" charset="0"/>
                <a:ea typeface="Consolas" pitchFamily="34" charset="-122"/>
                <a:cs typeface="Consolas" pitchFamily="34" charset="-120"/>
              </a:rPr>
              <a:t>create_test_cases</a:t>
            </a:r>
            <a:endParaRPr lang="en-US" sz="1400" dirty="0"/>
          </a:p>
        </p:txBody>
      </p:sp>
      <p:sp>
        <p:nvSpPr>
          <p:cNvPr id="19" name="text_654"/>
          <p:cNvSpPr txBox="1"/>
          <p:nvPr/>
        </p:nvSpPr>
        <p:spPr>
          <a:xfrm>
            <a:off x="6400800" y="4297680"/>
            <a:ext cx="2221992" cy="960120"/>
          </a:xfrm>
          <a:prstGeom prst="rect">
            <a:avLst/>
          </a:prstGeom>
          <a:noFill/>
          <a:ln/>
        </p:spPr>
        <p:txBody>
          <a:bodyPr wrap="square" lIns="0" tIns="0" rIns="0" bIns="0" rtlCol="0" anchor="t"/>
          <a:lstStyle/>
          <a:p>
            <a:pPr indent="0" marL="0">
              <a:buNone/>
            </a:pPr>
            <a:r>
              <a:rPr lang="en-US" sz="1150" dirty="0">
                <a:solidFill>
                  <a:schemeClr val="tx1"/>
                </a:solidFill>
              </a:rPr>
              <a:t>path = TestCases/MCP실습/홍길동</a:t>
            </a:r>
            <a:endParaRPr lang="en-US" sz="1150" dirty="0"/>
          </a:p>
          <a:p>
            <a:pPr indent="0" marL="0">
              <a:buNone/>
            </a:pPr>
            <a:r>
              <a:rPr lang="en-US" sz="1150" dirty="0">
                <a:solidFill>
                  <a:schemeClr val="tx1"/>
                </a:solidFill>
              </a:rPr>
              <a:t>name = 로그인 성공_자동</a:t>
            </a:r>
            <a:endParaRPr lang="en-US" sz="1150" dirty="0"/>
          </a:p>
          <a:p>
            <a:pPr indent="0" marL="0">
              <a:buNone/>
            </a:pPr>
            <a:r>
              <a:rPr lang="en-US" sz="1150" dirty="0">
                <a:solidFill>
                  <a:schemeClr val="tx1"/>
                </a:solidFill>
              </a:rPr>
              <a:t>test_steps = [ ... ]</a:t>
            </a:r>
            <a:endParaRPr lang="en-US" sz="1150" dirty="0"/>
          </a:p>
        </p:txBody>
      </p:sp>
      <p:sp>
        <p:nvSpPr>
          <p:cNvPr id="20" name="line_655"/>
          <p:cNvSpPr/>
          <p:nvPr/>
        </p:nvSpPr>
        <p:spPr>
          <a:xfrm>
            <a:off x="8833104" y="4343400"/>
            <a:ext cx="192024" cy="0"/>
          </a:xfrm>
          <a:prstGeom prst="line">
            <a:avLst/>
          </a:prstGeom>
          <a:noFill/>
          <a:ln w="19050">
            <a:solidFill>
              <a:schemeClr val="accent1"/>
            </a:solidFill>
            <a:prstDash val="solid"/>
            <a:tailEnd type="triangle"/>
          </a:ln>
        </p:spPr>
      </p:sp>
      <p:sp>
        <p:nvSpPr>
          <p:cNvPr id="21" name="card_656"/>
          <p:cNvSpPr/>
          <p:nvPr/>
        </p:nvSpPr>
        <p:spPr>
          <a:xfrm>
            <a:off x="9052560" y="3337560"/>
            <a:ext cx="2587752" cy="2011680"/>
          </a:xfrm>
          <a:prstGeom prst="roundRect">
            <a:avLst>
              <a:gd name="adj" fmla="val 4545"/>
            </a:avLst>
          </a:prstGeom>
          <a:solidFill>
            <a:schemeClr val="bg2"/>
          </a:solidFill>
          <a:ln/>
        </p:spPr>
      </p:sp>
      <p:sp>
        <p:nvSpPr>
          <p:cNvPr id="22" name="chip_657"/>
          <p:cNvSpPr txBox="1"/>
          <p:nvPr/>
        </p:nvSpPr>
        <p:spPr>
          <a:xfrm>
            <a:off x="9235440" y="3502152"/>
            <a:ext cx="685800" cy="310896"/>
          </a:xfrm>
          <a:prstGeom prst="roundRect">
            <a:avLst>
              <a:gd name="adj" fmla="val 17647"/>
            </a:avLst>
          </a:prstGeom>
          <a:solidFill>
            <a:schemeClr val="bg1"/>
          </a:solidFill>
          <a:ln/>
        </p:spPr>
        <p:txBody>
          <a:bodyPr wrap="square" lIns="0" tIns="50800" rIns="50800" bIns="0" rtlCol="0" anchor="ctr"/>
          <a:lstStyle/>
          <a:p>
            <a:pPr algn="ctr" indent="0" marL="0">
              <a:buNone/>
            </a:pPr>
            <a:r>
              <a:rPr lang="en-US" sz="1200" b="1" dirty="0">
                <a:solidFill>
                  <a:schemeClr val="accent5"/>
                </a:solidFill>
              </a:rPr>
              <a:t>④</a:t>
            </a:r>
            <a:endParaRPr lang="en-US" sz="1200" dirty="0"/>
          </a:p>
        </p:txBody>
      </p:sp>
      <p:sp>
        <p:nvSpPr>
          <p:cNvPr id="23" name="text_658"/>
          <p:cNvSpPr txBox="1"/>
          <p:nvPr/>
        </p:nvSpPr>
        <p:spPr>
          <a:xfrm>
            <a:off x="9235440" y="3886200"/>
            <a:ext cx="2221992" cy="365760"/>
          </a:xfrm>
          <a:prstGeom prst="rect">
            <a:avLst/>
          </a:prstGeom>
          <a:noFill/>
          <a:ln/>
        </p:spPr>
        <p:txBody>
          <a:bodyPr wrap="square" lIns="0" tIns="0" rIns="0" bIns="0" rtlCol="0" anchor="t"/>
          <a:lstStyle/>
          <a:p>
            <a:pPr indent="0" marL="0">
              <a:buNone/>
            </a:pPr>
            <a:r>
              <a:rPr lang="en-US" sz="1400" b="1" dirty="0">
                <a:solidFill>
                  <a:schemeClr val="tx2"/>
                </a:solidFill>
                <a:latin typeface="Consolas" pitchFamily="34" charset="0"/>
                <a:ea typeface="Consolas" pitchFamily="34" charset="-122"/>
                <a:cs typeface="Consolas" pitchFamily="34" charset="-120"/>
              </a:rPr>
              <a:t>set_attribute</a:t>
            </a:r>
            <a:endParaRPr lang="en-US" sz="1400" dirty="0"/>
          </a:p>
        </p:txBody>
      </p:sp>
      <p:sp>
        <p:nvSpPr>
          <p:cNvPr id="24" name="text_659"/>
          <p:cNvSpPr txBox="1"/>
          <p:nvPr/>
        </p:nvSpPr>
        <p:spPr>
          <a:xfrm>
            <a:off x="9235440" y="4297680"/>
            <a:ext cx="2221992" cy="960120"/>
          </a:xfrm>
          <a:prstGeom prst="rect">
            <a:avLst/>
          </a:prstGeom>
          <a:noFill/>
          <a:ln/>
        </p:spPr>
        <p:txBody>
          <a:bodyPr wrap="square" lIns="0" tIns="0" rIns="0" bIns="0" rtlCol="0" anchor="t"/>
          <a:lstStyle/>
          <a:p>
            <a:pPr indent="0" marL="0">
              <a:buNone/>
            </a:pPr>
            <a:r>
              <a:rPr lang="en-US" sz="1150" dirty="0">
                <a:solidFill>
                  <a:schemeClr val="tx1"/>
                </a:solidFill>
              </a:rPr>
              <a:t>Account 값의</a:t>
            </a:r>
            <a:endParaRPr lang="en-US" sz="1150" dirty="0"/>
          </a:p>
          <a:p>
            <a:pPr indent="0" marL="0">
              <a:buNone/>
            </a:pPr>
            <a:r>
              <a:rPr lang="en-US" sz="1150" dirty="0">
                <a:solidFill>
                  <a:schemeClr val="tx1"/>
                </a:solidFill>
              </a:rPr>
              <a:t>ActionMode = Verify</a:t>
            </a:r>
            <a:endParaRPr lang="en-US" sz="1150" dirty="0"/>
          </a:p>
        </p:txBody>
      </p:sp>
      <p:sp>
        <p:nvSpPr>
          <p:cNvPr id="25" name="text_660"/>
          <p:cNvSpPr txBox="1"/>
          <p:nvPr/>
        </p:nvSpPr>
        <p:spPr>
          <a:xfrm>
            <a:off x="548640" y="5577840"/>
            <a:ext cx="11091672" cy="457200"/>
          </a:xfrm>
          <a:prstGeom prst="rect">
            <a:avLst/>
          </a:prstGeom>
          <a:noFill/>
          <a:ln/>
        </p:spPr>
        <p:txBody>
          <a:bodyPr wrap="square" lIns="0" tIns="0" rIns="0" bIns="0" rtlCol="0" anchor="ctr"/>
          <a:lstStyle/>
          <a:p>
            <a:pPr indent="0" marL="0">
              <a:buNone/>
            </a:pPr>
            <a:r>
              <a:rPr lang="en-US" sz="1500" b="1" dirty="0">
                <a:solidFill>
                  <a:schemeClr val="tx2"/>
                </a:solidFill>
              </a:rPr>
              <a:t>프롬프트에 없는 정보는 AI가 추측하거나 다시 묻는다. 추측이 틀리면 엉뚱한 곳에 만들어진다.</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프롬프트는 네 가지 요소로 쓴다</a:t>
            </a:r>
            <a:endParaRPr lang="en-US" sz="3200" dirty="0"/>
          </a:p>
        </p:txBody>
      </p:sp>
      <p:sp>
        <p:nvSpPr>
          <p:cNvPr id="4" name="card_661"/>
          <p:cNvSpPr/>
          <p:nvPr/>
        </p:nvSpPr>
        <p:spPr>
          <a:xfrm>
            <a:off x="548640" y="1371600"/>
            <a:ext cx="2615184" cy="2971800"/>
          </a:xfrm>
          <a:prstGeom prst="roundRect">
            <a:avLst>
              <a:gd name="adj" fmla="val 3497"/>
            </a:avLst>
          </a:prstGeom>
          <a:solidFill>
            <a:schemeClr val="bg2"/>
          </a:solidFill>
          <a:ln/>
        </p:spPr>
      </p:sp>
      <p:sp>
        <p:nvSpPr>
          <p:cNvPr id="5" name="text_662"/>
          <p:cNvSpPr txBox="1"/>
          <p:nvPr/>
        </p:nvSpPr>
        <p:spPr>
          <a:xfrm>
            <a:off x="777240" y="1554480"/>
            <a:ext cx="1371600" cy="548640"/>
          </a:xfrm>
          <a:prstGeom prst="rect">
            <a:avLst/>
          </a:prstGeom>
          <a:noFill/>
          <a:ln/>
        </p:spPr>
        <p:txBody>
          <a:bodyPr wrap="square" lIns="0" tIns="0" rIns="0" bIns="0" rtlCol="0" anchor="ctr"/>
          <a:lstStyle/>
          <a:p>
            <a:pPr indent="0" marL="0">
              <a:buNone/>
            </a:pPr>
            <a:r>
              <a:rPr lang="en-US" sz="2600" b="1" dirty="0">
                <a:solidFill>
                  <a:schemeClr val="tx2"/>
                </a:solidFill>
              </a:rPr>
              <a:t>대상</a:t>
            </a:r>
            <a:endParaRPr lang="en-US" sz="2600" dirty="0"/>
          </a:p>
        </p:txBody>
      </p:sp>
      <p:sp>
        <p:nvSpPr>
          <p:cNvPr id="6" name="text_663"/>
          <p:cNvSpPr txBox="1"/>
          <p:nvPr/>
        </p:nvSpPr>
        <p:spPr>
          <a:xfrm>
            <a:off x="1920240" y="1600200"/>
            <a:ext cx="1060704" cy="457200"/>
          </a:xfrm>
          <a:prstGeom prst="rect">
            <a:avLst/>
          </a:prstGeom>
          <a:noFill/>
          <a:ln/>
        </p:spPr>
        <p:txBody>
          <a:bodyPr wrap="square" lIns="0" tIns="0" rIns="0" bIns="0" rtlCol="0" anchor="ctr"/>
          <a:lstStyle/>
          <a:p>
            <a:pPr algn="r" indent="0" marL="0">
              <a:buNone/>
            </a:pPr>
            <a:r>
              <a:rPr lang="en-US" sz="1300" dirty="0">
                <a:solidFill>
                  <a:schemeClr val="accent6"/>
                </a:solidFill>
              </a:rPr>
              <a:t>어디서?</a:t>
            </a:r>
            <a:endParaRPr lang="en-US" sz="1300" dirty="0"/>
          </a:p>
        </p:txBody>
      </p:sp>
      <p:sp>
        <p:nvSpPr>
          <p:cNvPr id="7" name="text_664"/>
          <p:cNvSpPr txBox="1"/>
          <p:nvPr/>
        </p:nvSpPr>
        <p:spPr>
          <a:xfrm>
            <a:off x="777240" y="2240280"/>
            <a:ext cx="2157984" cy="1143000"/>
          </a:xfrm>
          <a:prstGeom prst="rect">
            <a:avLst/>
          </a:prstGeom>
          <a:noFill/>
          <a:ln/>
        </p:spPr>
        <p:txBody>
          <a:bodyPr wrap="square" lIns="0" tIns="0" rIns="0" bIns="0" rtlCol="0" anchor="t"/>
          <a:lstStyle/>
          <a:p>
            <a:pPr indent="0" marL="0">
              <a:buNone/>
            </a:pPr>
            <a:r>
              <a:rPr lang="en-US" sz="1350" dirty="0">
                <a:solidFill>
                  <a:schemeClr val="tx1"/>
                </a:solidFill>
              </a:rPr>
              <a:t>폴더 경로, 테스트케이스 이름, 모듈 위치를 Commander에 보이는 그대로 적는다.</a:t>
            </a:r>
            <a:endParaRPr lang="en-US" sz="1350" dirty="0"/>
          </a:p>
        </p:txBody>
      </p:sp>
      <p:sp>
        <p:nvSpPr>
          <p:cNvPr id="8" name="text_665"/>
          <p:cNvSpPr txBox="1"/>
          <p:nvPr/>
        </p:nvSpPr>
        <p:spPr>
          <a:xfrm>
            <a:off x="777240" y="3429000"/>
            <a:ext cx="2157984" cy="777240"/>
          </a:xfrm>
          <a:prstGeom prst="rect">
            <a:avLst/>
          </a:prstGeom>
          <a:noFill/>
          <a:ln/>
        </p:spPr>
        <p:txBody>
          <a:bodyPr wrap="square" lIns="0" tIns="0" rIns="0" bIns="0" rtlCol="0" anchor="t"/>
          <a:lstStyle/>
          <a:p>
            <a:pPr indent="0" marL="0">
              <a:buNone/>
            </a:pPr>
            <a:r>
              <a:rPr lang="en-US" sz="1200" i="1" dirty="0">
                <a:solidFill>
                  <a:schemeClr val="tx2"/>
                </a:solidFill>
              </a:rPr>
              <a:t>TestCases/MCP실습/홍길동 폴더에</a:t>
            </a:r>
            <a:endParaRPr lang="en-US" sz="1200" dirty="0"/>
          </a:p>
        </p:txBody>
      </p:sp>
      <p:sp>
        <p:nvSpPr>
          <p:cNvPr id="9" name="card_666"/>
          <p:cNvSpPr/>
          <p:nvPr/>
        </p:nvSpPr>
        <p:spPr>
          <a:xfrm>
            <a:off x="3374136" y="1371600"/>
            <a:ext cx="2615184" cy="2971800"/>
          </a:xfrm>
          <a:prstGeom prst="roundRect">
            <a:avLst>
              <a:gd name="adj" fmla="val 3497"/>
            </a:avLst>
          </a:prstGeom>
          <a:solidFill>
            <a:schemeClr val="bg2"/>
          </a:solidFill>
          <a:ln/>
        </p:spPr>
      </p:sp>
      <p:sp>
        <p:nvSpPr>
          <p:cNvPr id="10" name="text_667"/>
          <p:cNvSpPr txBox="1"/>
          <p:nvPr/>
        </p:nvSpPr>
        <p:spPr>
          <a:xfrm>
            <a:off x="3602736" y="1554480"/>
            <a:ext cx="1371600" cy="548640"/>
          </a:xfrm>
          <a:prstGeom prst="rect">
            <a:avLst/>
          </a:prstGeom>
          <a:noFill/>
          <a:ln/>
        </p:spPr>
        <p:txBody>
          <a:bodyPr wrap="square" lIns="0" tIns="0" rIns="0" bIns="0" rtlCol="0" anchor="ctr"/>
          <a:lstStyle/>
          <a:p>
            <a:pPr indent="0" marL="0">
              <a:buNone/>
            </a:pPr>
            <a:r>
              <a:rPr lang="en-US" sz="2600" b="1" dirty="0">
                <a:solidFill>
                  <a:schemeClr val="tx2"/>
                </a:solidFill>
              </a:rPr>
              <a:t>작업</a:t>
            </a:r>
            <a:endParaRPr lang="en-US" sz="2600" dirty="0"/>
          </a:p>
        </p:txBody>
      </p:sp>
      <p:sp>
        <p:nvSpPr>
          <p:cNvPr id="11" name="text_668"/>
          <p:cNvSpPr txBox="1"/>
          <p:nvPr/>
        </p:nvSpPr>
        <p:spPr>
          <a:xfrm>
            <a:off x="4745736" y="1600200"/>
            <a:ext cx="1060704" cy="457200"/>
          </a:xfrm>
          <a:prstGeom prst="rect">
            <a:avLst/>
          </a:prstGeom>
          <a:noFill/>
          <a:ln/>
        </p:spPr>
        <p:txBody>
          <a:bodyPr wrap="square" lIns="0" tIns="0" rIns="0" bIns="0" rtlCol="0" anchor="ctr"/>
          <a:lstStyle/>
          <a:p>
            <a:pPr algn="r" indent="0" marL="0">
              <a:buNone/>
            </a:pPr>
            <a:r>
              <a:rPr lang="en-US" sz="1300" dirty="0">
                <a:solidFill>
                  <a:schemeClr val="accent6"/>
                </a:solidFill>
              </a:rPr>
              <a:t>무엇을?</a:t>
            </a:r>
            <a:endParaRPr lang="en-US" sz="1300" dirty="0"/>
          </a:p>
        </p:txBody>
      </p:sp>
      <p:sp>
        <p:nvSpPr>
          <p:cNvPr id="12" name="text_669"/>
          <p:cNvSpPr txBox="1"/>
          <p:nvPr/>
        </p:nvSpPr>
        <p:spPr>
          <a:xfrm>
            <a:off x="3602736" y="2240280"/>
            <a:ext cx="2157984" cy="1143000"/>
          </a:xfrm>
          <a:prstGeom prst="rect">
            <a:avLst/>
          </a:prstGeom>
          <a:noFill/>
          <a:ln/>
        </p:spPr>
        <p:txBody>
          <a:bodyPr wrap="square" lIns="0" tIns="0" rIns="0" bIns="0" rtlCol="0" anchor="t"/>
          <a:lstStyle/>
          <a:p>
            <a:pPr indent="0" marL="0">
              <a:buNone/>
            </a:pPr>
            <a:r>
              <a:rPr lang="en-US" sz="1350" dirty="0">
                <a:solidFill>
                  <a:schemeClr val="tx1"/>
                </a:solidFill>
              </a:rPr>
              <a:t>만들기, 고치기, 실행, 분석 중 하나. 한 번에 한 가지만 시킨다.</a:t>
            </a:r>
            <a:endParaRPr lang="en-US" sz="1350" dirty="0"/>
          </a:p>
        </p:txBody>
      </p:sp>
      <p:sp>
        <p:nvSpPr>
          <p:cNvPr id="13" name="text_670"/>
          <p:cNvSpPr txBox="1"/>
          <p:nvPr/>
        </p:nvSpPr>
        <p:spPr>
          <a:xfrm>
            <a:off x="3602736" y="3429000"/>
            <a:ext cx="2157984" cy="777240"/>
          </a:xfrm>
          <a:prstGeom prst="rect">
            <a:avLst/>
          </a:prstGeom>
          <a:noFill/>
          <a:ln/>
        </p:spPr>
        <p:txBody>
          <a:bodyPr wrap="square" lIns="0" tIns="0" rIns="0" bIns="0" rtlCol="0" anchor="t"/>
          <a:lstStyle/>
          <a:p>
            <a:pPr indent="0" marL="0">
              <a:buNone/>
            </a:pPr>
            <a:r>
              <a:rPr lang="en-US" sz="1200" i="1" dirty="0">
                <a:solidFill>
                  <a:schemeClr val="tx2"/>
                </a:solidFill>
              </a:rPr>
              <a:t>'로그인 성공_자동' 테스트케이스를 만들어줘</a:t>
            </a:r>
            <a:endParaRPr lang="en-US" sz="1200" dirty="0"/>
          </a:p>
        </p:txBody>
      </p:sp>
      <p:sp>
        <p:nvSpPr>
          <p:cNvPr id="14" name="card_671"/>
          <p:cNvSpPr/>
          <p:nvPr/>
        </p:nvSpPr>
        <p:spPr>
          <a:xfrm>
            <a:off x="6199632" y="1371600"/>
            <a:ext cx="2615184" cy="2971800"/>
          </a:xfrm>
          <a:prstGeom prst="roundRect">
            <a:avLst>
              <a:gd name="adj" fmla="val 3497"/>
            </a:avLst>
          </a:prstGeom>
          <a:solidFill>
            <a:schemeClr val="bg2"/>
          </a:solidFill>
          <a:ln/>
        </p:spPr>
      </p:sp>
      <p:sp>
        <p:nvSpPr>
          <p:cNvPr id="15" name="text_672"/>
          <p:cNvSpPr txBox="1"/>
          <p:nvPr/>
        </p:nvSpPr>
        <p:spPr>
          <a:xfrm>
            <a:off x="6428232" y="1554480"/>
            <a:ext cx="1371600" cy="548640"/>
          </a:xfrm>
          <a:prstGeom prst="rect">
            <a:avLst/>
          </a:prstGeom>
          <a:noFill/>
          <a:ln/>
        </p:spPr>
        <p:txBody>
          <a:bodyPr wrap="square" lIns="0" tIns="0" rIns="0" bIns="0" rtlCol="0" anchor="ctr"/>
          <a:lstStyle/>
          <a:p>
            <a:pPr indent="0" marL="0">
              <a:buNone/>
            </a:pPr>
            <a:r>
              <a:rPr lang="en-US" sz="2600" b="1" dirty="0">
                <a:solidFill>
                  <a:schemeClr val="tx2"/>
                </a:solidFill>
              </a:rPr>
              <a:t>조건</a:t>
            </a:r>
            <a:endParaRPr lang="en-US" sz="2600" dirty="0"/>
          </a:p>
        </p:txBody>
      </p:sp>
      <p:sp>
        <p:nvSpPr>
          <p:cNvPr id="16" name="text_673"/>
          <p:cNvSpPr txBox="1"/>
          <p:nvPr/>
        </p:nvSpPr>
        <p:spPr>
          <a:xfrm>
            <a:off x="7571232" y="1600200"/>
            <a:ext cx="1060704" cy="457200"/>
          </a:xfrm>
          <a:prstGeom prst="rect">
            <a:avLst/>
          </a:prstGeom>
          <a:noFill/>
          <a:ln/>
        </p:spPr>
        <p:txBody>
          <a:bodyPr wrap="square" lIns="0" tIns="0" rIns="0" bIns="0" rtlCol="0" anchor="ctr"/>
          <a:lstStyle/>
          <a:p>
            <a:pPr algn="r" indent="0" marL="0">
              <a:buNone/>
            </a:pPr>
            <a:r>
              <a:rPr lang="en-US" sz="1300" dirty="0">
                <a:solidFill>
                  <a:schemeClr val="accent6"/>
                </a:solidFill>
              </a:rPr>
              <a:t>어떻게?</a:t>
            </a:r>
            <a:endParaRPr lang="en-US" sz="1300" dirty="0"/>
          </a:p>
        </p:txBody>
      </p:sp>
      <p:sp>
        <p:nvSpPr>
          <p:cNvPr id="17" name="text_674"/>
          <p:cNvSpPr txBox="1"/>
          <p:nvPr/>
        </p:nvSpPr>
        <p:spPr>
          <a:xfrm>
            <a:off x="6428232" y="2240280"/>
            <a:ext cx="2157984" cy="1143000"/>
          </a:xfrm>
          <a:prstGeom prst="rect">
            <a:avLst/>
          </a:prstGeom>
          <a:noFill/>
          <a:ln/>
        </p:spPr>
        <p:txBody>
          <a:bodyPr wrap="square" lIns="0" tIns="0" rIns="0" bIns="0" rtlCol="0" anchor="t"/>
          <a:lstStyle/>
          <a:p>
            <a:pPr indent="0" marL="0">
              <a:buNone/>
            </a:pPr>
            <a:r>
              <a:rPr lang="en-US" sz="1350" dirty="0">
                <a:solidFill>
                  <a:schemeClr val="tx1"/>
                </a:solidFill>
              </a:rPr>
              <a:t>쓸 모듈 범위, 값, ActionMode, 하지 말아야 할 것을 적는다.</a:t>
            </a:r>
            <a:endParaRPr lang="en-US" sz="1350" dirty="0"/>
          </a:p>
        </p:txBody>
      </p:sp>
      <p:sp>
        <p:nvSpPr>
          <p:cNvPr id="18" name="text_675"/>
          <p:cNvSpPr txBox="1"/>
          <p:nvPr/>
        </p:nvSpPr>
        <p:spPr>
          <a:xfrm>
            <a:off x="6428232" y="3429000"/>
            <a:ext cx="2157984" cy="777240"/>
          </a:xfrm>
          <a:prstGeom prst="rect">
            <a:avLst/>
          </a:prstGeom>
          <a:noFill/>
          <a:ln/>
        </p:spPr>
        <p:txBody>
          <a:bodyPr wrap="square" lIns="0" tIns="0" rIns="0" bIns="0" rtlCol="0" anchor="t"/>
          <a:lstStyle/>
          <a:p>
            <a:pPr indent="0" marL="0">
              <a:buNone/>
            </a:pPr>
            <a:r>
              <a:rPr lang="en-US" sz="1200" i="1" dirty="0">
                <a:solidFill>
                  <a:schemeClr val="tx2"/>
                </a:solidFill>
              </a:rPr>
              <a:t>모듈은 Modules/MCP실습에서만 찾고, 새로 스캔하지 마</a:t>
            </a:r>
            <a:endParaRPr lang="en-US" sz="1200" dirty="0"/>
          </a:p>
        </p:txBody>
      </p:sp>
      <p:sp>
        <p:nvSpPr>
          <p:cNvPr id="19" name="card_676"/>
          <p:cNvSpPr/>
          <p:nvPr/>
        </p:nvSpPr>
        <p:spPr>
          <a:xfrm>
            <a:off x="9025128" y="1371600"/>
            <a:ext cx="2615184" cy="2971800"/>
          </a:xfrm>
          <a:prstGeom prst="roundRect">
            <a:avLst>
              <a:gd name="adj" fmla="val 3497"/>
            </a:avLst>
          </a:prstGeom>
          <a:solidFill>
            <a:schemeClr val="bg2"/>
          </a:solidFill>
          <a:ln/>
        </p:spPr>
      </p:sp>
      <p:sp>
        <p:nvSpPr>
          <p:cNvPr id="20" name="text_677"/>
          <p:cNvSpPr txBox="1"/>
          <p:nvPr/>
        </p:nvSpPr>
        <p:spPr>
          <a:xfrm>
            <a:off x="9253728" y="1554480"/>
            <a:ext cx="1371600" cy="548640"/>
          </a:xfrm>
          <a:prstGeom prst="rect">
            <a:avLst/>
          </a:prstGeom>
          <a:noFill/>
          <a:ln/>
        </p:spPr>
        <p:txBody>
          <a:bodyPr wrap="square" lIns="0" tIns="0" rIns="0" bIns="0" rtlCol="0" anchor="ctr"/>
          <a:lstStyle/>
          <a:p>
            <a:pPr indent="0" marL="0">
              <a:buNone/>
            </a:pPr>
            <a:r>
              <a:rPr lang="en-US" sz="2600" b="1" dirty="0">
                <a:solidFill>
                  <a:schemeClr val="tx2"/>
                </a:solidFill>
              </a:rPr>
              <a:t>확인</a:t>
            </a:r>
            <a:endParaRPr lang="en-US" sz="2600" dirty="0"/>
          </a:p>
        </p:txBody>
      </p:sp>
      <p:sp>
        <p:nvSpPr>
          <p:cNvPr id="21" name="text_678"/>
          <p:cNvSpPr txBox="1"/>
          <p:nvPr/>
        </p:nvSpPr>
        <p:spPr>
          <a:xfrm>
            <a:off x="10396728" y="1600200"/>
            <a:ext cx="1060704" cy="457200"/>
          </a:xfrm>
          <a:prstGeom prst="rect">
            <a:avLst/>
          </a:prstGeom>
          <a:noFill/>
          <a:ln/>
        </p:spPr>
        <p:txBody>
          <a:bodyPr wrap="square" lIns="0" tIns="0" rIns="0" bIns="0" rtlCol="0" anchor="ctr"/>
          <a:lstStyle/>
          <a:p>
            <a:pPr algn="r" indent="0" marL="0">
              <a:buNone/>
            </a:pPr>
            <a:r>
              <a:rPr lang="en-US" sz="1300" dirty="0">
                <a:solidFill>
                  <a:schemeClr val="accent6"/>
                </a:solidFill>
              </a:rPr>
              <a:t>어떻게 받을까?</a:t>
            </a:r>
            <a:endParaRPr lang="en-US" sz="1300" dirty="0"/>
          </a:p>
        </p:txBody>
      </p:sp>
      <p:sp>
        <p:nvSpPr>
          <p:cNvPr id="22" name="text_679"/>
          <p:cNvSpPr txBox="1"/>
          <p:nvPr/>
        </p:nvSpPr>
        <p:spPr>
          <a:xfrm>
            <a:off x="9253728" y="2240280"/>
            <a:ext cx="2157984" cy="1143000"/>
          </a:xfrm>
          <a:prstGeom prst="rect">
            <a:avLst/>
          </a:prstGeom>
          <a:noFill/>
          <a:ln/>
        </p:spPr>
        <p:txBody>
          <a:bodyPr wrap="square" lIns="0" tIns="0" rIns="0" bIns="0" rtlCol="0" anchor="t"/>
          <a:lstStyle/>
          <a:p>
            <a:pPr indent="0" marL="0">
              <a:buNone/>
            </a:pPr>
            <a:r>
              <a:rPr lang="en-US" sz="1350" dirty="0">
                <a:solidFill>
                  <a:schemeClr val="tx1"/>
                </a:solidFill>
              </a:rPr>
              <a:t>계획 먼저, 표로, 승인 후 실행처럼 결과 받는 방식을 정한다.</a:t>
            </a:r>
            <a:endParaRPr lang="en-US" sz="1350" dirty="0"/>
          </a:p>
        </p:txBody>
      </p:sp>
      <p:sp>
        <p:nvSpPr>
          <p:cNvPr id="23" name="text_680"/>
          <p:cNvSpPr txBox="1"/>
          <p:nvPr/>
        </p:nvSpPr>
        <p:spPr>
          <a:xfrm>
            <a:off x="9253728" y="3429000"/>
            <a:ext cx="2157984" cy="777240"/>
          </a:xfrm>
          <a:prstGeom prst="rect">
            <a:avLst/>
          </a:prstGeom>
          <a:noFill/>
          <a:ln/>
        </p:spPr>
        <p:txBody>
          <a:bodyPr wrap="square" lIns="0" tIns="0" rIns="0" bIns="0" rtlCol="0" anchor="t"/>
          <a:lstStyle/>
          <a:p>
            <a:pPr indent="0" marL="0">
              <a:buNone/>
            </a:pPr>
            <a:r>
              <a:rPr lang="en-US" sz="1200" i="1" dirty="0">
                <a:solidFill>
                  <a:schemeClr val="tx2"/>
                </a:solidFill>
              </a:rPr>
              <a:t>만들기 전에 스텝 계획을 표로 보여줘</a:t>
            </a:r>
            <a:endParaRPr lang="en-US" sz="1200" dirty="0"/>
          </a:p>
        </p:txBody>
      </p:sp>
      <p:sp>
        <p:nvSpPr>
          <p:cNvPr id="24" name="card_681"/>
          <p:cNvSpPr/>
          <p:nvPr/>
        </p:nvSpPr>
        <p:spPr>
          <a:xfrm>
            <a:off x="548640" y="4572000"/>
            <a:ext cx="11091672" cy="1417320"/>
          </a:xfrm>
          <a:prstGeom prst="roundRect">
            <a:avLst>
              <a:gd name="adj" fmla="val 6452"/>
            </a:avLst>
          </a:prstGeom>
          <a:solidFill>
            <a:schemeClr val="accent2">
              <a:alpha val="14000"/>
            </a:schemeClr>
          </a:solidFill>
          <a:ln w="9525">
            <a:solidFill>
              <a:schemeClr val="accent2"/>
            </a:solidFill>
            <a:prstDash val="solid"/>
          </a:ln>
        </p:spPr>
      </p:sp>
      <p:sp>
        <p:nvSpPr>
          <p:cNvPr id="25" name="text_682"/>
          <p:cNvSpPr txBox="1"/>
          <p:nvPr/>
        </p:nvSpPr>
        <p:spPr>
          <a:xfrm>
            <a:off x="822960" y="4663440"/>
            <a:ext cx="10607040" cy="1234440"/>
          </a:xfrm>
          <a:prstGeom prst="rect">
            <a:avLst/>
          </a:prstGeom>
          <a:noFill/>
          <a:ln/>
        </p:spPr>
        <p:txBody>
          <a:bodyPr wrap="square" lIns="0" tIns="0" rIns="0" bIns="0" rtlCol="0" anchor="ctr"/>
          <a:lstStyle/>
          <a:p>
            <a:pPr indent="0" marL="0">
              <a:lnSpc>
                <a:spcPct val="120000"/>
              </a:lnSpc>
              <a:buNone/>
            </a:pPr>
            <a:r>
              <a:rPr lang="en-US" sz="1200" b="1" dirty="0">
                <a:solidFill>
                  <a:schemeClr val="accent5"/>
                </a:solidFill>
              </a:rPr>
              <a:t>[대상] </a:t>
            </a:r>
            <a:pPr indent="0" marL="0">
              <a:lnSpc>
                <a:spcPct val="120000"/>
              </a:lnSpc>
              <a:buNone/>
            </a:pPr>
            <a:r>
              <a:rPr lang="en-US" sz="1500" dirty="0">
                <a:solidFill>
                  <a:schemeClr val="tx1"/>
                </a:solidFill>
              </a:rPr>
              <a:t>TestCases/MCP실습/홍길동 폴더에 </a:t>
            </a:r>
            <a:pPr indent="0" marL="0">
              <a:lnSpc>
                <a:spcPct val="120000"/>
              </a:lnSpc>
              <a:buNone/>
            </a:pPr>
            <a:r>
              <a:rPr lang="en-US" sz="1200" b="1" dirty="0">
                <a:solidFill>
                  <a:schemeClr val="accent5"/>
                </a:solidFill>
              </a:rPr>
              <a:t>[작업] </a:t>
            </a:r>
            <a:pPr indent="0" marL="0">
              <a:lnSpc>
                <a:spcPct val="120000"/>
              </a:lnSpc>
              <a:buNone/>
            </a:pPr>
            <a:r>
              <a:rPr lang="en-US" sz="1500" dirty="0">
                <a:solidFill>
                  <a:schemeClr val="tx1"/>
                </a:solidFill>
              </a:rPr>
              <a:t>'로그인 성공_자동' 테스트케이스를 만들어줘. </a:t>
            </a:r>
            <a:pPr indent="0" marL="0">
              <a:lnSpc>
                <a:spcPct val="120000"/>
              </a:lnSpc>
              <a:buNone/>
            </a:pPr>
            <a:r>
              <a:rPr lang="en-US" sz="1200" b="1" dirty="0">
                <a:solidFill>
                  <a:schemeClr val="accent5"/>
                </a:solidFill>
              </a:rPr>
              <a:t>[조건] </a:t>
            </a:r>
            <a:pPr indent="0" marL="0">
              <a:lnSpc>
                <a:spcPct val="120000"/>
              </a:lnSpc>
              <a:buNone/>
            </a:pPr>
            <a:r>
              <a:rPr lang="en-US" sz="1500" dirty="0">
                <a:solidFill>
                  <a:schemeClr val="tx1"/>
                </a:solidFill>
              </a:rPr>
              <a:t>모듈은 Modules/MCP실습에서만 찾고 새로 스캔하지 마. </a:t>
            </a:r>
            <a:pPr indent="0" marL="0">
              <a:lnSpc>
                <a:spcPct val="120000"/>
              </a:lnSpc>
              <a:buNone/>
            </a:pPr>
            <a:r>
              <a:rPr lang="en-US" sz="1200" b="1" dirty="0">
                <a:solidFill>
                  <a:schemeClr val="accent5"/>
                </a:solidFill>
              </a:rPr>
              <a:t>[확인] </a:t>
            </a:r>
            <a:pPr indent="0" marL="0">
              <a:lnSpc>
                <a:spcPct val="120000"/>
              </a:lnSpc>
              <a:buNone/>
            </a:pPr>
            <a:r>
              <a:rPr lang="en-US" sz="1500" dirty="0">
                <a:solidFill>
                  <a:schemeClr val="tx1"/>
                </a:solidFill>
              </a:rPr>
              <a:t>만들기 전에 스텝 계획을 표로 보여줘. </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같은 요청, 다른 결과</a:t>
            </a:r>
            <a:endParaRPr lang="en-US" sz="3200" dirty="0"/>
          </a:p>
        </p:txBody>
      </p:sp>
      <p:sp>
        <p:nvSpPr>
          <p:cNvPr id="4" name="card_683"/>
          <p:cNvSpPr/>
          <p:nvPr/>
        </p:nvSpPr>
        <p:spPr>
          <a:xfrm>
            <a:off x="548640" y="1371600"/>
            <a:ext cx="3063240" cy="1481328"/>
          </a:xfrm>
          <a:prstGeom prst="roundRect">
            <a:avLst>
              <a:gd name="adj" fmla="val 6173"/>
            </a:avLst>
          </a:prstGeom>
          <a:solidFill>
            <a:schemeClr val="bg2"/>
          </a:solidFill>
          <a:ln/>
        </p:spPr>
      </p:sp>
      <p:pic>
        <p:nvPicPr>
          <p:cNvPr id="5" name="icon_684" descr="preencoded.png">    </p:cNvPr>
          <p:cNvPicPr>
            <a:picLocks noChangeAspect="1"/>
          </p:cNvPicPr>
          <p:nvPr/>
        </p:nvPicPr>
        <p:blipFill>
          <a:blip r:embed="rId1"/>
          <a:stretch>
            <a:fillRect/>
          </a:stretch>
        </p:blipFill>
        <p:spPr>
          <a:xfrm>
            <a:off x="731520" y="1554480"/>
            <a:ext cx="310896" cy="310896"/>
          </a:xfrm>
          <a:prstGeom prst="rect">
            <a:avLst/>
          </a:prstGeom>
        </p:spPr>
      </p:pic>
      <p:sp>
        <p:nvSpPr>
          <p:cNvPr id="6" name="text_685"/>
          <p:cNvSpPr txBox="1"/>
          <p:nvPr/>
        </p:nvSpPr>
        <p:spPr>
          <a:xfrm>
            <a:off x="1115568" y="1527048"/>
            <a:ext cx="2286000" cy="365760"/>
          </a:xfrm>
          <a:prstGeom prst="rect">
            <a:avLst/>
          </a:prstGeom>
          <a:noFill/>
          <a:ln/>
        </p:spPr>
        <p:txBody>
          <a:bodyPr wrap="square" lIns="0" tIns="0" rIns="0" bIns="0" rtlCol="0" anchor="ctr"/>
          <a:lstStyle/>
          <a:p>
            <a:pPr indent="0" marL="0">
              <a:buNone/>
            </a:pPr>
            <a:r>
              <a:rPr lang="en-US" sz="1200" dirty="0">
                <a:solidFill>
                  <a:schemeClr val="accent6"/>
                </a:solidFill>
              </a:rPr>
              <a:t>아쉬운 요청</a:t>
            </a:r>
            <a:endParaRPr lang="en-US" sz="1200" dirty="0"/>
          </a:p>
        </p:txBody>
      </p:sp>
      <p:sp>
        <p:nvSpPr>
          <p:cNvPr id="7" name="text_686"/>
          <p:cNvSpPr txBox="1"/>
          <p:nvPr/>
        </p:nvSpPr>
        <p:spPr>
          <a:xfrm>
            <a:off x="731520" y="1965960"/>
            <a:ext cx="2743200" cy="777240"/>
          </a:xfrm>
          <a:prstGeom prst="rect">
            <a:avLst/>
          </a:prstGeom>
          <a:noFill/>
          <a:ln/>
        </p:spPr>
        <p:txBody>
          <a:bodyPr wrap="square" lIns="0" tIns="0" rIns="0" bIns="0" rtlCol="0" anchor="t"/>
          <a:lstStyle/>
          <a:p>
            <a:pPr indent="0" marL="0">
              <a:buNone/>
            </a:pPr>
            <a:r>
              <a:rPr lang="en-US" sz="1500" b="1" dirty="0">
                <a:solidFill>
                  <a:schemeClr val="tx1"/>
                </a:solidFill>
              </a:rPr>
              <a:t>"로그인 테스트 만들어줘"</a:t>
            </a:r>
            <a:endParaRPr lang="en-US" sz="1500" dirty="0"/>
          </a:p>
        </p:txBody>
      </p:sp>
      <p:sp>
        <p:nvSpPr>
          <p:cNvPr id="8" name="line_687"/>
          <p:cNvSpPr/>
          <p:nvPr/>
        </p:nvSpPr>
        <p:spPr>
          <a:xfrm>
            <a:off x="3657600" y="2112264"/>
            <a:ext cx="320040" cy="0"/>
          </a:xfrm>
          <a:prstGeom prst="line">
            <a:avLst/>
          </a:prstGeom>
          <a:noFill/>
          <a:ln w="19050">
            <a:solidFill>
              <a:schemeClr val="accent1"/>
            </a:solidFill>
            <a:prstDash val="solid"/>
            <a:tailEnd type="triangle"/>
          </a:ln>
        </p:spPr>
      </p:sp>
      <p:sp>
        <p:nvSpPr>
          <p:cNvPr id="9" name="card_688"/>
          <p:cNvSpPr/>
          <p:nvPr/>
        </p:nvSpPr>
        <p:spPr>
          <a:xfrm>
            <a:off x="4023360" y="1371600"/>
            <a:ext cx="5212080" cy="1481328"/>
          </a:xfrm>
          <a:prstGeom prst="roundRect">
            <a:avLst>
              <a:gd name="adj" fmla="val 6173"/>
            </a:avLst>
          </a:prstGeom>
          <a:solidFill>
            <a:schemeClr val="accent2">
              <a:alpha val="14000"/>
            </a:schemeClr>
          </a:solidFill>
          <a:ln w="9525">
            <a:solidFill>
              <a:schemeClr val="accent2"/>
            </a:solidFill>
            <a:prstDash val="solid"/>
          </a:ln>
        </p:spPr>
      </p:sp>
      <p:pic>
        <p:nvPicPr>
          <p:cNvPr id="10" name="icon_689" descr="preencoded.png">    </p:cNvPr>
          <p:cNvPicPr>
            <a:picLocks noChangeAspect="1"/>
          </p:cNvPicPr>
          <p:nvPr/>
        </p:nvPicPr>
        <p:blipFill>
          <a:blip r:embed="rId2"/>
          <a:stretch>
            <a:fillRect/>
          </a:stretch>
        </p:blipFill>
        <p:spPr>
          <a:xfrm>
            <a:off x="4206240" y="1554480"/>
            <a:ext cx="310896" cy="310896"/>
          </a:xfrm>
          <a:prstGeom prst="rect">
            <a:avLst/>
          </a:prstGeom>
        </p:spPr>
      </p:pic>
      <p:sp>
        <p:nvSpPr>
          <p:cNvPr id="11" name="text_690"/>
          <p:cNvSpPr txBox="1"/>
          <p:nvPr/>
        </p:nvSpPr>
        <p:spPr>
          <a:xfrm>
            <a:off x="4590288" y="1527048"/>
            <a:ext cx="2286000" cy="365760"/>
          </a:xfrm>
          <a:prstGeom prst="rect">
            <a:avLst/>
          </a:prstGeom>
          <a:noFill/>
          <a:ln/>
        </p:spPr>
        <p:txBody>
          <a:bodyPr wrap="square" lIns="0" tIns="0" rIns="0" bIns="0" rtlCol="0" anchor="ctr"/>
          <a:lstStyle/>
          <a:p>
            <a:pPr indent="0" marL="0">
              <a:buNone/>
            </a:pPr>
            <a:r>
              <a:rPr lang="en-US" sz="1200" dirty="0">
                <a:solidFill>
                  <a:schemeClr val="accent6"/>
                </a:solidFill>
              </a:rPr>
              <a:t>고친 요청</a:t>
            </a:r>
            <a:endParaRPr lang="en-US" sz="1200" dirty="0"/>
          </a:p>
        </p:txBody>
      </p:sp>
      <p:sp>
        <p:nvSpPr>
          <p:cNvPr id="12" name="text_691"/>
          <p:cNvSpPr txBox="1"/>
          <p:nvPr/>
        </p:nvSpPr>
        <p:spPr>
          <a:xfrm>
            <a:off x="4206240" y="1920240"/>
            <a:ext cx="4846320" cy="868680"/>
          </a:xfrm>
          <a:prstGeom prst="rect">
            <a:avLst/>
          </a:prstGeom>
          <a:noFill/>
          <a:ln/>
        </p:spPr>
        <p:txBody>
          <a:bodyPr wrap="square" lIns="0" tIns="0" rIns="0" bIns="0" rtlCol="0" anchor="t"/>
          <a:lstStyle/>
          <a:p>
            <a:pPr indent="0" marL="0">
              <a:buNone/>
            </a:pPr>
            <a:r>
              <a:rPr lang="en-US" sz="1200" dirty="0">
                <a:solidFill>
                  <a:schemeClr val="tx1"/>
                </a:solidFill>
              </a:rPr>
              <a:t>TestCases/MCP실습/홍길동 폴더에 '로그인 성공_자동' 테스트케이스를 만들어줘. 모듈은 Modules/MCP실습에서만 찾고, 만들기 전에 스텝 계획을 표로 보여줘.</a:t>
            </a:r>
            <a:endParaRPr lang="en-US" sz="1200" dirty="0"/>
          </a:p>
        </p:txBody>
      </p:sp>
      <p:sp>
        <p:nvSpPr>
          <p:cNvPr id="13" name="text_692"/>
          <p:cNvSpPr txBox="1"/>
          <p:nvPr/>
        </p:nvSpPr>
        <p:spPr>
          <a:xfrm>
            <a:off x="9464040" y="1371600"/>
            <a:ext cx="2176272" cy="1481328"/>
          </a:xfrm>
          <a:prstGeom prst="rect">
            <a:avLst/>
          </a:prstGeom>
          <a:noFill/>
          <a:ln/>
        </p:spPr>
        <p:txBody>
          <a:bodyPr wrap="square" lIns="0" tIns="0" rIns="0" bIns="0" rtlCol="0" anchor="ctr"/>
          <a:lstStyle/>
          <a:p>
            <a:pPr indent="0" marL="0">
              <a:buNone/>
            </a:pPr>
            <a:r>
              <a:rPr lang="en-US" sz="1200" dirty="0">
                <a:solidFill>
                  <a:schemeClr val="accent6"/>
                </a:solidFill>
              </a:rPr>
              <a:t>위치와 모듈 범위가 없으면 AI가 아무 폴더에나 만들거나 엉뚱한 모듈을 고른다.</a:t>
            </a:r>
            <a:endParaRPr lang="en-US" sz="1200" dirty="0"/>
          </a:p>
        </p:txBody>
      </p:sp>
      <p:sp>
        <p:nvSpPr>
          <p:cNvPr id="14" name="card_693"/>
          <p:cNvSpPr/>
          <p:nvPr/>
        </p:nvSpPr>
        <p:spPr>
          <a:xfrm>
            <a:off x="548640" y="3008376"/>
            <a:ext cx="3063240" cy="1481328"/>
          </a:xfrm>
          <a:prstGeom prst="roundRect">
            <a:avLst>
              <a:gd name="adj" fmla="val 6173"/>
            </a:avLst>
          </a:prstGeom>
          <a:solidFill>
            <a:schemeClr val="bg2"/>
          </a:solidFill>
          <a:ln/>
        </p:spPr>
      </p:sp>
      <p:pic>
        <p:nvPicPr>
          <p:cNvPr id="15" name="icon_694" descr="preencoded.png">    </p:cNvPr>
          <p:cNvPicPr>
            <a:picLocks noChangeAspect="1"/>
          </p:cNvPicPr>
          <p:nvPr/>
        </p:nvPicPr>
        <p:blipFill>
          <a:blip r:embed="rId3"/>
          <a:stretch>
            <a:fillRect/>
          </a:stretch>
        </p:blipFill>
        <p:spPr>
          <a:xfrm>
            <a:off x="731520" y="3191256"/>
            <a:ext cx="310896" cy="310896"/>
          </a:xfrm>
          <a:prstGeom prst="rect">
            <a:avLst/>
          </a:prstGeom>
        </p:spPr>
      </p:pic>
      <p:sp>
        <p:nvSpPr>
          <p:cNvPr id="16" name="text_695"/>
          <p:cNvSpPr txBox="1"/>
          <p:nvPr/>
        </p:nvSpPr>
        <p:spPr>
          <a:xfrm>
            <a:off x="1115568" y="3163824"/>
            <a:ext cx="2286000" cy="365760"/>
          </a:xfrm>
          <a:prstGeom prst="rect">
            <a:avLst/>
          </a:prstGeom>
          <a:noFill/>
          <a:ln/>
        </p:spPr>
        <p:txBody>
          <a:bodyPr wrap="square" lIns="0" tIns="0" rIns="0" bIns="0" rtlCol="0" anchor="ctr"/>
          <a:lstStyle/>
          <a:p>
            <a:pPr indent="0" marL="0">
              <a:buNone/>
            </a:pPr>
            <a:r>
              <a:rPr lang="en-US" sz="1200" dirty="0">
                <a:solidFill>
                  <a:schemeClr val="accent6"/>
                </a:solidFill>
              </a:rPr>
              <a:t>아쉬운 요청</a:t>
            </a:r>
            <a:endParaRPr lang="en-US" sz="1200" dirty="0"/>
          </a:p>
        </p:txBody>
      </p:sp>
      <p:sp>
        <p:nvSpPr>
          <p:cNvPr id="17" name="text_696"/>
          <p:cNvSpPr txBox="1"/>
          <p:nvPr/>
        </p:nvSpPr>
        <p:spPr>
          <a:xfrm>
            <a:off x="731520" y="3602736"/>
            <a:ext cx="2743200" cy="777240"/>
          </a:xfrm>
          <a:prstGeom prst="rect">
            <a:avLst/>
          </a:prstGeom>
          <a:noFill/>
          <a:ln/>
        </p:spPr>
        <p:txBody>
          <a:bodyPr wrap="square" lIns="0" tIns="0" rIns="0" bIns="0" rtlCol="0" anchor="t"/>
          <a:lstStyle/>
          <a:p>
            <a:pPr indent="0" marL="0">
              <a:buNone/>
            </a:pPr>
            <a:r>
              <a:rPr lang="en-US" sz="1500" b="1" dirty="0">
                <a:solidFill>
                  <a:schemeClr val="tx1"/>
                </a:solidFill>
              </a:rPr>
              <a:t>"어제 실패한 거 고쳐줘"</a:t>
            </a:r>
            <a:endParaRPr lang="en-US" sz="1500" dirty="0"/>
          </a:p>
        </p:txBody>
      </p:sp>
      <p:sp>
        <p:nvSpPr>
          <p:cNvPr id="18" name="line_697"/>
          <p:cNvSpPr/>
          <p:nvPr/>
        </p:nvSpPr>
        <p:spPr>
          <a:xfrm>
            <a:off x="3657600" y="3749040"/>
            <a:ext cx="320040" cy="0"/>
          </a:xfrm>
          <a:prstGeom prst="line">
            <a:avLst/>
          </a:prstGeom>
          <a:noFill/>
          <a:ln w="19050">
            <a:solidFill>
              <a:schemeClr val="accent1"/>
            </a:solidFill>
            <a:prstDash val="solid"/>
            <a:tailEnd type="triangle"/>
          </a:ln>
        </p:spPr>
      </p:sp>
      <p:sp>
        <p:nvSpPr>
          <p:cNvPr id="19" name="card_698"/>
          <p:cNvSpPr/>
          <p:nvPr/>
        </p:nvSpPr>
        <p:spPr>
          <a:xfrm>
            <a:off x="4023360" y="3008376"/>
            <a:ext cx="5212080" cy="1481328"/>
          </a:xfrm>
          <a:prstGeom prst="roundRect">
            <a:avLst>
              <a:gd name="adj" fmla="val 6173"/>
            </a:avLst>
          </a:prstGeom>
          <a:solidFill>
            <a:schemeClr val="accent2">
              <a:alpha val="14000"/>
            </a:schemeClr>
          </a:solidFill>
          <a:ln w="9525">
            <a:solidFill>
              <a:schemeClr val="accent2"/>
            </a:solidFill>
            <a:prstDash val="solid"/>
          </a:ln>
        </p:spPr>
      </p:sp>
      <p:pic>
        <p:nvPicPr>
          <p:cNvPr id="20" name="icon_699" descr="preencoded.png">    </p:cNvPr>
          <p:cNvPicPr>
            <a:picLocks noChangeAspect="1"/>
          </p:cNvPicPr>
          <p:nvPr/>
        </p:nvPicPr>
        <p:blipFill>
          <a:blip r:embed="rId4"/>
          <a:stretch>
            <a:fillRect/>
          </a:stretch>
        </p:blipFill>
        <p:spPr>
          <a:xfrm>
            <a:off x="4206240" y="3191256"/>
            <a:ext cx="310896" cy="310896"/>
          </a:xfrm>
          <a:prstGeom prst="rect">
            <a:avLst/>
          </a:prstGeom>
        </p:spPr>
      </p:pic>
      <p:sp>
        <p:nvSpPr>
          <p:cNvPr id="21" name="text_700"/>
          <p:cNvSpPr txBox="1"/>
          <p:nvPr/>
        </p:nvSpPr>
        <p:spPr>
          <a:xfrm>
            <a:off x="4590288" y="3163824"/>
            <a:ext cx="2286000" cy="365760"/>
          </a:xfrm>
          <a:prstGeom prst="rect">
            <a:avLst/>
          </a:prstGeom>
          <a:noFill/>
          <a:ln/>
        </p:spPr>
        <p:txBody>
          <a:bodyPr wrap="square" lIns="0" tIns="0" rIns="0" bIns="0" rtlCol="0" anchor="ctr"/>
          <a:lstStyle/>
          <a:p>
            <a:pPr indent="0" marL="0">
              <a:buNone/>
            </a:pPr>
            <a:r>
              <a:rPr lang="en-US" sz="1200" dirty="0">
                <a:solidFill>
                  <a:schemeClr val="accent6"/>
                </a:solidFill>
              </a:rPr>
              <a:t>고친 요청</a:t>
            </a:r>
            <a:endParaRPr lang="en-US" sz="1200" dirty="0"/>
          </a:p>
        </p:txBody>
      </p:sp>
      <p:sp>
        <p:nvSpPr>
          <p:cNvPr id="22" name="text_701"/>
          <p:cNvSpPr txBox="1"/>
          <p:nvPr/>
        </p:nvSpPr>
        <p:spPr>
          <a:xfrm>
            <a:off x="4206240" y="3557016"/>
            <a:ext cx="4846320" cy="868680"/>
          </a:xfrm>
          <a:prstGeom prst="rect">
            <a:avLst/>
          </a:prstGeom>
          <a:noFill/>
          <a:ln/>
        </p:spPr>
        <p:txBody>
          <a:bodyPr wrap="square" lIns="0" tIns="0" rIns="0" bIns="0" rtlCol="0" anchor="t"/>
          <a:lstStyle/>
          <a:p>
            <a:pPr indent="0" marL="0">
              <a:buNone/>
            </a:pPr>
            <a:r>
              <a:rPr lang="en-US" sz="1200" dirty="0">
                <a:solidFill>
                  <a:schemeClr val="tx1"/>
                </a:solidFill>
              </a:rPr>
              <a:t>Execution/야간 회귀 ExecutionList의 마지막 실행에서 실패한 테스트케이스를 찾아, 실패 스텝과 메시지를 표로 정리해줘. 원인 추정과 확신도도 적어 주고, 수정은 하지 마.</a:t>
            </a:r>
            <a:endParaRPr lang="en-US" sz="1200" dirty="0"/>
          </a:p>
        </p:txBody>
      </p:sp>
      <p:sp>
        <p:nvSpPr>
          <p:cNvPr id="23" name="text_702"/>
          <p:cNvSpPr txBox="1"/>
          <p:nvPr/>
        </p:nvSpPr>
        <p:spPr>
          <a:xfrm>
            <a:off x="9464040" y="3008376"/>
            <a:ext cx="2176272" cy="1481328"/>
          </a:xfrm>
          <a:prstGeom prst="rect">
            <a:avLst/>
          </a:prstGeom>
          <a:noFill/>
          <a:ln/>
        </p:spPr>
        <p:txBody>
          <a:bodyPr wrap="square" lIns="0" tIns="0" rIns="0" bIns="0" rtlCol="0" anchor="ctr"/>
          <a:lstStyle/>
          <a:p>
            <a:pPr indent="0" marL="0">
              <a:buNone/>
            </a:pPr>
            <a:r>
              <a:rPr lang="en-US" sz="1200" dirty="0">
                <a:solidFill>
                  <a:schemeClr val="accent6"/>
                </a:solidFill>
              </a:rPr>
              <a:t>분석과 수정을 한 번에 시키면 실제 결함을 테스트 수정으로 덮어 버릴 수 있다.</a:t>
            </a:r>
            <a:endParaRPr lang="en-US" sz="1200" dirty="0"/>
          </a:p>
        </p:txBody>
      </p:sp>
      <p:sp>
        <p:nvSpPr>
          <p:cNvPr id="24" name="card_703"/>
          <p:cNvSpPr/>
          <p:nvPr/>
        </p:nvSpPr>
        <p:spPr>
          <a:xfrm>
            <a:off x="548640" y="4645152"/>
            <a:ext cx="3063240" cy="1481328"/>
          </a:xfrm>
          <a:prstGeom prst="roundRect">
            <a:avLst>
              <a:gd name="adj" fmla="val 6173"/>
            </a:avLst>
          </a:prstGeom>
          <a:solidFill>
            <a:schemeClr val="bg2"/>
          </a:solidFill>
          <a:ln/>
        </p:spPr>
      </p:sp>
      <p:pic>
        <p:nvPicPr>
          <p:cNvPr id="25" name="icon_704" descr="preencoded.png">    </p:cNvPr>
          <p:cNvPicPr>
            <a:picLocks noChangeAspect="1"/>
          </p:cNvPicPr>
          <p:nvPr/>
        </p:nvPicPr>
        <p:blipFill>
          <a:blip r:embed="rId5"/>
          <a:stretch>
            <a:fillRect/>
          </a:stretch>
        </p:blipFill>
        <p:spPr>
          <a:xfrm>
            <a:off x="731520" y="4828032"/>
            <a:ext cx="310896" cy="310896"/>
          </a:xfrm>
          <a:prstGeom prst="rect">
            <a:avLst/>
          </a:prstGeom>
        </p:spPr>
      </p:pic>
      <p:sp>
        <p:nvSpPr>
          <p:cNvPr id="26" name="text_705"/>
          <p:cNvSpPr txBox="1"/>
          <p:nvPr/>
        </p:nvSpPr>
        <p:spPr>
          <a:xfrm>
            <a:off x="1115568" y="4800600"/>
            <a:ext cx="2286000" cy="365760"/>
          </a:xfrm>
          <a:prstGeom prst="rect">
            <a:avLst/>
          </a:prstGeom>
          <a:noFill/>
          <a:ln/>
        </p:spPr>
        <p:txBody>
          <a:bodyPr wrap="square" lIns="0" tIns="0" rIns="0" bIns="0" rtlCol="0" anchor="ctr"/>
          <a:lstStyle/>
          <a:p>
            <a:pPr indent="0" marL="0">
              <a:buNone/>
            </a:pPr>
            <a:r>
              <a:rPr lang="en-US" sz="1200" dirty="0">
                <a:solidFill>
                  <a:schemeClr val="accent6"/>
                </a:solidFill>
              </a:rPr>
              <a:t>아쉬운 요청</a:t>
            </a:r>
            <a:endParaRPr lang="en-US" sz="1200" dirty="0"/>
          </a:p>
        </p:txBody>
      </p:sp>
      <p:sp>
        <p:nvSpPr>
          <p:cNvPr id="27" name="text_706"/>
          <p:cNvSpPr txBox="1"/>
          <p:nvPr/>
        </p:nvSpPr>
        <p:spPr>
          <a:xfrm>
            <a:off x="731520" y="5239512"/>
            <a:ext cx="2743200" cy="777240"/>
          </a:xfrm>
          <a:prstGeom prst="rect">
            <a:avLst/>
          </a:prstGeom>
          <a:noFill/>
          <a:ln/>
        </p:spPr>
        <p:txBody>
          <a:bodyPr wrap="square" lIns="0" tIns="0" rIns="0" bIns="0" rtlCol="0" anchor="t"/>
          <a:lstStyle/>
          <a:p>
            <a:pPr indent="0" marL="0">
              <a:buNone/>
            </a:pPr>
            <a:r>
              <a:rPr lang="en-US" sz="1500" b="1" dirty="0">
                <a:solidFill>
                  <a:schemeClr val="tx1"/>
                </a:solidFill>
              </a:rPr>
              <a:t>"필요 없는 테스트케이스 정리해줘"</a:t>
            </a:r>
            <a:endParaRPr lang="en-US" sz="1500" dirty="0"/>
          </a:p>
        </p:txBody>
      </p:sp>
      <p:sp>
        <p:nvSpPr>
          <p:cNvPr id="28" name="line_707"/>
          <p:cNvSpPr/>
          <p:nvPr/>
        </p:nvSpPr>
        <p:spPr>
          <a:xfrm>
            <a:off x="3657600" y="5385816"/>
            <a:ext cx="320040" cy="0"/>
          </a:xfrm>
          <a:prstGeom prst="line">
            <a:avLst/>
          </a:prstGeom>
          <a:noFill/>
          <a:ln w="19050">
            <a:solidFill>
              <a:schemeClr val="accent1"/>
            </a:solidFill>
            <a:prstDash val="solid"/>
            <a:tailEnd type="triangle"/>
          </a:ln>
        </p:spPr>
      </p:sp>
      <p:sp>
        <p:nvSpPr>
          <p:cNvPr id="29" name="card_708"/>
          <p:cNvSpPr/>
          <p:nvPr/>
        </p:nvSpPr>
        <p:spPr>
          <a:xfrm>
            <a:off x="4023360" y="4645152"/>
            <a:ext cx="5212080" cy="1481328"/>
          </a:xfrm>
          <a:prstGeom prst="roundRect">
            <a:avLst>
              <a:gd name="adj" fmla="val 6173"/>
            </a:avLst>
          </a:prstGeom>
          <a:solidFill>
            <a:schemeClr val="accent2">
              <a:alpha val="14000"/>
            </a:schemeClr>
          </a:solidFill>
          <a:ln w="9525">
            <a:solidFill>
              <a:schemeClr val="accent2"/>
            </a:solidFill>
            <a:prstDash val="solid"/>
          </a:ln>
        </p:spPr>
      </p:sp>
      <p:pic>
        <p:nvPicPr>
          <p:cNvPr id="30" name="icon_709" descr="preencoded.png">    </p:cNvPr>
          <p:cNvPicPr>
            <a:picLocks noChangeAspect="1"/>
          </p:cNvPicPr>
          <p:nvPr/>
        </p:nvPicPr>
        <p:blipFill>
          <a:blip r:embed="rId6"/>
          <a:stretch>
            <a:fillRect/>
          </a:stretch>
        </p:blipFill>
        <p:spPr>
          <a:xfrm>
            <a:off x="4206240" y="4828032"/>
            <a:ext cx="310896" cy="310896"/>
          </a:xfrm>
          <a:prstGeom prst="rect">
            <a:avLst/>
          </a:prstGeom>
        </p:spPr>
      </p:pic>
      <p:sp>
        <p:nvSpPr>
          <p:cNvPr id="31" name="text_710"/>
          <p:cNvSpPr txBox="1"/>
          <p:nvPr/>
        </p:nvSpPr>
        <p:spPr>
          <a:xfrm>
            <a:off x="4590288" y="4800600"/>
            <a:ext cx="2286000" cy="365760"/>
          </a:xfrm>
          <a:prstGeom prst="rect">
            <a:avLst/>
          </a:prstGeom>
          <a:noFill/>
          <a:ln/>
        </p:spPr>
        <p:txBody>
          <a:bodyPr wrap="square" lIns="0" tIns="0" rIns="0" bIns="0" rtlCol="0" anchor="ctr"/>
          <a:lstStyle/>
          <a:p>
            <a:pPr indent="0" marL="0">
              <a:buNone/>
            </a:pPr>
            <a:r>
              <a:rPr lang="en-US" sz="1200" dirty="0">
                <a:solidFill>
                  <a:schemeClr val="accent6"/>
                </a:solidFill>
              </a:rPr>
              <a:t>고친 요청</a:t>
            </a:r>
            <a:endParaRPr lang="en-US" sz="1200" dirty="0"/>
          </a:p>
        </p:txBody>
      </p:sp>
      <p:sp>
        <p:nvSpPr>
          <p:cNvPr id="32" name="text_711"/>
          <p:cNvSpPr txBox="1"/>
          <p:nvPr/>
        </p:nvSpPr>
        <p:spPr>
          <a:xfrm>
            <a:off x="4206240" y="5193792"/>
            <a:ext cx="4846320" cy="868680"/>
          </a:xfrm>
          <a:prstGeom prst="rect">
            <a:avLst/>
          </a:prstGeom>
          <a:noFill/>
          <a:ln/>
        </p:spPr>
        <p:txBody>
          <a:bodyPr wrap="square" lIns="0" tIns="0" rIns="0" bIns="0" rtlCol="0" anchor="t"/>
          <a:lstStyle/>
          <a:p>
            <a:pPr indent="0" marL="0">
              <a:buNone/>
            </a:pPr>
            <a:r>
              <a:rPr lang="en-US" sz="1200" dirty="0">
                <a:solidFill>
                  <a:schemeClr val="tx1"/>
                </a:solidFill>
              </a:rPr>
              <a:t>TestCases/임시 폴더에서 이름이 '복사본'으로 끝나는 테스트케이스 목록만 보여줘. 삭제는 목록을 확인한 다음 따로 요청할게.</a:t>
            </a:r>
            <a:endParaRPr lang="en-US" sz="1200" dirty="0"/>
          </a:p>
        </p:txBody>
      </p:sp>
      <p:sp>
        <p:nvSpPr>
          <p:cNvPr id="33" name="text_712"/>
          <p:cNvSpPr txBox="1"/>
          <p:nvPr/>
        </p:nvSpPr>
        <p:spPr>
          <a:xfrm>
            <a:off x="9464040" y="4645152"/>
            <a:ext cx="2176272" cy="1481328"/>
          </a:xfrm>
          <a:prstGeom prst="rect">
            <a:avLst/>
          </a:prstGeom>
          <a:noFill/>
          <a:ln/>
        </p:spPr>
        <p:txBody>
          <a:bodyPr wrap="square" lIns="0" tIns="0" rIns="0" bIns="0" rtlCol="0" anchor="ctr"/>
          <a:lstStyle/>
          <a:p>
            <a:pPr indent="0" marL="0">
              <a:buNone/>
            </a:pPr>
            <a:r>
              <a:rPr lang="en-US" sz="1200" dirty="0">
                <a:solidFill>
                  <a:schemeClr val="accent6"/>
                </a:solidFill>
              </a:rPr>
              <a:t>삭제는 되돌릴 수 없다. 목록 확인과 삭제를 나눠서 요청한다.</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결과를 바꾸는 습관 일곱 가지</a:t>
            </a:r>
            <a:endParaRPr lang="en-US" sz="3200" dirty="0"/>
          </a:p>
        </p:txBody>
      </p:sp>
      <p:sp>
        <p:nvSpPr>
          <p:cNvPr id="4" name="badge_713"/>
          <p:cNvSpPr txBox="1"/>
          <p:nvPr/>
        </p:nvSpPr>
        <p:spPr>
          <a:xfrm>
            <a:off x="548640" y="144475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_714"/>
          <p:cNvSpPr txBox="1"/>
          <p:nvPr/>
        </p:nvSpPr>
        <p:spPr>
          <a:xfrm>
            <a:off x="1234440" y="1371600"/>
            <a:ext cx="4709160" cy="411480"/>
          </a:xfrm>
          <a:prstGeom prst="rect">
            <a:avLst/>
          </a:prstGeom>
          <a:noFill/>
          <a:ln/>
        </p:spPr>
        <p:txBody>
          <a:bodyPr wrap="square" lIns="0" tIns="0" rIns="0" bIns="0" rtlCol="0" anchor="ctr"/>
          <a:lstStyle/>
          <a:p>
            <a:pPr indent="0" marL="0">
              <a:buNone/>
            </a:pPr>
            <a:r>
              <a:rPr lang="en-US" sz="1700" b="1" dirty="0">
                <a:solidFill>
                  <a:schemeClr val="tx1"/>
                </a:solidFill>
              </a:rPr>
              <a:t>경로는 보이는 그대로</a:t>
            </a:r>
            <a:endParaRPr lang="en-US" sz="1700" dirty="0"/>
          </a:p>
        </p:txBody>
      </p:sp>
      <p:sp>
        <p:nvSpPr>
          <p:cNvPr id="6" name="text_715"/>
          <p:cNvSpPr txBox="1"/>
          <p:nvPr/>
        </p:nvSpPr>
        <p:spPr>
          <a:xfrm>
            <a:off x="1234440" y="1801368"/>
            <a:ext cx="4709160" cy="548640"/>
          </a:xfrm>
          <a:prstGeom prst="rect">
            <a:avLst/>
          </a:prstGeom>
          <a:noFill/>
          <a:ln/>
        </p:spPr>
        <p:txBody>
          <a:bodyPr wrap="square" lIns="0" tIns="0" rIns="0" bIns="0" rtlCol="0" anchor="t"/>
          <a:lstStyle/>
          <a:p>
            <a:pPr indent="0" marL="0">
              <a:buNone/>
            </a:pPr>
            <a:r>
              <a:rPr lang="en-US" sz="1350" dirty="0">
                <a:solidFill>
                  <a:schemeClr val="accent6"/>
                </a:solidFill>
              </a:rPr>
              <a:t>TestCases/MCP실습/홍길동처럼 Commander 트리에 보이는 이름 그대로 적는다.</a:t>
            </a:r>
            <a:endParaRPr lang="en-US" sz="1350" dirty="0"/>
          </a:p>
        </p:txBody>
      </p:sp>
      <p:sp>
        <p:nvSpPr>
          <p:cNvPr id="7" name="badge_716"/>
          <p:cNvSpPr txBox="1"/>
          <p:nvPr/>
        </p:nvSpPr>
        <p:spPr>
          <a:xfrm>
            <a:off x="548640" y="254203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_717"/>
          <p:cNvSpPr txBox="1"/>
          <p:nvPr/>
        </p:nvSpPr>
        <p:spPr>
          <a:xfrm>
            <a:off x="1234440" y="2468880"/>
            <a:ext cx="4709160" cy="411480"/>
          </a:xfrm>
          <a:prstGeom prst="rect">
            <a:avLst/>
          </a:prstGeom>
          <a:noFill/>
          <a:ln/>
        </p:spPr>
        <p:txBody>
          <a:bodyPr wrap="square" lIns="0" tIns="0" rIns="0" bIns="0" rtlCol="0" anchor="ctr"/>
          <a:lstStyle/>
          <a:p>
            <a:pPr indent="0" marL="0">
              <a:buNone/>
            </a:pPr>
            <a:r>
              <a:rPr lang="en-US" sz="1700" b="1" dirty="0">
                <a:solidFill>
                  <a:schemeClr val="tx1"/>
                </a:solidFill>
              </a:rPr>
              <a:t>모듈 찾을 곳을 정해 준다</a:t>
            </a:r>
            <a:endParaRPr lang="en-US" sz="1700" dirty="0"/>
          </a:p>
        </p:txBody>
      </p:sp>
      <p:sp>
        <p:nvSpPr>
          <p:cNvPr id="9" name="text_718"/>
          <p:cNvSpPr txBox="1"/>
          <p:nvPr/>
        </p:nvSpPr>
        <p:spPr>
          <a:xfrm>
            <a:off x="1234440" y="2898648"/>
            <a:ext cx="4709160" cy="548640"/>
          </a:xfrm>
          <a:prstGeom prst="rect">
            <a:avLst/>
          </a:prstGeom>
          <a:noFill/>
          <a:ln/>
        </p:spPr>
        <p:txBody>
          <a:bodyPr wrap="square" lIns="0" tIns="0" rIns="0" bIns="0" rtlCol="0" anchor="t"/>
          <a:lstStyle/>
          <a:p>
            <a:pPr indent="0" marL="0">
              <a:buNone/>
            </a:pPr>
            <a:r>
              <a:rPr lang="en-US" sz="1350" dirty="0">
                <a:solidFill>
                  <a:schemeClr val="accent6"/>
                </a:solidFill>
              </a:rPr>
              <a:t>"Modules/MCP실습에서만"처럼 범위를 주면 엉뚱한 모듈을 쓰지 않는다.</a:t>
            </a:r>
            <a:endParaRPr lang="en-US" sz="1350" dirty="0"/>
          </a:p>
        </p:txBody>
      </p:sp>
      <p:sp>
        <p:nvSpPr>
          <p:cNvPr id="10" name="badge_719"/>
          <p:cNvSpPr txBox="1"/>
          <p:nvPr/>
        </p:nvSpPr>
        <p:spPr>
          <a:xfrm>
            <a:off x="548640" y="363931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1" name="text_720"/>
          <p:cNvSpPr txBox="1"/>
          <p:nvPr/>
        </p:nvSpPr>
        <p:spPr>
          <a:xfrm>
            <a:off x="1234440" y="3566160"/>
            <a:ext cx="4709160" cy="411480"/>
          </a:xfrm>
          <a:prstGeom prst="rect">
            <a:avLst/>
          </a:prstGeom>
          <a:noFill/>
          <a:ln/>
        </p:spPr>
        <p:txBody>
          <a:bodyPr wrap="square" lIns="0" tIns="0" rIns="0" bIns="0" rtlCol="0" anchor="ctr"/>
          <a:lstStyle/>
          <a:p>
            <a:pPr indent="0" marL="0">
              <a:buNone/>
            </a:pPr>
            <a:r>
              <a:rPr lang="en-US" sz="1700" b="1" dirty="0">
                <a:solidFill>
                  <a:schemeClr val="tx1"/>
                </a:solidFill>
              </a:rPr>
              <a:t>바꾸는 일은 계획부터</a:t>
            </a:r>
            <a:endParaRPr lang="en-US" sz="1700" dirty="0"/>
          </a:p>
        </p:txBody>
      </p:sp>
      <p:sp>
        <p:nvSpPr>
          <p:cNvPr id="12" name="text_721"/>
          <p:cNvSpPr txBox="1"/>
          <p:nvPr/>
        </p:nvSpPr>
        <p:spPr>
          <a:xfrm>
            <a:off x="1234440" y="3995928"/>
            <a:ext cx="4709160" cy="548640"/>
          </a:xfrm>
          <a:prstGeom prst="rect">
            <a:avLst/>
          </a:prstGeom>
          <a:noFill/>
          <a:ln/>
        </p:spPr>
        <p:txBody>
          <a:bodyPr wrap="square" lIns="0" tIns="0" rIns="0" bIns="0" rtlCol="0" anchor="t"/>
          <a:lstStyle/>
          <a:p>
            <a:pPr indent="0" marL="0">
              <a:buNone/>
            </a:pPr>
            <a:r>
              <a:rPr lang="en-US" sz="1350" dirty="0">
                <a:solidFill>
                  <a:schemeClr val="accent6"/>
                </a:solidFill>
              </a:rPr>
              <a:t>"아직 실행하지 말고 계획만 보여줘"를 붙인다.</a:t>
            </a:r>
            <a:endParaRPr lang="en-US" sz="1350" dirty="0"/>
          </a:p>
        </p:txBody>
      </p:sp>
      <p:sp>
        <p:nvSpPr>
          <p:cNvPr id="13" name="badge_722"/>
          <p:cNvSpPr txBox="1"/>
          <p:nvPr/>
        </p:nvSpPr>
        <p:spPr>
          <a:xfrm>
            <a:off x="548640" y="473659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_723"/>
          <p:cNvSpPr txBox="1"/>
          <p:nvPr/>
        </p:nvSpPr>
        <p:spPr>
          <a:xfrm>
            <a:off x="1234440" y="4663440"/>
            <a:ext cx="4709160" cy="411480"/>
          </a:xfrm>
          <a:prstGeom prst="rect">
            <a:avLst/>
          </a:prstGeom>
          <a:noFill/>
          <a:ln/>
        </p:spPr>
        <p:txBody>
          <a:bodyPr wrap="square" lIns="0" tIns="0" rIns="0" bIns="0" rtlCol="0" anchor="ctr"/>
          <a:lstStyle/>
          <a:p>
            <a:pPr indent="0" marL="0">
              <a:buNone/>
            </a:pPr>
            <a:r>
              <a:rPr lang="en-US" sz="1700" b="1" dirty="0">
                <a:solidFill>
                  <a:schemeClr val="tx1"/>
                </a:solidFill>
              </a:rPr>
              <a:t>한 번에 한 가지</a:t>
            </a:r>
            <a:endParaRPr lang="en-US" sz="1700" dirty="0"/>
          </a:p>
        </p:txBody>
      </p:sp>
      <p:sp>
        <p:nvSpPr>
          <p:cNvPr id="15" name="text_724"/>
          <p:cNvSpPr txBox="1"/>
          <p:nvPr/>
        </p:nvSpPr>
        <p:spPr>
          <a:xfrm>
            <a:off x="1234440" y="5093208"/>
            <a:ext cx="4709160" cy="548640"/>
          </a:xfrm>
          <a:prstGeom prst="rect">
            <a:avLst/>
          </a:prstGeom>
          <a:noFill/>
          <a:ln/>
        </p:spPr>
        <p:txBody>
          <a:bodyPr wrap="square" lIns="0" tIns="0" rIns="0" bIns="0" rtlCol="0" anchor="t"/>
          <a:lstStyle/>
          <a:p>
            <a:pPr indent="0" marL="0">
              <a:buNone/>
            </a:pPr>
            <a:r>
              <a:rPr lang="en-US" sz="1350" dirty="0">
                <a:solidFill>
                  <a:schemeClr val="accent6"/>
                </a:solidFill>
              </a:rPr>
              <a:t>만들기, 실행, 분석을 한 문장에 몰아넣지 않는다.</a:t>
            </a:r>
            <a:endParaRPr lang="en-US" sz="1350" dirty="0"/>
          </a:p>
        </p:txBody>
      </p:sp>
      <p:sp>
        <p:nvSpPr>
          <p:cNvPr id="16" name="badge_725"/>
          <p:cNvSpPr txBox="1"/>
          <p:nvPr/>
        </p:nvSpPr>
        <p:spPr>
          <a:xfrm>
            <a:off x="6199632" y="144475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_726"/>
          <p:cNvSpPr txBox="1"/>
          <p:nvPr/>
        </p:nvSpPr>
        <p:spPr>
          <a:xfrm>
            <a:off x="6885432" y="1371600"/>
            <a:ext cx="4709160" cy="411480"/>
          </a:xfrm>
          <a:prstGeom prst="rect">
            <a:avLst/>
          </a:prstGeom>
          <a:noFill/>
          <a:ln/>
        </p:spPr>
        <p:txBody>
          <a:bodyPr wrap="square" lIns="0" tIns="0" rIns="0" bIns="0" rtlCol="0" anchor="ctr"/>
          <a:lstStyle/>
          <a:p>
            <a:pPr indent="0" marL="0">
              <a:buNone/>
            </a:pPr>
            <a:r>
              <a:rPr lang="en-US" sz="1700" b="1" dirty="0">
                <a:solidFill>
                  <a:schemeClr val="tx1"/>
                </a:solidFill>
              </a:rPr>
              <a:t>결과 모양을 정한다</a:t>
            </a:r>
            <a:endParaRPr lang="en-US" sz="1700" dirty="0"/>
          </a:p>
        </p:txBody>
      </p:sp>
      <p:sp>
        <p:nvSpPr>
          <p:cNvPr id="18" name="text_727"/>
          <p:cNvSpPr txBox="1"/>
          <p:nvPr/>
        </p:nvSpPr>
        <p:spPr>
          <a:xfrm>
            <a:off x="6885432" y="1801368"/>
            <a:ext cx="4709160" cy="548640"/>
          </a:xfrm>
          <a:prstGeom prst="rect">
            <a:avLst/>
          </a:prstGeom>
          <a:noFill/>
          <a:ln/>
        </p:spPr>
        <p:txBody>
          <a:bodyPr wrap="square" lIns="0" tIns="0" rIns="0" bIns="0" rtlCol="0" anchor="t"/>
          <a:lstStyle/>
          <a:p>
            <a:pPr indent="0" marL="0">
              <a:buNone/>
            </a:pPr>
            <a:r>
              <a:rPr lang="en-US" sz="1350" dirty="0">
                <a:solidFill>
                  <a:schemeClr val="accent6"/>
                </a:solidFill>
              </a:rPr>
              <a:t>표, 스텝 번호, 통과/실패처럼 받고 싶은 형식을 적는다.</a:t>
            </a:r>
            <a:endParaRPr lang="en-US" sz="1350" dirty="0"/>
          </a:p>
        </p:txBody>
      </p:sp>
      <p:sp>
        <p:nvSpPr>
          <p:cNvPr id="19" name="badge_728"/>
          <p:cNvSpPr txBox="1"/>
          <p:nvPr/>
        </p:nvSpPr>
        <p:spPr>
          <a:xfrm>
            <a:off x="6199632" y="254203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text_729"/>
          <p:cNvSpPr txBox="1"/>
          <p:nvPr/>
        </p:nvSpPr>
        <p:spPr>
          <a:xfrm>
            <a:off x="6885432" y="2468880"/>
            <a:ext cx="4709160" cy="411480"/>
          </a:xfrm>
          <a:prstGeom prst="rect">
            <a:avLst/>
          </a:prstGeom>
          <a:noFill/>
          <a:ln/>
        </p:spPr>
        <p:txBody>
          <a:bodyPr wrap="square" lIns="0" tIns="0" rIns="0" bIns="0" rtlCol="0" anchor="ctr"/>
          <a:lstStyle/>
          <a:p>
            <a:pPr indent="0" marL="0">
              <a:buNone/>
            </a:pPr>
            <a:r>
              <a:rPr lang="en-US" sz="1700" b="1" dirty="0">
                <a:solidFill>
                  <a:schemeClr val="tx1"/>
                </a:solidFill>
              </a:rPr>
              <a:t>삭제·체크인 전에는 목록</a:t>
            </a:r>
            <a:endParaRPr lang="en-US" sz="1700" dirty="0"/>
          </a:p>
        </p:txBody>
      </p:sp>
      <p:sp>
        <p:nvSpPr>
          <p:cNvPr id="21" name="text_730"/>
          <p:cNvSpPr txBox="1"/>
          <p:nvPr/>
        </p:nvSpPr>
        <p:spPr>
          <a:xfrm>
            <a:off x="6885432" y="2898648"/>
            <a:ext cx="4709160" cy="548640"/>
          </a:xfrm>
          <a:prstGeom prst="rect">
            <a:avLst/>
          </a:prstGeom>
          <a:noFill/>
          <a:ln/>
        </p:spPr>
        <p:txBody>
          <a:bodyPr wrap="square" lIns="0" tIns="0" rIns="0" bIns="0" rtlCol="0" anchor="t"/>
          <a:lstStyle/>
          <a:p>
            <a:pPr indent="0" marL="0">
              <a:buNone/>
            </a:pPr>
            <a:r>
              <a:rPr lang="en-US" sz="1350" dirty="0">
                <a:solidFill>
                  <a:schemeClr val="accent6"/>
                </a:solidFill>
              </a:rPr>
              <a:t>대상 목록을 먼저 보고 나서 따로 승인한다.</a:t>
            </a:r>
            <a:endParaRPr lang="en-US" sz="1350" dirty="0"/>
          </a:p>
        </p:txBody>
      </p:sp>
      <p:sp>
        <p:nvSpPr>
          <p:cNvPr id="22" name="badge_731"/>
          <p:cNvSpPr txBox="1"/>
          <p:nvPr/>
        </p:nvSpPr>
        <p:spPr>
          <a:xfrm>
            <a:off x="6199632" y="363931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text_732"/>
          <p:cNvSpPr txBox="1"/>
          <p:nvPr/>
        </p:nvSpPr>
        <p:spPr>
          <a:xfrm>
            <a:off x="6885432" y="3566160"/>
            <a:ext cx="4709160" cy="411480"/>
          </a:xfrm>
          <a:prstGeom prst="rect">
            <a:avLst/>
          </a:prstGeom>
          <a:noFill/>
          <a:ln/>
        </p:spPr>
        <p:txBody>
          <a:bodyPr wrap="square" lIns="0" tIns="0" rIns="0" bIns="0" rtlCol="0" anchor="ctr"/>
          <a:lstStyle/>
          <a:p>
            <a:pPr indent="0" marL="0">
              <a:buNone/>
            </a:pPr>
            <a:r>
              <a:rPr lang="en-US" sz="1700" b="1" dirty="0">
                <a:solidFill>
                  <a:schemeClr val="tx1"/>
                </a:solidFill>
              </a:rPr>
              <a:t>분석과 수정은 따로</a:t>
            </a:r>
            <a:endParaRPr lang="en-US" sz="1700" dirty="0"/>
          </a:p>
        </p:txBody>
      </p:sp>
      <p:sp>
        <p:nvSpPr>
          <p:cNvPr id="24" name="text_733"/>
          <p:cNvSpPr txBox="1"/>
          <p:nvPr/>
        </p:nvSpPr>
        <p:spPr>
          <a:xfrm>
            <a:off x="6885432" y="3995928"/>
            <a:ext cx="4709160" cy="548640"/>
          </a:xfrm>
          <a:prstGeom prst="rect">
            <a:avLst/>
          </a:prstGeom>
          <a:noFill/>
          <a:ln/>
        </p:spPr>
        <p:txBody>
          <a:bodyPr wrap="square" lIns="0" tIns="0" rIns="0" bIns="0" rtlCol="0" anchor="t"/>
          <a:lstStyle/>
          <a:p>
            <a:pPr indent="0" marL="0">
              <a:buNone/>
            </a:pPr>
            <a:r>
              <a:rPr lang="en-US" sz="1350" dirty="0">
                <a:solidFill>
                  <a:schemeClr val="accent6"/>
                </a:solidFill>
              </a:rPr>
              <a:t>"원인만 설명해줘" → 확인 → "이렇게 고쳐줘" 순서로 간다.</a:t>
            </a:r>
            <a:endParaRPr lang="en-US" sz="1350" dirty="0"/>
          </a:p>
        </p:txBody>
      </p:sp>
      <p:sp>
        <p:nvSpPr>
          <p:cNvPr id="25" name="card_734"/>
          <p:cNvSpPr/>
          <p:nvPr/>
        </p:nvSpPr>
        <p:spPr>
          <a:xfrm>
            <a:off x="6199632" y="4709160"/>
            <a:ext cx="5440680" cy="1280160"/>
          </a:xfrm>
          <a:prstGeom prst="roundRect">
            <a:avLst>
              <a:gd name="adj" fmla="val 7143"/>
            </a:avLst>
          </a:prstGeom>
          <a:solidFill>
            <a:schemeClr val="accent2">
              <a:alpha val="16000"/>
            </a:schemeClr>
          </a:solidFill>
          <a:ln/>
        </p:spPr>
      </p:sp>
      <p:sp>
        <p:nvSpPr>
          <p:cNvPr id="26" name="text_735"/>
          <p:cNvSpPr txBox="1"/>
          <p:nvPr/>
        </p:nvSpPr>
        <p:spPr>
          <a:xfrm>
            <a:off x="6428232" y="4846320"/>
            <a:ext cx="5029200" cy="1051560"/>
          </a:xfrm>
          <a:prstGeom prst="rect">
            <a:avLst/>
          </a:prstGeom>
          <a:noFill/>
          <a:ln/>
        </p:spPr>
        <p:txBody>
          <a:bodyPr wrap="square" lIns="0" tIns="0" rIns="0" bIns="0" rtlCol="0" anchor="t"/>
          <a:lstStyle/>
          <a:p>
            <a:pPr indent="0" marL="0">
              <a:buNone/>
            </a:pPr>
            <a:r>
              <a:rPr lang="en-US" sz="1350" b="1" dirty="0">
                <a:solidFill>
                  <a:schemeClr val="tx2"/>
                </a:solidFill>
              </a:rPr>
              <a:t>T00 공통 머리말</a:t>
            </a:r>
            <a:endParaRPr lang="en-US" sz="1350" dirty="0"/>
          </a:p>
          <a:p>
            <a:pPr indent="0" marL="0">
              <a:buNone/>
            </a:pPr>
            <a:r>
              <a:rPr lang="en-US" sz="1350" dirty="0">
                <a:solidFill>
                  <a:schemeClr val="tx1"/>
                </a:solidFill>
              </a:rPr>
              <a:t>위 습관을 규칙으로 정리한 템플릿. 대화를 시작할 때 한 번 붙여 넣는다.</a:t>
            </a:r>
            <a:endParaRPr lang="en-US" sz="13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3657600" cy="1280160"/>
          </a:xfrm>
          <a:prstGeom prst="rect">
            <a:avLst/>
          </a:prstGeom>
          <a:noFill/>
          <a:ln/>
        </p:spPr>
        <p:txBody>
          <a:bodyPr wrap="square" lIns="0" tIns="0" rIns="0" bIns="0" rtlCol="0" anchor="b"/>
          <a:lstStyle/>
          <a:p>
            <a:pPr algn="l" indent="0" marL="0">
              <a:buNone/>
            </a:pPr>
            <a:r>
              <a:rPr lang="en-US" sz="7200" b="1" dirty="0">
                <a:solidFill>
                  <a:schemeClr val="accent2"/>
                </a:solidFill>
              </a:rPr>
              <a:t>04</a:t>
            </a:r>
            <a:endParaRPr lang="en-US" sz="7200" dirty="0"/>
          </a:p>
        </p:txBody>
      </p:sp>
      <p:sp>
        <p:nvSpPr>
          <p:cNvPr id="3" name="Text 0"/>
          <p:cNvSpPr/>
          <p:nvPr>
            <p:ph idx="101" type="title" hasCustomPrompt="1"/>
          </p:nvPr>
        </p:nvSpPr>
        <p:spPr>
          <a:xfrm>
            <a:off x="731520" y="2971800"/>
            <a:ext cx="10515600" cy="914400"/>
          </a:xfrm>
          <a:prstGeom prst="rect">
            <a:avLst/>
          </a:prstGeom>
          <a:noFill/>
          <a:ln/>
        </p:spPr>
        <p:txBody>
          <a:bodyPr wrap="square" lIns="0" tIns="0" rIns="0" bIns="0" rtlCol="0" anchor="ctr"/>
          <a:lstStyle/>
          <a:p>
            <a:pPr algn="l" indent="0" marL="0">
              <a:buNone/>
            </a:pPr>
            <a:r>
              <a:rPr lang="en-US" sz="3800" b="1" dirty="0">
                <a:solidFill>
                  <a:schemeClr val="bg1"/>
                </a:solidFill>
              </a:rPr>
              <a:t>프롬프트 템플릿</a:t>
            </a:r>
            <a:endParaRPr lang="en-US" sz="3800" dirty="0"/>
          </a:p>
        </p:txBody>
      </p:sp>
      <p:sp>
        <p:nvSpPr>
          <p:cNvPr id="4" name="Text 0"/>
          <p:cNvSpPr/>
          <p:nvPr>
            <p:ph idx="102" type="body" hasCustomPrompt="1"/>
          </p:nvPr>
        </p:nvSpPr>
        <p:spPr>
          <a:xfrm>
            <a:off x="731520" y="3977640"/>
            <a:ext cx="10515600" cy="731520"/>
          </a:xfrm>
          <a:prstGeom prst="rect">
            <a:avLst/>
          </a:prstGeom>
          <a:noFill/>
          <a:ln/>
        </p:spPr>
        <p:txBody>
          <a:bodyPr wrap="square" lIns="0" tIns="0" rIns="0" bIns="0" rtlCol="0" anchor="t"/>
          <a:lstStyle/>
          <a:p>
            <a:pPr algn="l" indent="0" marL="0">
              <a:buNone/>
            </a:pPr>
            <a:r>
              <a:rPr lang="en-US" sz="1800" dirty="0">
                <a:solidFill>
                  <a:schemeClr val="bg2"/>
                </a:solidFill>
              </a:rPr>
              <a:t>현재 제공되는 18종과 쓰는 방법</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현재 제공되는 템플릿 18종</a:t>
            </a:r>
            <a:endParaRPr lang="en-US" sz="3200" dirty="0"/>
          </a:p>
        </p:txBody>
      </p:sp>
      <p:sp>
        <p:nvSpPr>
          <p:cNvPr id="4" name="text_736"/>
          <p:cNvSpPr txBox="1"/>
          <p:nvPr/>
        </p:nvSpPr>
        <p:spPr>
          <a:xfrm>
            <a:off x="548640" y="1298448"/>
            <a:ext cx="11091672" cy="411480"/>
          </a:xfrm>
          <a:prstGeom prst="rect">
            <a:avLst/>
          </a:prstGeom>
          <a:noFill/>
          <a:ln/>
        </p:spPr>
        <p:txBody>
          <a:bodyPr wrap="square" lIns="0" tIns="0" rIns="0" bIns="0" rtlCol="0" anchor="ctr"/>
          <a:lstStyle/>
          <a:p>
            <a:pPr indent="0" marL="0">
              <a:buNone/>
            </a:pPr>
            <a:r>
              <a:rPr lang="en-US" sz="1400" dirty="0">
                <a:solidFill>
                  <a:schemeClr val="accent6"/>
                </a:solidFill>
              </a:rPr>
              <a:t>commander-mcp 스킬팩(1.2.1)의 워크플로 18종에 1:1로 맞춘 사람용 프롬프트 템플릿. 전체 문구는 워크북 5장.</a:t>
            </a:r>
            <a:endParaRPr lang="en-US" sz="1400" dirty="0"/>
          </a:p>
        </p:txBody>
      </p:sp>
      <p:sp>
        <p:nvSpPr>
          <p:cNvPr id="5" name="chip_737"/>
          <p:cNvSpPr txBox="1"/>
          <p:nvPr/>
        </p:nvSpPr>
        <p:spPr>
          <a:xfrm>
            <a:off x="548640" y="1828800"/>
            <a:ext cx="1600200" cy="457200"/>
          </a:xfrm>
          <a:prstGeom prst="roundRect">
            <a:avLst>
              <a:gd name="adj" fmla="val 12000"/>
            </a:avLst>
          </a:prstGeom>
          <a:solidFill>
            <a:schemeClr val="accent2"/>
          </a:solidFill>
          <a:ln/>
        </p:spPr>
        <p:txBody>
          <a:bodyPr wrap="square" lIns="0" tIns="50800" rIns="50800" bIns="0" rtlCol="0" anchor="ctr"/>
          <a:lstStyle/>
          <a:p>
            <a:pPr algn="ctr" indent="0" marL="0">
              <a:buNone/>
            </a:pPr>
            <a:r>
              <a:rPr lang="en-US" sz="1300" b="1" dirty="0">
                <a:solidFill>
                  <a:schemeClr val="tx1"/>
                </a:solidFill>
              </a:rPr>
              <a:t>T00</a:t>
            </a:r>
            <a:endParaRPr lang="en-US" sz="1300" dirty="0"/>
          </a:p>
        </p:txBody>
      </p:sp>
      <p:sp>
        <p:nvSpPr>
          <p:cNvPr id="6" name="text_738"/>
          <p:cNvSpPr txBox="1"/>
          <p:nvPr/>
        </p:nvSpPr>
        <p:spPr>
          <a:xfrm>
            <a:off x="2286000" y="1828800"/>
            <a:ext cx="9144000" cy="457200"/>
          </a:xfrm>
          <a:prstGeom prst="rect">
            <a:avLst/>
          </a:prstGeom>
          <a:noFill/>
          <a:ln/>
        </p:spPr>
        <p:txBody>
          <a:bodyPr wrap="square" lIns="0" tIns="0" rIns="0" bIns="0" rtlCol="0" anchor="ctr"/>
          <a:lstStyle/>
          <a:p>
            <a:pPr indent="0" marL="0">
              <a:buNone/>
            </a:pPr>
            <a:r>
              <a:rPr lang="en-US" sz="1400" b="1" dirty="0">
                <a:solidFill>
                  <a:schemeClr val="tx1"/>
                </a:solidFill>
              </a:rPr>
              <a:t>공통 머리말: 대화를 시작할 때 한 번 붙여 넣는 규칙 6줄</a:t>
            </a:r>
            <a:endParaRPr lang="en-US" sz="1400" dirty="0"/>
          </a:p>
        </p:txBody>
      </p:sp>
      <p:sp>
        <p:nvSpPr>
          <p:cNvPr id="7" name="card_739"/>
          <p:cNvSpPr/>
          <p:nvPr/>
        </p:nvSpPr>
        <p:spPr>
          <a:xfrm>
            <a:off x="548640" y="2487168"/>
            <a:ext cx="3566160" cy="1216152"/>
          </a:xfrm>
          <a:prstGeom prst="roundRect">
            <a:avLst>
              <a:gd name="adj" fmla="val 7519"/>
            </a:avLst>
          </a:prstGeom>
          <a:solidFill>
            <a:schemeClr val="bg2"/>
          </a:solidFill>
          <a:ln/>
        </p:spPr>
      </p:sp>
      <p:sp>
        <p:nvSpPr>
          <p:cNvPr id="8" name="text_740"/>
          <p:cNvSpPr txBox="1"/>
          <p:nvPr/>
        </p:nvSpPr>
        <p:spPr>
          <a:xfrm>
            <a:off x="749808" y="2560320"/>
            <a:ext cx="2286000" cy="347472"/>
          </a:xfrm>
          <a:prstGeom prst="rect">
            <a:avLst/>
          </a:prstGeom>
          <a:noFill/>
          <a:ln/>
        </p:spPr>
        <p:txBody>
          <a:bodyPr wrap="square" lIns="0" tIns="0" rIns="0" bIns="0" rtlCol="0" anchor="ctr"/>
          <a:lstStyle/>
          <a:p>
            <a:pPr indent="0" marL="0">
              <a:buNone/>
            </a:pPr>
            <a:r>
              <a:rPr lang="en-US" sz="1400" b="1" dirty="0">
                <a:solidFill>
                  <a:schemeClr val="tx2"/>
                </a:solidFill>
              </a:rPr>
              <a:t>조회</a:t>
            </a:r>
            <a:endParaRPr lang="en-US" sz="1400" dirty="0"/>
          </a:p>
        </p:txBody>
      </p:sp>
      <p:sp>
        <p:nvSpPr>
          <p:cNvPr id="9" name="chip_741"/>
          <p:cNvSpPr txBox="1"/>
          <p:nvPr/>
        </p:nvSpPr>
        <p:spPr>
          <a:xfrm>
            <a:off x="3456432" y="2596896"/>
            <a:ext cx="457200" cy="274320"/>
          </a:xfrm>
          <a:prstGeom prst="roundRect">
            <a:avLst>
              <a:gd name="adj" fmla="val 20000"/>
            </a:avLst>
          </a:prstGeom>
          <a:solidFill>
            <a:schemeClr val="accent1"/>
          </a:solidFill>
          <a:ln/>
        </p:spPr>
        <p:txBody>
          <a:bodyPr wrap="square" lIns="0" tIns="50800" rIns="50800" bIns="0" rtlCol="0" anchor="ctr"/>
          <a:lstStyle/>
          <a:p>
            <a:pPr algn="ctr" indent="0" marL="0">
              <a:buNone/>
            </a:pPr>
            <a:r>
              <a:rPr lang="en-US" sz="1100" b="1" dirty="0">
                <a:solidFill>
                  <a:schemeClr val="bg1"/>
                </a:solidFill>
              </a:rPr>
              <a:t>2</a:t>
            </a:r>
            <a:endParaRPr lang="en-US" sz="1100" dirty="0"/>
          </a:p>
        </p:txBody>
      </p:sp>
      <p:sp>
        <p:nvSpPr>
          <p:cNvPr id="10" name="text_742"/>
          <p:cNvSpPr txBox="1"/>
          <p:nvPr/>
        </p:nvSpPr>
        <p:spPr>
          <a:xfrm>
            <a:off x="749808" y="2944368"/>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T01   </a:t>
            </a:r>
            <a:pPr indent="0" marL="0">
              <a:buNone/>
            </a:pPr>
            <a:r>
              <a:rPr lang="en-US" sz="1300" dirty="0">
                <a:solidFill>
                  <a:schemeClr val="tx1"/>
                </a:solidFill>
              </a:rPr>
              <a:t>워크스페이스 구조 파악</a:t>
            </a:r>
            <a:endParaRPr lang="en-US" sz="1300" dirty="0"/>
          </a:p>
        </p:txBody>
      </p:sp>
      <p:sp>
        <p:nvSpPr>
          <p:cNvPr id="11" name="text_743"/>
          <p:cNvSpPr txBox="1"/>
          <p:nvPr/>
        </p:nvSpPr>
        <p:spPr>
          <a:xfrm>
            <a:off x="749808" y="3255264"/>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T07   </a:t>
            </a:r>
            <a:pPr indent="0" marL="0">
              <a:buNone/>
            </a:pPr>
            <a:r>
              <a:rPr lang="en-US" sz="1300" dirty="0">
                <a:solidFill>
                  <a:schemeClr val="tx1"/>
                </a:solidFill>
              </a:rPr>
              <a:t>테스트케이스 설명</a:t>
            </a:r>
            <a:endParaRPr lang="en-US" sz="1300" dirty="0"/>
          </a:p>
        </p:txBody>
      </p:sp>
      <p:sp>
        <p:nvSpPr>
          <p:cNvPr id="12" name="card_744"/>
          <p:cNvSpPr/>
          <p:nvPr/>
        </p:nvSpPr>
        <p:spPr>
          <a:xfrm>
            <a:off x="548640" y="3867912"/>
            <a:ext cx="3566160" cy="905256"/>
          </a:xfrm>
          <a:prstGeom prst="roundRect">
            <a:avLst>
              <a:gd name="adj" fmla="val 10101"/>
            </a:avLst>
          </a:prstGeom>
          <a:solidFill>
            <a:schemeClr val="bg2"/>
          </a:solidFill>
          <a:ln/>
        </p:spPr>
      </p:sp>
      <p:sp>
        <p:nvSpPr>
          <p:cNvPr id="13" name="text_745"/>
          <p:cNvSpPr txBox="1"/>
          <p:nvPr/>
        </p:nvSpPr>
        <p:spPr>
          <a:xfrm>
            <a:off x="749808" y="3941064"/>
            <a:ext cx="2286000" cy="347472"/>
          </a:xfrm>
          <a:prstGeom prst="rect">
            <a:avLst/>
          </a:prstGeom>
          <a:noFill/>
          <a:ln/>
        </p:spPr>
        <p:txBody>
          <a:bodyPr wrap="square" lIns="0" tIns="0" rIns="0" bIns="0" rtlCol="0" anchor="ctr"/>
          <a:lstStyle/>
          <a:p>
            <a:pPr indent="0" marL="0">
              <a:buNone/>
            </a:pPr>
            <a:r>
              <a:rPr lang="en-US" sz="1400" b="1" dirty="0">
                <a:solidFill>
                  <a:schemeClr val="tx2"/>
                </a:solidFill>
              </a:rPr>
              <a:t>편집</a:t>
            </a:r>
            <a:endParaRPr lang="en-US" sz="1400" dirty="0"/>
          </a:p>
        </p:txBody>
      </p:sp>
      <p:sp>
        <p:nvSpPr>
          <p:cNvPr id="14" name="chip_746"/>
          <p:cNvSpPr txBox="1"/>
          <p:nvPr/>
        </p:nvSpPr>
        <p:spPr>
          <a:xfrm>
            <a:off x="3456432" y="3977640"/>
            <a:ext cx="457200" cy="274320"/>
          </a:xfrm>
          <a:prstGeom prst="roundRect">
            <a:avLst>
              <a:gd name="adj" fmla="val 20000"/>
            </a:avLst>
          </a:prstGeom>
          <a:solidFill>
            <a:schemeClr val="accent1"/>
          </a:solidFill>
          <a:ln/>
        </p:spPr>
        <p:txBody>
          <a:bodyPr wrap="square" lIns="0" tIns="50800" rIns="50800" bIns="0" rtlCol="0" anchor="ctr"/>
          <a:lstStyle/>
          <a:p>
            <a:pPr algn="ctr" indent="0" marL="0">
              <a:buNone/>
            </a:pPr>
            <a:r>
              <a:rPr lang="en-US" sz="1100" b="1" dirty="0">
                <a:solidFill>
                  <a:schemeClr val="bg1"/>
                </a:solidFill>
              </a:rPr>
              <a:t>1</a:t>
            </a:r>
            <a:endParaRPr lang="en-US" sz="1100" dirty="0"/>
          </a:p>
        </p:txBody>
      </p:sp>
      <p:sp>
        <p:nvSpPr>
          <p:cNvPr id="15" name="text_747"/>
          <p:cNvSpPr txBox="1"/>
          <p:nvPr/>
        </p:nvSpPr>
        <p:spPr>
          <a:xfrm>
            <a:off x="749808" y="4325112"/>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T04   </a:t>
            </a:r>
            <a:pPr indent="0" marL="0">
              <a:buNone/>
            </a:pPr>
            <a:r>
              <a:rPr lang="en-US" sz="1300" dirty="0">
                <a:solidFill>
                  <a:schemeClr val="tx1"/>
                </a:solidFill>
              </a:rPr>
              <a:t>TCP 설정</a:t>
            </a:r>
            <a:endParaRPr lang="en-US" sz="1300" dirty="0"/>
          </a:p>
        </p:txBody>
      </p:sp>
      <p:sp>
        <p:nvSpPr>
          <p:cNvPr id="16" name="card_748"/>
          <p:cNvSpPr/>
          <p:nvPr/>
        </p:nvSpPr>
        <p:spPr>
          <a:xfrm>
            <a:off x="548640" y="4937760"/>
            <a:ext cx="3566160" cy="1216152"/>
          </a:xfrm>
          <a:prstGeom prst="roundRect">
            <a:avLst>
              <a:gd name="adj" fmla="val 7519"/>
            </a:avLst>
          </a:prstGeom>
          <a:solidFill>
            <a:schemeClr val="bg2"/>
          </a:solidFill>
          <a:ln/>
        </p:spPr>
      </p:sp>
      <p:sp>
        <p:nvSpPr>
          <p:cNvPr id="17" name="text_749"/>
          <p:cNvSpPr txBox="1"/>
          <p:nvPr/>
        </p:nvSpPr>
        <p:spPr>
          <a:xfrm>
            <a:off x="749808" y="5010912"/>
            <a:ext cx="2286000" cy="347472"/>
          </a:xfrm>
          <a:prstGeom prst="rect">
            <a:avLst/>
          </a:prstGeom>
          <a:noFill/>
          <a:ln/>
        </p:spPr>
        <p:txBody>
          <a:bodyPr wrap="square" lIns="0" tIns="0" rIns="0" bIns="0" rtlCol="0" anchor="ctr"/>
          <a:lstStyle/>
          <a:p>
            <a:pPr indent="0" marL="0">
              <a:buNone/>
            </a:pPr>
            <a:r>
              <a:rPr lang="en-US" sz="1400" b="1" dirty="0">
                <a:solidFill>
                  <a:schemeClr val="tx2"/>
                </a:solidFill>
              </a:rPr>
              <a:t>관리</a:t>
            </a:r>
            <a:endParaRPr lang="en-US" sz="1400" dirty="0"/>
          </a:p>
        </p:txBody>
      </p:sp>
      <p:sp>
        <p:nvSpPr>
          <p:cNvPr id="18" name="chip_750"/>
          <p:cNvSpPr txBox="1"/>
          <p:nvPr/>
        </p:nvSpPr>
        <p:spPr>
          <a:xfrm>
            <a:off x="3456432" y="5047488"/>
            <a:ext cx="457200" cy="274320"/>
          </a:xfrm>
          <a:prstGeom prst="roundRect">
            <a:avLst>
              <a:gd name="adj" fmla="val 20000"/>
            </a:avLst>
          </a:prstGeom>
          <a:solidFill>
            <a:schemeClr val="accent1"/>
          </a:solidFill>
          <a:ln/>
        </p:spPr>
        <p:txBody>
          <a:bodyPr wrap="square" lIns="0" tIns="50800" rIns="50800" bIns="0" rtlCol="0" anchor="ctr"/>
          <a:lstStyle/>
          <a:p>
            <a:pPr algn="ctr" indent="0" marL="0">
              <a:buNone/>
            </a:pPr>
            <a:r>
              <a:rPr lang="en-US" sz="1100" b="1" dirty="0">
                <a:solidFill>
                  <a:schemeClr val="bg1"/>
                </a:solidFill>
              </a:rPr>
              <a:t>2</a:t>
            </a:r>
            <a:endParaRPr lang="en-US" sz="1100" dirty="0"/>
          </a:p>
        </p:txBody>
      </p:sp>
      <p:sp>
        <p:nvSpPr>
          <p:cNvPr id="19" name="text_751"/>
          <p:cNvSpPr txBox="1"/>
          <p:nvPr/>
        </p:nvSpPr>
        <p:spPr>
          <a:xfrm>
            <a:off x="749808" y="5394960"/>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T15   </a:t>
            </a:r>
            <a:pPr indent="0" marL="0">
              <a:buNone/>
            </a:pPr>
            <a:r>
              <a:rPr lang="en-US" sz="1300" dirty="0">
                <a:solidFill>
                  <a:schemeClr val="tx1"/>
                </a:solidFill>
              </a:rPr>
              <a:t>Commander 메뉴 작업 실행</a:t>
            </a:r>
            <a:endParaRPr lang="en-US" sz="1300" dirty="0"/>
          </a:p>
        </p:txBody>
      </p:sp>
      <p:sp>
        <p:nvSpPr>
          <p:cNvPr id="20" name="text_752"/>
          <p:cNvSpPr txBox="1"/>
          <p:nvPr/>
        </p:nvSpPr>
        <p:spPr>
          <a:xfrm>
            <a:off x="749808" y="5705856"/>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T16   </a:t>
            </a:r>
            <a:pPr indent="0" marL="0">
              <a:buNone/>
            </a:pPr>
            <a:r>
              <a:rPr lang="en-US" sz="1300" dirty="0">
                <a:solidFill>
                  <a:schemeClr val="tx1"/>
                </a:solidFill>
              </a:rPr>
              <a:t>저장과 체크인</a:t>
            </a:r>
            <a:endParaRPr lang="en-US" sz="1300" dirty="0"/>
          </a:p>
        </p:txBody>
      </p:sp>
      <p:sp>
        <p:nvSpPr>
          <p:cNvPr id="21" name="card_753"/>
          <p:cNvSpPr/>
          <p:nvPr/>
        </p:nvSpPr>
        <p:spPr>
          <a:xfrm>
            <a:off x="4311396" y="2487168"/>
            <a:ext cx="3566160" cy="1837944"/>
          </a:xfrm>
          <a:prstGeom prst="roundRect">
            <a:avLst>
              <a:gd name="adj" fmla="val 4975"/>
            </a:avLst>
          </a:prstGeom>
          <a:solidFill>
            <a:schemeClr val="bg2"/>
          </a:solidFill>
          <a:ln/>
        </p:spPr>
      </p:sp>
      <p:sp>
        <p:nvSpPr>
          <p:cNvPr id="22" name="text_754"/>
          <p:cNvSpPr txBox="1"/>
          <p:nvPr/>
        </p:nvSpPr>
        <p:spPr>
          <a:xfrm>
            <a:off x="4512564" y="2560320"/>
            <a:ext cx="2286000" cy="347472"/>
          </a:xfrm>
          <a:prstGeom prst="rect">
            <a:avLst/>
          </a:prstGeom>
          <a:noFill/>
          <a:ln/>
        </p:spPr>
        <p:txBody>
          <a:bodyPr wrap="square" lIns="0" tIns="0" rIns="0" bIns="0" rtlCol="0" anchor="ctr"/>
          <a:lstStyle/>
          <a:p>
            <a:pPr indent="0" marL="0">
              <a:buNone/>
            </a:pPr>
            <a:r>
              <a:rPr lang="en-US" sz="1400" b="1" dirty="0">
                <a:solidFill>
                  <a:schemeClr val="tx2"/>
                </a:solidFill>
              </a:rPr>
              <a:t>작성</a:t>
            </a:r>
            <a:endParaRPr lang="en-US" sz="1400" dirty="0"/>
          </a:p>
        </p:txBody>
      </p:sp>
      <p:sp>
        <p:nvSpPr>
          <p:cNvPr id="23" name="chip_755"/>
          <p:cNvSpPr txBox="1"/>
          <p:nvPr/>
        </p:nvSpPr>
        <p:spPr>
          <a:xfrm>
            <a:off x="7219188" y="2596896"/>
            <a:ext cx="457200" cy="274320"/>
          </a:xfrm>
          <a:prstGeom prst="roundRect">
            <a:avLst>
              <a:gd name="adj" fmla="val 20000"/>
            </a:avLst>
          </a:prstGeom>
          <a:solidFill>
            <a:schemeClr val="accent1"/>
          </a:solidFill>
          <a:ln/>
        </p:spPr>
        <p:txBody>
          <a:bodyPr wrap="square" lIns="0" tIns="50800" rIns="50800" bIns="0" rtlCol="0" anchor="ctr"/>
          <a:lstStyle/>
          <a:p>
            <a:pPr algn="ctr" indent="0" marL="0">
              <a:buNone/>
            </a:pPr>
            <a:r>
              <a:rPr lang="en-US" sz="1100" b="1" dirty="0">
                <a:solidFill>
                  <a:schemeClr val="bg1"/>
                </a:solidFill>
              </a:rPr>
              <a:t>4</a:t>
            </a:r>
            <a:endParaRPr lang="en-US" sz="1100" dirty="0"/>
          </a:p>
        </p:txBody>
      </p:sp>
      <p:sp>
        <p:nvSpPr>
          <p:cNvPr id="24" name="text_756"/>
          <p:cNvSpPr txBox="1"/>
          <p:nvPr/>
        </p:nvSpPr>
        <p:spPr>
          <a:xfrm>
            <a:off x="4512564" y="2944368"/>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T02   </a:t>
            </a:r>
            <a:pPr indent="0" marL="0">
              <a:buNone/>
            </a:pPr>
            <a:r>
              <a:rPr lang="en-US" sz="1300" dirty="0">
                <a:solidFill>
                  <a:schemeClr val="tx1"/>
                </a:solidFill>
              </a:rPr>
              <a:t>테스트케이스 뼈대 만들기</a:t>
            </a:r>
            <a:endParaRPr lang="en-US" sz="1300" dirty="0"/>
          </a:p>
        </p:txBody>
      </p:sp>
      <p:sp>
        <p:nvSpPr>
          <p:cNvPr id="25" name="text_757"/>
          <p:cNvSpPr txBox="1"/>
          <p:nvPr/>
        </p:nvSpPr>
        <p:spPr>
          <a:xfrm>
            <a:off x="4512564" y="3255264"/>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T03   </a:t>
            </a:r>
            <a:pPr indent="0" marL="0">
              <a:buNone/>
            </a:pPr>
            <a:r>
              <a:rPr lang="en-US" sz="1300" dirty="0">
                <a:solidFill>
                  <a:schemeClr val="tx1"/>
                </a:solidFill>
              </a:rPr>
              <a:t>기존 테스트케이스에 스텝 추가</a:t>
            </a:r>
            <a:endParaRPr lang="en-US" sz="1300" dirty="0"/>
          </a:p>
        </p:txBody>
      </p:sp>
      <p:sp>
        <p:nvSpPr>
          <p:cNvPr id="26" name="text_758"/>
          <p:cNvSpPr txBox="1"/>
          <p:nvPr/>
        </p:nvSpPr>
        <p:spPr>
          <a:xfrm>
            <a:off x="4512564" y="3566160"/>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T05   </a:t>
            </a:r>
            <a:pPr indent="0" marL="0">
              <a:buNone/>
            </a:pPr>
            <a:r>
              <a:rPr lang="en-US" sz="1300" dirty="0">
                <a:solidFill>
                  <a:schemeClr val="tx1"/>
                </a:solidFill>
              </a:rPr>
              <a:t>수동 테스트케이스 작성</a:t>
            </a:r>
            <a:endParaRPr lang="en-US" sz="1300" dirty="0"/>
          </a:p>
        </p:txBody>
      </p:sp>
      <p:sp>
        <p:nvSpPr>
          <p:cNvPr id="27" name="text_759"/>
          <p:cNvSpPr txBox="1"/>
          <p:nvPr/>
        </p:nvSpPr>
        <p:spPr>
          <a:xfrm>
            <a:off x="4512564" y="3877056"/>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T06   </a:t>
            </a:r>
            <a:pPr indent="0" marL="0">
              <a:buNone/>
            </a:pPr>
            <a:r>
              <a:rPr lang="en-US" sz="1300" dirty="0">
                <a:solidFill>
                  <a:schemeClr val="tx1"/>
                </a:solidFill>
              </a:rPr>
              <a:t>자동 테스트케이스 작성</a:t>
            </a:r>
            <a:endParaRPr lang="en-US" sz="1300" dirty="0"/>
          </a:p>
        </p:txBody>
      </p:sp>
      <p:sp>
        <p:nvSpPr>
          <p:cNvPr id="28" name="card_760"/>
          <p:cNvSpPr/>
          <p:nvPr/>
        </p:nvSpPr>
        <p:spPr>
          <a:xfrm>
            <a:off x="4311396" y="4489704"/>
            <a:ext cx="3566160" cy="1216152"/>
          </a:xfrm>
          <a:prstGeom prst="roundRect">
            <a:avLst>
              <a:gd name="adj" fmla="val 7519"/>
            </a:avLst>
          </a:prstGeom>
          <a:solidFill>
            <a:schemeClr val="bg2"/>
          </a:solidFill>
          <a:ln/>
        </p:spPr>
      </p:sp>
      <p:sp>
        <p:nvSpPr>
          <p:cNvPr id="29" name="text_761"/>
          <p:cNvSpPr txBox="1"/>
          <p:nvPr/>
        </p:nvSpPr>
        <p:spPr>
          <a:xfrm>
            <a:off x="4512564" y="4562856"/>
            <a:ext cx="2286000" cy="347472"/>
          </a:xfrm>
          <a:prstGeom prst="rect">
            <a:avLst/>
          </a:prstGeom>
          <a:noFill/>
          <a:ln/>
        </p:spPr>
        <p:txBody>
          <a:bodyPr wrap="square" lIns="0" tIns="0" rIns="0" bIns="0" rtlCol="0" anchor="ctr"/>
          <a:lstStyle/>
          <a:p>
            <a:pPr indent="0" marL="0">
              <a:buNone/>
            </a:pPr>
            <a:r>
              <a:rPr lang="en-US" sz="1400" b="1" dirty="0">
                <a:solidFill>
                  <a:schemeClr val="tx2"/>
                </a:solidFill>
              </a:rPr>
              <a:t>확장</a:t>
            </a:r>
            <a:endParaRPr lang="en-US" sz="1400" dirty="0"/>
          </a:p>
        </p:txBody>
      </p:sp>
      <p:sp>
        <p:nvSpPr>
          <p:cNvPr id="30" name="chip_762"/>
          <p:cNvSpPr txBox="1"/>
          <p:nvPr/>
        </p:nvSpPr>
        <p:spPr>
          <a:xfrm>
            <a:off x="7219188" y="4599432"/>
            <a:ext cx="457200" cy="274320"/>
          </a:xfrm>
          <a:prstGeom prst="roundRect">
            <a:avLst>
              <a:gd name="adj" fmla="val 20000"/>
            </a:avLst>
          </a:prstGeom>
          <a:solidFill>
            <a:schemeClr val="accent1"/>
          </a:solidFill>
          <a:ln/>
        </p:spPr>
        <p:txBody>
          <a:bodyPr wrap="square" lIns="0" tIns="50800" rIns="50800" bIns="0" rtlCol="0" anchor="ctr"/>
          <a:lstStyle/>
          <a:p>
            <a:pPr algn="ctr" indent="0" marL="0">
              <a:buNone/>
            </a:pPr>
            <a:r>
              <a:rPr lang="en-US" sz="1100" b="1" dirty="0">
                <a:solidFill>
                  <a:schemeClr val="bg1"/>
                </a:solidFill>
              </a:rPr>
              <a:t>2</a:t>
            </a:r>
            <a:endParaRPr lang="en-US" sz="1100" dirty="0"/>
          </a:p>
        </p:txBody>
      </p:sp>
      <p:sp>
        <p:nvSpPr>
          <p:cNvPr id="31" name="text_763"/>
          <p:cNvSpPr txBox="1"/>
          <p:nvPr/>
        </p:nvSpPr>
        <p:spPr>
          <a:xfrm>
            <a:off x="4512564" y="4946904"/>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T17   </a:t>
            </a:r>
            <a:pPr indent="0" marL="0">
              <a:buNone/>
            </a:pPr>
            <a:r>
              <a:rPr lang="en-US" sz="1300" dirty="0">
                <a:solidFill>
                  <a:schemeClr val="tx1"/>
                </a:solidFill>
              </a:rPr>
              <a:t>Data Integrity 시작하기</a:t>
            </a:r>
            <a:endParaRPr lang="en-US" sz="1300" dirty="0"/>
          </a:p>
        </p:txBody>
      </p:sp>
      <p:sp>
        <p:nvSpPr>
          <p:cNvPr id="32" name="text_764"/>
          <p:cNvSpPr txBox="1"/>
          <p:nvPr/>
        </p:nvSpPr>
        <p:spPr>
          <a:xfrm>
            <a:off x="4512564" y="5257800"/>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T18   </a:t>
            </a:r>
            <a:pPr indent="0" marL="0">
              <a:buNone/>
            </a:pPr>
            <a:r>
              <a:rPr lang="en-US" sz="1300" dirty="0">
                <a:solidFill>
                  <a:schemeClr val="tx1"/>
                </a:solidFill>
              </a:rPr>
              <a:t>DEX 에이전트 확인</a:t>
            </a:r>
            <a:endParaRPr lang="en-US" sz="1300" dirty="0"/>
          </a:p>
        </p:txBody>
      </p:sp>
      <p:sp>
        <p:nvSpPr>
          <p:cNvPr id="33" name="card_765"/>
          <p:cNvSpPr/>
          <p:nvPr/>
        </p:nvSpPr>
        <p:spPr>
          <a:xfrm>
            <a:off x="8074152" y="2487168"/>
            <a:ext cx="3566160" cy="2770632"/>
          </a:xfrm>
          <a:prstGeom prst="roundRect">
            <a:avLst>
              <a:gd name="adj" fmla="val 3300"/>
            </a:avLst>
          </a:prstGeom>
          <a:solidFill>
            <a:schemeClr val="bg2"/>
          </a:solidFill>
          <a:ln/>
        </p:spPr>
      </p:sp>
      <p:sp>
        <p:nvSpPr>
          <p:cNvPr id="34" name="text_766"/>
          <p:cNvSpPr txBox="1"/>
          <p:nvPr/>
        </p:nvSpPr>
        <p:spPr>
          <a:xfrm>
            <a:off x="8275320" y="2560320"/>
            <a:ext cx="2286000" cy="347472"/>
          </a:xfrm>
          <a:prstGeom prst="rect">
            <a:avLst/>
          </a:prstGeom>
          <a:noFill/>
          <a:ln/>
        </p:spPr>
        <p:txBody>
          <a:bodyPr wrap="square" lIns="0" tIns="0" rIns="0" bIns="0" rtlCol="0" anchor="ctr"/>
          <a:lstStyle/>
          <a:p>
            <a:pPr indent="0" marL="0">
              <a:buNone/>
            </a:pPr>
            <a:r>
              <a:rPr lang="en-US" sz="1400" b="1" dirty="0">
                <a:solidFill>
                  <a:schemeClr val="tx2"/>
                </a:solidFill>
              </a:rPr>
              <a:t>실행·분석</a:t>
            </a:r>
            <a:endParaRPr lang="en-US" sz="1400" dirty="0"/>
          </a:p>
        </p:txBody>
      </p:sp>
      <p:sp>
        <p:nvSpPr>
          <p:cNvPr id="35" name="chip_767"/>
          <p:cNvSpPr txBox="1"/>
          <p:nvPr/>
        </p:nvSpPr>
        <p:spPr>
          <a:xfrm>
            <a:off x="10981944" y="2596896"/>
            <a:ext cx="457200" cy="274320"/>
          </a:xfrm>
          <a:prstGeom prst="roundRect">
            <a:avLst>
              <a:gd name="adj" fmla="val 20000"/>
            </a:avLst>
          </a:prstGeom>
          <a:solidFill>
            <a:schemeClr val="accent1"/>
          </a:solidFill>
          <a:ln/>
        </p:spPr>
        <p:txBody>
          <a:bodyPr wrap="square" lIns="0" tIns="50800" rIns="50800" bIns="0" rtlCol="0" anchor="ctr"/>
          <a:lstStyle/>
          <a:p>
            <a:pPr algn="ctr" indent="0" marL="0">
              <a:buNone/>
            </a:pPr>
            <a:r>
              <a:rPr lang="en-US" sz="1100" b="1" dirty="0">
                <a:solidFill>
                  <a:schemeClr val="bg1"/>
                </a:solidFill>
              </a:rPr>
              <a:t>7</a:t>
            </a:r>
            <a:endParaRPr lang="en-US" sz="1100" dirty="0"/>
          </a:p>
        </p:txBody>
      </p:sp>
      <p:sp>
        <p:nvSpPr>
          <p:cNvPr id="36" name="text_768"/>
          <p:cNvSpPr txBox="1"/>
          <p:nvPr/>
        </p:nvSpPr>
        <p:spPr>
          <a:xfrm>
            <a:off x="8275320" y="2944368"/>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T08   </a:t>
            </a:r>
            <a:pPr indent="0" marL="0">
              <a:buNone/>
            </a:pPr>
            <a:r>
              <a:rPr lang="en-US" sz="1300" dirty="0">
                <a:solidFill>
                  <a:schemeClr val="tx1"/>
                </a:solidFill>
              </a:rPr>
              <a:t>실행하고 결과 기다리기</a:t>
            </a:r>
            <a:endParaRPr lang="en-US" sz="1300" dirty="0"/>
          </a:p>
        </p:txBody>
      </p:sp>
      <p:sp>
        <p:nvSpPr>
          <p:cNvPr id="37" name="text_769"/>
          <p:cNvSpPr txBox="1"/>
          <p:nvPr/>
        </p:nvSpPr>
        <p:spPr>
          <a:xfrm>
            <a:off x="8275320" y="3255264"/>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T09   </a:t>
            </a:r>
            <a:pPr indent="0" marL="0">
              <a:buNone/>
            </a:pPr>
            <a:r>
              <a:rPr lang="en-US" sz="1300" dirty="0">
                <a:solidFill>
                  <a:schemeClr val="tx1"/>
                </a:solidFill>
              </a:rPr>
              <a:t>실행 결과 찾기</a:t>
            </a:r>
            <a:endParaRPr lang="en-US" sz="1300" dirty="0"/>
          </a:p>
        </p:txBody>
      </p:sp>
      <p:sp>
        <p:nvSpPr>
          <p:cNvPr id="38" name="text_770"/>
          <p:cNvSpPr txBox="1"/>
          <p:nvPr/>
        </p:nvSpPr>
        <p:spPr>
          <a:xfrm>
            <a:off x="8275320" y="3566160"/>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T10   </a:t>
            </a:r>
            <a:pPr indent="0" marL="0">
              <a:buNone/>
            </a:pPr>
            <a:r>
              <a:rPr lang="en-US" sz="1300" dirty="0">
                <a:solidFill>
                  <a:schemeClr val="tx1"/>
                </a:solidFill>
              </a:rPr>
              <a:t>실패 원인 분석</a:t>
            </a:r>
            <a:endParaRPr lang="en-US" sz="1300" dirty="0"/>
          </a:p>
        </p:txBody>
      </p:sp>
      <p:sp>
        <p:nvSpPr>
          <p:cNvPr id="39" name="text_771"/>
          <p:cNvSpPr txBox="1"/>
          <p:nvPr/>
        </p:nvSpPr>
        <p:spPr>
          <a:xfrm>
            <a:off x="8275320" y="3877056"/>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T11   </a:t>
            </a:r>
            <a:pPr indent="0" marL="0">
              <a:buNone/>
            </a:pPr>
            <a:r>
              <a:rPr lang="en-US" sz="1300" dirty="0">
                <a:solidFill>
                  <a:schemeClr val="tx1"/>
                </a:solidFill>
              </a:rPr>
              <a:t>중단된 실행 진단</a:t>
            </a:r>
            <a:endParaRPr lang="en-US" sz="1300" dirty="0"/>
          </a:p>
        </p:txBody>
      </p:sp>
      <p:sp>
        <p:nvSpPr>
          <p:cNvPr id="40" name="text_772"/>
          <p:cNvSpPr txBox="1"/>
          <p:nvPr/>
        </p:nvSpPr>
        <p:spPr>
          <a:xfrm>
            <a:off x="8275320" y="4187952"/>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T12   </a:t>
            </a:r>
            <a:pPr indent="0" marL="0">
              <a:buNone/>
            </a:pPr>
            <a:r>
              <a:rPr lang="en-US" sz="1300" dirty="0">
                <a:solidFill>
                  <a:schemeClr val="tx1"/>
                </a:solidFill>
              </a:rPr>
              <a:t>실행 이력 추세 분석</a:t>
            </a:r>
            <a:endParaRPr lang="en-US" sz="1300" dirty="0"/>
          </a:p>
        </p:txBody>
      </p:sp>
      <p:sp>
        <p:nvSpPr>
          <p:cNvPr id="41" name="text_773"/>
          <p:cNvSpPr txBox="1"/>
          <p:nvPr/>
        </p:nvSpPr>
        <p:spPr>
          <a:xfrm>
            <a:off x="8275320" y="4498848"/>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T13   </a:t>
            </a:r>
            <a:pPr indent="0" marL="0">
              <a:buNone/>
            </a:pPr>
            <a:r>
              <a:rPr lang="en-US" sz="1300" dirty="0">
                <a:solidFill>
                  <a:schemeClr val="tx1"/>
                </a:solidFill>
              </a:rPr>
              <a:t>두 실행 비교</a:t>
            </a:r>
            <a:endParaRPr lang="en-US" sz="1300" dirty="0"/>
          </a:p>
        </p:txBody>
      </p:sp>
      <p:sp>
        <p:nvSpPr>
          <p:cNvPr id="42" name="text_774"/>
          <p:cNvSpPr txBox="1"/>
          <p:nvPr/>
        </p:nvSpPr>
        <p:spPr>
          <a:xfrm>
            <a:off x="8275320" y="4809744"/>
            <a:ext cx="3200400" cy="310896"/>
          </a:xfrm>
          <a:prstGeom prst="rect">
            <a:avLst/>
          </a:prstGeom>
          <a:noFill/>
          <a:ln/>
        </p:spPr>
        <p:txBody>
          <a:bodyPr wrap="square" lIns="0" tIns="0" rIns="0" bIns="0" rtlCol="0" anchor="ctr"/>
          <a:lstStyle/>
          <a:p>
            <a:pPr indent="0" marL="0">
              <a:buNone/>
            </a:pPr>
            <a:r>
              <a:rPr lang="en-US" sz="1300" b="1" dirty="0">
                <a:solidFill>
                  <a:schemeClr val="tx2"/>
                </a:solidFill>
              </a:rPr>
              <a:t>T14   </a:t>
            </a:r>
            <a:pPr indent="0" marL="0">
              <a:buNone/>
            </a:pPr>
            <a:r>
              <a:rPr lang="en-US" sz="1300" dirty="0">
                <a:solidFill>
                  <a:schemeClr val="tx1"/>
                </a:solidFill>
              </a:rPr>
              <a:t>결과 기반 수정과 재검증</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템플릿 하나 뜯어보기: T06 자동 테스트케이스 작성</a:t>
            </a:r>
            <a:endParaRPr lang="en-US" sz="3200" dirty="0"/>
          </a:p>
        </p:txBody>
      </p:sp>
      <p:sp>
        <p:nvSpPr>
          <p:cNvPr id="4" name="card_775"/>
          <p:cNvSpPr/>
          <p:nvPr/>
        </p:nvSpPr>
        <p:spPr>
          <a:xfrm>
            <a:off x="548640" y="1371600"/>
            <a:ext cx="6492240" cy="4800600"/>
          </a:xfrm>
          <a:prstGeom prst="roundRect">
            <a:avLst>
              <a:gd name="adj" fmla="val 1905"/>
            </a:avLst>
          </a:prstGeom>
          <a:solidFill>
            <a:schemeClr val="accent2">
              <a:alpha val="14000"/>
            </a:schemeClr>
          </a:solidFill>
          <a:ln w="9525">
            <a:solidFill>
              <a:schemeClr val="accent2"/>
            </a:solidFill>
            <a:prstDash val="solid"/>
          </a:ln>
        </p:spPr>
      </p:sp>
      <p:sp>
        <p:nvSpPr>
          <p:cNvPr id="5" name="chip_776"/>
          <p:cNvSpPr txBox="1"/>
          <p:nvPr/>
        </p:nvSpPr>
        <p:spPr>
          <a:xfrm>
            <a:off x="731520" y="1508760"/>
            <a:ext cx="1234440" cy="292608"/>
          </a:xfrm>
          <a:prstGeom prst="roundRect">
            <a:avLst>
              <a:gd name="adj" fmla="val 18750"/>
            </a:avLst>
          </a:prstGeom>
          <a:solidFill>
            <a:schemeClr val="accent2"/>
          </a:solidFill>
          <a:ln/>
        </p:spPr>
        <p:txBody>
          <a:bodyPr wrap="square" lIns="0" tIns="50800" rIns="50800" bIns="0" rtlCol="0" anchor="ctr"/>
          <a:lstStyle/>
          <a:p>
            <a:pPr algn="ctr" indent="0" marL="0">
              <a:buNone/>
            </a:pPr>
            <a:r>
              <a:rPr lang="en-US" sz="1100" b="1" dirty="0">
                <a:solidFill>
                  <a:schemeClr val="tx1"/>
                </a:solidFill>
              </a:rPr>
              <a:t>프롬프트 본문</a:t>
            </a:r>
            <a:endParaRPr lang="en-US" sz="1100" dirty="0"/>
          </a:p>
        </p:txBody>
      </p:sp>
      <p:sp>
        <p:nvSpPr>
          <p:cNvPr id="6" name="text_777"/>
          <p:cNvSpPr txBox="1"/>
          <p:nvPr/>
        </p:nvSpPr>
        <p:spPr>
          <a:xfrm>
            <a:off x="777240" y="1965960"/>
            <a:ext cx="6035040" cy="4114800"/>
          </a:xfrm>
          <a:prstGeom prst="rect">
            <a:avLst/>
          </a:prstGeom>
          <a:noFill/>
          <a:ln/>
        </p:spPr>
        <p:txBody>
          <a:bodyPr wrap="square" lIns="0" tIns="0" rIns="0" bIns="0" rtlCol="0" anchor="t"/>
          <a:lstStyle/>
          <a:p>
            <a:pPr indent="0" marL="0">
              <a:lnSpc>
                <a:spcPct val="112000"/>
              </a:lnSpc>
              <a:buNone/>
            </a:pPr>
            <a:r>
              <a:rPr lang="en-US" sz="1450" b="1" dirty="0">
                <a:solidFill>
                  <a:schemeClr val="accent5"/>
                </a:solidFill>
              </a:rPr>
              <a:t>[폴더 경로]</a:t>
            </a:r>
            <a:pPr indent="0" marL="0">
              <a:lnSpc>
                <a:spcPct val="112000"/>
              </a:lnSpc>
              <a:buNone/>
            </a:pPr>
            <a:r>
              <a:rPr lang="en-US" sz="1450" dirty="0">
                <a:solidFill>
                  <a:schemeClr val="tx1"/>
                </a:solidFill>
              </a:rPr>
              <a:t>에 '</a:t>
            </a:r>
            <a:pPr indent="0" marL="0">
              <a:lnSpc>
                <a:spcPct val="112000"/>
              </a:lnSpc>
              <a:buNone/>
            </a:pPr>
            <a:r>
              <a:rPr lang="en-US" sz="1450" b="1" dirty="0">
                <a:solidFill>
                  <a:schemeClr val="accent5"/>
                </a:solidFill>
              </a:rPr>
              <a:t>[테스트케이스 이름]</a:t>
            </a:r>
            <a:pPr indent="0" marL="0">
              <a:lnSpc>
                <a:spcPct val="112000"/>
              </a:lnSpc>
              <a:buNone/>
            </a:pPr>
            <a:r>
              <a:rPr lang="en-US" sz="1450" dirty="0">
                <a:solidFill>
                  <a:schemeClr val="tx1"/>
                </a:solidFill>
              </a:rPr>
              <a:t>' 자동화 테스트케이스를 만들려고 해. 아직 만들지 말고 계획만 보여줘.</a:t>
            </a:r>
            <a:endParaRPr lang="en-US" sz="1450" dirty="0"/>
          </a:p>
          <a:p>
            <a:pPr indent="0" marL="0">
              <a:lnSpc>
                <a:spcPct val="112000"/>
              </a:lnSpc>
              <a:buNone/>
            </a:pPr>
            <a:r>
              <a:rPr lang="en-US" sz="1450" dirty="0">
                <a:solidFill>
                  <a:schemeClr val="tx1"/>
                </a:solidFill>
              </a:rPr>
              <a:t>- 모듈 범위: </a:t>
            </a:r>
            <a:pPr indent="0" marL="0">
              <a:lnSpc>
                <a:spcPct val="112000"/>
              </a:lnSpc>
              <a:buNone/>
            </a:pPr>
            <a:r>
              <a:rPr lang="en-US" sz="1450" b="1" dirty="0">
                <a:solidFill>
                  <a:schemeClr val="accent5"/>
                </a:solidFill>
              </a:rPr>
              <a:t>[모듈 폴더 경로]</a:t>
            </a:r>
            <a:pPr indent="0" marL="0">
              <a:lnSpc>
                <a:spcPct val="112000"/>
              </a:lnSpc>
              <a:buNone/>
            </a:pPr>
            <a:r>
              <a:rPr lang="en-US" sz="1450" dirty="0">
                <a:solidFill>
                  <a:schemeClr val="tx1"/>
                </a:solidFill>
              </a:rPr>
              <a:t>와 </a:t>
            </a:r>
            <a:pPr indent="0" marL="0">
              <a:lnSpc>
                <a:spcPct val="112000"/>
              </a:lnSpc>
              <a:buNone/>
            </a:pPr>
            <a:r>
              <a:rPr lang="en-US" sz="1450" b="1" dirty="0">
                <a:solidFill>
                  <a:schemeClr val="accent5"/>
                </a:solidFill>
              </a:rPr>
              <a:t>[표준 모듈]</a:t>
            </a:r>
            <a:pPr indent="0" marL="0">
              <a:lnSpc>
                <a:spcPct val="112000"/>
              </a:lnSpc>
              <a:buNone/>
            </a:pPr>
            <a:r>
              <a:rPr lang="en-US" sz="1450" dirty="0">
                <a:solidFill>
                  <a:schemeClr val="tx1"/>
                </a:solidFill>
              </a:rPr>
              <a:t>에서만 찾아. 새로 스캔하지 마.</a:t>
            </a:r>
            <a:endParaRPr lang="en-US" sz="1450" dirty="0"/>
          </a:p>
          <a:p>
            <a:pPr indent="0" marL="0">
              <a:lnSpc>
                <a:spcPct val="112000"/>
              </a:lnSpc>
              <a:buNone/>
            </a:pPr>
            <a:r>
              <a:rPr lang="en-US" sz="1450" dirty="0">
                <a:solidFill>
                  <a:schemeClr val="tx1"/>
                </a:solidFill>
              </a:rPr>
              <a:t>- 시나리오:</a:t>
            </a:r>
            <a:endParaRPr lang="en-US" sz="1450" dirty="0"/>
          </a:p>
          <a:p>
            <a:pPr indent="0" marL="0">
              <a:lnSpc>
                <a:spcPct val="112000"/>
              </a:lnSpc>
              <a:buNone/>
            </a:pPr>
            <a:r>
              <a:rPr lang="en-US" sz="1450" dirty="0">
                <a:solidFill>
                  <a:schemeClr val="tx1"/>
                </a:solidFill>
              </a:rPr>
              <a:t>  1. </a:t>
            </a:r>
            <a:pPr indent="0" marL="0">
              <a:lnSpc>
                <a:spcPct val="112000"/>
              </a:lnSpc>
              <a:buNone/>
            </a:pPr>
            <a:r>
              <a:rPr lang="en-US" sz="1450" b="1" dirty="0">
                <a:solidFill>
                  <a:schemeClr val="accent5"/>
                </a:solidFill>
              </a:rPr>
              <a:t>[동작]</a:t>
            </a:r>
            <a:endParaRPr lang="en-US" sz="1450" dirty="0"/>
          </a:p>
          <a:p>
            <a:pPr indent="0" marL="0">
              <a:lnSpc>
                <a:spcPct val="112000"/>
              </a:lnSpc>
              <a:buNone/>
            </a:pPr>
            <a:r>
              <a:rPr lang="en-US" sz="1450" dirty="0">
                <a:solidFill>
                  <a:schemeClr val="tx1"/>
                </a:solidFill>
              </a:rPr>
              <a:t>  2. </a:t>
            </a:r>
            <a:pPr indent="0" marL="0">
              <a:lnSpc>
                <a:spcPct val="112000"/>
              </a:lnSpc>
              <a:buNone/>
            </a:pPr>
            <a:r>
              <a:rPr lang="en-US" sz="1450" b="1" dirty="0">
                <a:solidFill>
                  <a:schemeClr val="accent5"/>
                </a:solidFill>
              </a:rPr>
              <a:t>[동작]</a:t>
            </a:r>
            <a:endParaRPr lang="en-US" sz="1450" dirty="0"/>
          </a:p>
          <a:p>
            <a:pPr indent="0" marL="0">
              <a:lnSpc>
                <a:spcPct val="112000"/>
              </a:lnSpc>
              <a:buNone/>
            </a:pPr>
            <a:r>
              <a:rPr lang="en-US" sz="1450" dirty="0">
                <a:solidFill>
                  <a:schemeClr val="tx1"/>
                </a:solidFill>
              </a:rPr>
              <a:t>- 검증: </a:t>
            </a:r>
            <a:pPr indent="0" marL="0">
              <a:lnSpc>
                <a:spcPct val="112000"/>
              </a:lnSpc>
              <a:buNone/>
            </a:pPr>
            <a:r>
              <a:rPr lang="en-US" sz="1450" b="1" dirty="0">
                <a:solidFill>
                  <a:schemeClr val="accent5"/>
                </a:solidFill>
              </a:rPr>
              <a:t>[어떤 화면 요소를 어떤 값으로 Verify]</a:t>
            </a:r>
            <a:endParaRPr lang="en-US" sz="1450" dirty="0"/>
          </a:p>
          <a:p>
            <a:pPr indent="0" marL="0">
              <a:lnSpc>
                <a:spcPct val="112000"/>
              </a:lnSpc>
              <a:buNone/>
            </a:pPr>
            <a:r>
              <a:rPr lang="en-US" sz="1450" dirty="0">
                <a:solidFill>
                  <a:schemeClr val="tx1"/>
                </a:solidFill>
              </a:rPr>
              <a:t>- 재사용할 값: </a:t>
            </a:r>
            <a:pPr indent="0" marL="0">
              <a:lnSpc>
                <a:spcPct val="112000"/>
              </a:lnSpc>
              <a:buNone/>
            </a:pPr>
            <a:r>
              <a:rPr lang="en-US" sz="1450" b="1" dirty="0">
                <a:solidFill>
                  <a:schemeClr val="accent5"/>
                </a:solidFill>
              </a:rPr>
              <a:t>[버퍼 이름과 대상, 없으면 없음]</a:t>
            </a:r>
            <a:endParaRPr lang="en-US" sz="1450" dirty="0"/>
          </a:p>
          <a:p>
            <a:pPr indent="0" marL="0">
              <a:lnSpc>
                <a:spcPct val="112000"/>
              </a:lnSpc>
              <a:buNone/>
            </a:pPr>
            <a:r>
              <a:rPr lang="en-US" sz="1450" dirty="0">
                <a:solidFill>
                  <a:schemeClr val="tx1"/>
                </a:solidFill>
              </a:rPr>
              <a:t>스텝별로 모듈, 속성, 값, ActionMode를 표로 보여주고, 맞는 모듈이 없는 스텝은 따로 표시해줘.</a:t>
            </a:r>
            <a:endParaRPr lang="en-US" sz="1450" dirty="0"/>
          </a:p>
        </p:txBody>
      </p:sp>
      <p:sp>
        <p:nvSpPr>
          <p:cNvPr id="7" name="card_778"/>
          <p:cNvSpPr/>
          <p:nvPr/>
        </p:nvSpPr>
        <p:spPr>
          <a:xfrm>
            <a:off x="7269480" y="1371600"/>
            <a:ext cx="4370832" cy="868680"/>
          </a:xfrm>
          <a:prstGeom prst="roundRect">
            <a:avLst>
              <a:gd name="adj" fmla="val 10526"/>
            </a:avLst>
          </a:prstGeom>
          <a:solidFill>
            <a:schemeClr val="bg2"/>
          </a:solidFill>
          <a:ln/>
        </p:spPr>
      </p:sp>
      <p:sp>
        <p:nvSpPr>
          <p:cNvPr id="8" name="text_779"/>
          <p:cNvSpPr txBox="1"/>
          <p:nvPr/>
        </p:nvSpPr>
        <p:spPr>
          <a:xfrm>
            <a:off x="7452360" y="1463040"/>
            <a:ext cx="4023360" cy="292608"/>
          </a:xfrm>
          <a:prstGeom prst="rect">
            <a:avLst/>
          </a:prstGeom>
          <a:noFill/>
          <a:ln/>
        </p:spPr>
        <p:txBody>
          <a:bodyPr wrap="square" lIns="0" tIns="0" rIns="0" bIns="0" rtlCol="0" anchor="ctr"/>
          <a:lstStyle/>
          <a:p>
            <a:pPr indent="0" marL="0">
              <a:buNone/>
            </a:pPr>
            <a:r>
              <a:rPr lang="en-US" sz="1200" b="1" dirty="0">
                <a:solidFill>
                  <a:schemeClr val="tx2"/>
                </a:solidFill>
              </a:rPr>
              <a:t>언제 쓰나</a:t>
            </a:r>
            <a:endParaRPr lang="en-US" sz="1200" dirty="0"/>
          </a:p>
        </p:txBody>
      </p:sp>
      <p:sp>
        <p:nvSpPr>
          <p:cNvPr id="9" name="text_780"/>
          <p:cNvSpPr txBox="1"/>
          <p:nvPr/>
        </p:nvSpPr>
        <p:spPr>
          <a:xfrm>
            <a:off x="7452360" y="1764792"/>
            <a:ext cx="4023360" cy="411480"/>
          </a:xfrm>
          <a:prstGeom prst="rect">
            <a:avLst/>
          </a:prstGeom>
          <a:noFill/>
          <a:ln/>
        </p:spPr>
        <p:txBody>
          <a:bodyPr wrap="square" lIns="0" tIns="0" rIns="0" bIns="0" rtlCol="0" anchor="t"/>
          <a:lstStyle/>
          <a:p>
            <a:pPr indent="0" marL="0">
              <a:buNone/>
            </a:pPr>
            <a:r>
              <a:rPr lang="en-US" sz="1200" dirty="0">
                <a:solidFill>
                  <a:schemeClr val="tx1"/>
                </a:solidFill>
              </a:rPr>
              <a:t>시나리오 문장으로 자동화 테스트케이스 초안을 만들 때</a:t>
            </a:r>
            <a:endParaRPr lang="en-US" sz="1200" dirty="0"/>
          </a:p>
        </p:txBody>
      </p:sp>
      <p:sp>
        <p:nvSpPr>
          <p:cNvPr id="10" name="card_781"/>
          <p:cNvSpPr/>
          <p:nvPr/>
        </p:nvSpPr>
        <p:spPr>
          <a:xfrm>
            <a:off x="7269480" y="2331720"/>
            <a:ext cx="4370832" cy="777240"/>
          </a:xfrm>
          <a:prstGeom prst="roundRect">
            <a:avLst>
              <a:gd name="adj" fmla="val 11765"/>
            </a:avLst>
          </a:prstGeom>
          <a:solidFill>
            <a:schemeClr val="bg2"/>
          </a:solidFill>
          <a:ln/>
        </p:spPr>
      </p:sp>
      <p:sp>
        <p:nvSpPr>
          <p:cNvPr id="11" name="text_782"/>
          <p:cNvSpPr txBox="1"/>
          <p:nvPr/>
        </p:nvSpPr>
        <p:spPr>
          <a:xfrm>
            <a:off x="7452360" y="2423160"/>
            <a:ext cx="4023360" cy="292608"/>
          </a:xfrm>
          <a:prstGeom prst="rect">
            <a:avLst/>
          </a:prstGeom>
          <a:noFill/>
          <a:ln/>
        </p:spPr>
        <p:txBody>
          <a:bodyPr wrap="square" lIns="0" tIns="0" rIns="0" bIns="0" rtlCol="0" anchor="ctr"/>
          <a:lstStyle/>
          <a:p>
            <a:pPr indent="0" marL="0">
              <a:buNone/>
            </a:pPr>
            <a:r>
              <a:rPr lang="en-US" sz="1200" b="1" dirty="0">
                <a:solidFill>
                  <a:schemeClr val="tx2"/>
                </a:solidFill>
              </a:rPr>
              <a:t>공식 워크플로</a:t>
            </a:r>
            <a:endParaRPr lang="en-US" sz="1200" dirty="0"/>
          </a:p>
        </p:txBody>
      </p:sp>
      <p:sp>
        <p:nvSpPr>
          <p:cNvPr id="12" name="text_783"/>
          <p:cNvSpPr txBox="1"/>
          <p:nvPr/>
        </p:nvSpPr>
        <p:spPr>
          <a:xfrm>
            <a:off x="7452360" y="2724912"/>
            <a:ext cx="4023360" cy="32004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author-automated-test-case.md</a:t>
            </a:r>
            <a:endParaRPr lang="en-US" sz="1200" dirty="0"/>
          </a:p>
        </p:txBody>
      </p:sp>
      <p:sp>
        <p:nvSpPr>
          <p:cNvPr id="13" name="card_784"/>
          <p:cNvSpPr/>
          <p:nvPr/>
        </p:nvSpPr>
        <p:spPr>
          <a:xfrm>
            <a:off x="7269480" y="3200400"/>
            <a:ext cx="4370832" cy="1417320"/>
          </a:xfrm>
          <a:prstGeom prst="roundRect">
            <a:avLst>
              <a:gd name="adj" fmla="val 6452"/>
            </a:avLst>
          </a:prstGeom>
          <a:solidFill>
            <a:schemeClr val="bg2"/>
          </a:solidFill>
          <a:ln/>
        </p:spPr>
      </p:sp>
      <p:sp>
        <p:nvSpPr>
          <p:cNvPr id="14" name="text_785"/>
          <p:cNvSpPr txBox="1"/>
          <p:nvPr/>
        </p:nvSpPr>
        <p:spPr>
          <a:xfrm>
            <a:off x="7452360" y="3291840"/>
            <a:ext cx="4023360" cy="292608"/>
          </a:xfrm>
          <a:prstGeom prst="rect">
            <a:avLst/>
          </a:prstGeom>
          <a:noFill/>
          <a:ln/>
        </p:spPr>
        <p:txBody>
          <a:bodyPr wrap="square" lIns="0" tIns="0" rIns="0" bIns="0" rtlCol="0" anchor="ctr"/>
          <a:lstStyle/>
          <a:p>
            <a:pPr indent="0" marL="0">
              <a:buNone/>
            </a:pPr>
            <a:r>
              <a:rPr lang="en-US" sz="1200" b="1" dirty="0">
                <a:solidFill>
                  <a:schemeClr val="tx2"/>
                </a:solidFill>
              </a:rPr>
              <a:t>AI가 주로 쓰는 도구</a:t>
            </a:r>
            <a:endParaRPr lang="en-US" sz="1200" dirty="0"/>
          </a:p>
        </p:txBody>
      </p:sp>
      <p:sp>
        <p:nvSpPr>
          <p:cNvPr id="15" name="text_786"/>
          <p:cNvSpPr txBox="1"/>
          <p:nvPr/>
        </p:nvSpPr>
        <p:spPr>
          <a:xfrm>
            <a:off x="7452360" y="3593592"/>
            <a:ext cx="4023360" cy="960120"/>
          </a:xfrm>
          <a:prstGeom prst="rect">
            <a:avLst/>
          </a:prstGeom>
          <a:noFill/>
          <a:ln/>
        </p:spPr>
        <p:txBody>
          <a:bodyPr wrap="square" lIns="0" tIns="0" rIns="0" bIns="0" rtlCol="0" anchor="t"/>
          <a:lstStyle/>
          <a:p>
            <a:pPr indent="0" marL="0">
              <a:buNone/>
            </a:pPr>
            <a:r>
              <a:rPr lang="en-US" sz="1050" dirty="0">
                <a:solidFill>
                  <a:schemeClr val="tx1"/>
                </a:solidFill>
                <a:latin typeface="Consolas" pitchFamily="34" charset="0"/>
                <a:ea typeface="Consolas" pitchFamily="34" charset="-122"/>
                <a:cs typeface="Consolas" pitchFamily="34" charset="-120"/>
              </a:rPr>
              <a:t>list_assets, get_object_info, create_test_cases, set_attribute, execute_test_suite, execute_test_suite_status</a:t>
            </a:r>
            <a:endParaRPr lang="en-US" sz="1050" dirty="0"/>
          </a:p>
        </p:txBody>
      </p:sp>
      <p:sp>
        <p:nvSpPr>
          <p:cNvPr id="16" name="card_787"/>
          <p:cNvSpPr/>
          <p:nvPr/>
        </p:nvSpPr>
        <p:spPr>
          <a:xfrm>
            <a:off x="7269480" y="4709160"/>
            <a:ext cx="4370832" cy="1463040"/>
          </a:xfrm>
          <a:prstGeom prst="roundRect">
            <a:avLst>
              <a:gd name="adj" fmla="val 6250"/>
            </a:avLst>
          </a:prstGeom>
          <a:solidFill>
            <a:schemeClr val="bg2"/>
          </a:solidFill>
          <a:ln/>
        </p:spPr>
      </p:sp>
      <p:sp>
        <p:nvSpPr>
          <p:cNvPr id="17" name="text_788"/>
          <p:cNvSpPr txBox="1"/>
          <p:nvPr/>
        </p:nvSpPr>
        <p:spPr>
          <a:xfrm>
            <a:off x="7452360" y="4800600"/>
            <a:ext cx="4023360" cy="292608"/>
          </a:xfrm>
          <a:prstGeom prst="rect">
            <a:avLst/>
          </a:prstGeom>
          <a:noFill/>
          <a:ln/>
        </p:spPr>
        <p:txBody>
          <a:bodyPr wrap="square" lIns="0" tIns="0" rIns="0" bIns="0" rtlCol="0" anchor="ctr"/>
          <a:lstStyle/>
          <a:p>
            <a:pPr indent="0" marL="0">
              <a:buNone/>
            </a:pPr>
            <a:r>
              <a:rPr lang="en-US" sz="1200" b="1" dirty="0">
                <a:solidFill>
                  <a:schemeClr val="tx2"/>
                </a:solidFill>
              </a:rPr>
              <a:t>확인할 점</a:t>
            </a:r>
            <a:endParaRPr lang="en-US" sz="1200" dirty="0"/>
          </a:p>
        </p:txBody>
      </p:sp>
      <p:sp>
        <p:nvSpPr>
          <p:cNvPr id="18" name="text_789"/>
          <p:cNvSpPr txBox="1"/>
          <p:nvPr/>
        </p:nvSpPr>
        <p:spPr>
          <a:xfrm>
            <a:off x="7452360" y="5102352"/>
            <a:ext cx="4023360" cy="1005840"/>
          </a:xfrm>
          <a:prstGeom prst="rect">
            <a:avLst/>
          </a:prstGeom>
          <a:noFill/>
          <a:ln/>
        </p:spPr>
        <p:txBody>
          <a:bodyPr wrap="square" lIns="0" tIns="0" rIns="0" bIns="0" rtlCol="0" anchor="t"/>
          <a:lstStyle/>
          <a:p>
            <a:pPr indent="0" marL="0">
              <a:buNone/>
            </a:pPr>
            <a:r>
              <a:rPr lang="en-US" sz="1200" dirty="0">
                <a:solidFill>
                  <a:schemeClr val="tx1"/>
                </a:solidFill>
              </a:rPr>
              <a:t>모듈이 없는 스텝은 사람이 XScan으로 스캔해야 한다. 버퍼 값은 소비하는 쪽에서 {B[이름]}으로 참조된다.</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rPr>
              <a:t>템플릿 쓰는 순서</a:t>
            </a:r>
            <a:endParaRPr lang="en-US" sz="3200" dirty="0"/>
          </a:p>
        </p:txBody>
      </p:sp>
      <p:sp>
        <p:nvSpPr>
          <p:cNvPr id="4" name="card_790"/>
          <p:cNvSpPr/>
          <p:nvPr/>
        </p:nvSpPr>
        <p:spPr>
          <a:xfrm>
            <a:off x="548640" y="1600200"/>
            <a:ext cx="1719072" cy="2514600"/>
          </a:xfrm>
          <a:prstGeom prst="roundRect">
            <a:avLst>
              <a:gd name="adj" fmla="val 5319"/>
            </a:avLst>
          </a:prstGeom>
          <a:solidFill>
            <a:schemeClr val="bg2"/>
          </a:solidFill>
          <a:ln/>
        </p:spPr>
      </p:sp>
      <p:sp>
        <p:nvSpPr>
          <p:cNvPr id="5" name="badge_791"/>
          <p:cNvSpPr txBox="1"/>
          <p:nvPr/>
        </p:nvSpPr>
        <p:spPr>
          <a:xfrm>
            <a:off x="731520" y="180136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_792"/>
          <p:cNvSpPr txBox="1"/>
          <p:nvPr/>
        </p:nvSpPr>
        <p:spPr>
          <a:xfrm>
            <a:off x="731520" y="2468880"/>
            <a:ext cx="1399032" cy="685800"/>
          </a:xfrm>
          <a:prstGeom prst="rect">
            <a:avLst/>
          </a:prstGeom>
          <a:noFill/>
          <a:ln/>
        </p:spPr>
        <p:txBody>
          <a:bodyPr wrap="square" lIns="0" tIns="0" rIns="0" bIns="0" rtlCol="0" anchor="t"/>
          <a:lstStyle/>
          <a:p>
            <a:pPr indent="0" marL="0">
              <a:buNone/>
            </a:pPr>
            <a:r>
              <a:rPr lang="en-US" sz="1500" b="1" dirty="0">
                <a:solidFill>
                  <a:schemeClr val="tx1"/>
                </a:solidFill>
              </a:rPr>
              <a:t>T00 붙여 넣기</a:t>
            </a:r>
            <a:endParaRPr lang="en-US" sz="1500" dirty="0"/>
          </a:p>
        </p:txBody>
      </p:sp>
      <p:sp>
        <p:nvSpPr>
          <p:cNvPr id="7" name="text_793"/>
          <p:cNvSpPr txBox="1"/>
          <p:nvPr/>
        </p:nvSpPr>
        <p:spPr>
          <a:xfrm>
            <a:off x="731520" y="3154680"/>
            <a:ext cx="1399032" cy="868680"/>
          </a:xfrm>
          <a:prstGeom prst="rect">
            <a:avLst/>
          </a:prstGeom>
          <a:noFill/>
          <a:ln/>
        </p:spPr>
        <p:txBody>
          <a:bodyPr wrap="square" lIns="0" tIns="0" rIns="0" bIns="0" rtlCol="0" anchor="t"/>
          <a:lstStyle/>
          <a:p>
            <a:pPr indent="0" marL="0">
              <a:buNone/>
            </a:pPr>
            <a:r>
              <a:rPr lang="en-US" sz="1200" dirty="0">
                <a:solidFill>
                  <a:schemeClr val="accent6"/>
                </a:solidFill>
              </a:rPr>
              <a:t>대화 시작할 때 한 번</a:t>
            </a:r>
            <a:endParaRPr lang="en-US" sz="1200" dirty="0"/>
          </a:p>
        </p:txBody>
      </p:sp>
      <p:sp>
        <p:nvSpPr>
          <p:cNvPr id="8" name="card_794"/>
          <p:cNvSpPr/>
          <p:nvPr/>
        </p:nvSpPr>
        <p:spPr>
          <a:xfrm>
            <a:off x="2423160" y="1600200"/>
            <a:ext cx="1719072" cy="2514600"/>
          </a:xfrm>
          <a:prstGeom prst="roundRect">
            <a:avLst>
              <a:gd name="adj" fmla="val 5319"/>
            </a:avLst>
          </a:prstGeom>
          <a:solidFill>
            <a:schemeClr val="bg2"/>
          </a:solidFill>
          <a:ln/>
        </p:spPr>
      </p:sp>
      <p:sp>
        <p:nvSpPr>
          <p:cNvPr id="9" name="badge_795"/>
          <p:cNvSpPr txBox="1"/>
          <p:nvPr/>
        </p:nvSpPr>
        <p:spPr>
          <a:xfrm>
            <a:off x="2606040" y="180136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_796"/>
          <p:cNvSpPr txBox="1"/>
          <p:nvPr/>
        </p:nvSpPr>
        <p:spPr>
          <a:xfrm>
            <a:off x="2606040" y="2468880"/>
            <a:ext cx="1399032" cy="685800"/>
          </a:xfrm>
          <a:prstGeom prst="rect">
            <a:avLst/>
          </a:prstGeom>
          <a:noFill/>
          <a:ln/>
        </p:spPr>
        <p:txBody>
          <a:bodyPr wrap="square" lIns="0" tIns="0" rIns="0" bIns="0" rtlCol="0" anchor="t"/>
          <a:lstStyle/>
          <a:p>
            <a:pPr indent="0" marL="0">
              <a:buNone/>
            </a:pPr>
            <a:r>
              <a:rPr lang="en-US" sz="1500" b="1" dirty="0">
                <a:solidFill>
                  <a:schemeClr val="tx1"/>
                </a:solidFill>
              </a:rPr>
              <a:t>템플릿 고르기</a:t>
            </a:r>
            <a:endParaRPr lang="en-US" sz="1500" dirty="0"/>
          </a:p>
        </p:txBody>
      </p:sp>
      <p:sp>
        <p:nvSpPr>
          <p:cNvPr id="11" name="text_797"/>
          <p:cNvSpPr txBox="1"/>
          <p:nvPr/>
        </p:nvSpPr>
        <p:spPr>
          <a:xfrm>
            <a:off x="2606040" y="3154680"/>
            <a:ext cx="1399032" cy="868680"/>
          </a:xfrm>
          <a:prstGeom prst="rect">
            <a:avLst/>
          </a:prstGeom>
          <a:noFill/>
          <a:ln/>
        </p:spPr>
        <p:txBody>
          <a:bodyPr wrap="square" lIns="0" tIns="0" rIns="0" bIns="0" rtlCol="0" anchor="t"/>
          <a:lstStyle/>
          <a:p>
            <a:pPr indent="0" marL="0">
              <a:buNone/>
            </a:pPr>
            <a:r>
              <a:rPr lang="en-US" sz="1200" dirty="0">
                <a:solidFill>
                  <a:schemeClr val="accent6"/>
                </a:solidFill>
              </a:rPr>
              <a:t>워크북 5장 목록에서 하려는 일과 맞는 것</a:t>
            </a:r>
            <a:endParaRPr lang="en-US" sz="1200" dirty="0"/>
          </a:p>
        </p:txBody>
      </p:sp>
      <p:sp>
        <p:nvSpPr>
          <p:cNvPr id="12" name="card_798"/>
          <p:cNvSpPr/>
          <p:nvPr/>
        </p:nvSpPr>
        <p:spPr>
          <a:xfrm>
            <a:off x="4297680" y="1600200"/>
            <a:ext cx="1719072" cy="2514600"/>
          </a:xfrm>
          <a:prstGeom prst="roundRect">
            <a:avLst>
              <a:gd name="adj" fmla="val 5319"/>
            </a:avLst>
          </a:prstGeom>
          <a:solidFill>
            <a:schemeClr val="bg2"/>
          </a:solidFill>
          <a:ln/>
        </p:spPr>
      </p:sp>
      <p:sp>
        <p:nvSpPr>
          <p:cNvPr id="13" name="badge_799"/>
          <p:cNvSpPr txBox="1"/>
          <p:nvPr/>
        </p:nvSpPr>
        <p:spPr>
          <a:xfrm>
            <a:off x="4480560" y="180136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_800"/>
          <p:cNvSpPr txBox="1"/>
          <p:nvPr/>
        </p:nvSpPr>
        <p:spPr>
          <a:xfrm>
            <a:off x="4480560" y="2468880"/>
            <a:ext cx="1399032" cy="685800"/>
          </a:xfrm>
          <a:prstGeom prst="rect">
            <a:avLst/>
          </a:prstGeom>
          <a:noFill/>
          <a:ln/>
        </p:spPr>
        <p:txBody>
          <a:bodyPr wrap="square" lIns="0" tIns="0" rIns="0" bIns="0" rtlCol="0" anchor="t"/>
          <a:lstStyle/>
          <a:p>
            <a:pPr indent="0" marL="0">
              <a:buNone/>
            </a:pPr>
            <a:r>
              <a:rPr lang="en-US" sz="1500" b="1" dirty="0">
                <a:solidFill>
                  <a:schemeClr val="tx1"/>
                </a:solidFill>
              </a:rPr>
              <a:t>[ ] 채우기</a:t>
            </a:r>
            <a:endParaRPr lang="en-US" sz="1500" dirty="0"/>
          </a:p>
        </p:txBody>
      </p:sp>
      <p:sp>
        <p:nvSpPr>
          <p:cNvPr id="15" name="text_801"/>
          <p:cNvSpPr txBox="1"/>
          <p:nvPr/>
        </p:nvSpPr>
        <p:spPr>
          <a:xfrm>
            <a:off x="4480560" y="3154680"/>
            <a:ext cx="1399032" cy="868680"/>
          </a:xfrm>
          <a:prstGeom prst="rect">
            <a:avLst/>
          </a:prstGeom>
          <a:noFill/>
          <a:ln/>
        </p:spPr>
        <p:txBody>
          <a:bodyPr wrap="square" lIns="0" tIns="0" rIns="0" bIns="0" rtlCol="0" anchor="t"/>
          <a:lstStyle/>
          <a:p>
            <a:pPr indent="0" marL="0">
              <a:buNone/>
            </a:pPr>
            <a:r>
              <a:rPr lang="en-US" sz="1200" dirty="0">
                <a:solidFill>
                  <a:schemeClr val="accent6"/>
                </a:solidFill>
              </a:rPr>
              <a:t>경로와 이름은 Commander에 보이는 그대로</a:t>
            </a:r>
            <a:endParaRPr lang="en-US" sz="1200" dirty="0"/>
          </a:p>
        </p:txBody>
      </p:sp>
      <p:sp>
        <p:nvSpPr>
          <p:cNvPr id="16" name="card_802"/>
          <p:cNvSpPr/>
          <p:nvPr/>
        </p:nvSpPr>
        <p:spPr>
          <a:xfrm>
            <a:off x="6172200" y="1600200"/>
            <a:ext cx="1719072" cy="2514600"/>
          </a:xfrm>
          <a:prstGeom prst="roundRect">
            <a:avLst>
              <a:gd name="adj" fmla="val 5319"/>
            </a:avLst>
          </a:prstGeom>
          <a:solidFill>
            <a:schemeClr val="accent2">
              <a:alpha val="20000"/>
            </a:schemeClr>
          </a:solidFill>
          <a:ln/>
        </p:spPr>
      </p:sp>
      <p:sp>
        <p:nvSpPr>
          <p:cNvPr id="17" name="badge_803"/>
          <p:cNvSpPr txBox="1"/>
          <p:nvPr/>
        </p:nvSpPr>
        <p:spPr>
          <a:xfrm>
            <a:off x="6355080" y="1801368"/>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8" name="text_804"/>
          <p:cNvSpPr txBox="1"/>
          <p:nvPr/>
        </p:nvSpPr>
        <p:spPr>
          <a:xfrm>
            <a:off x="6355080" y="2468880"/>
            <a:ext cx="1399032" cy="685800"/>
          </a:xfrm>
          <a:prstGeom prst="rect">
            <a:avLst/>
          </a:prstGeom>
          <a:noFill/>
          <a:ln/>
        </p:spPr>
        <p:txBody>
          <a:bodyPr wrap="square" lIns="0" tIns="0" rIns="0" bIns="0" rtlCol="0" anchor="t"/>
          <a:lstStyle/>
          <a:p>
            <a:pPr indent="0" marL="0">
              <a:buNone/>
            </a:pPr>
            <a:r>
              <a:rPr lang="en-US" sz="1500" b="1" dirty="0">
                <a:solidFill>
                  <a:schemeClr val="tx1"/>
                </a:solidFill>
              </a:rPr>
              <a:t>계획 확인·승인</a:t>
            </a:r>
            <a:endParaRPr lang="en-US" sz="1500" dirty="0"/>
          </a:p>
        </p:txBody>
      </p:sp>
      <p:sp>
        <p:nvSpPr>
          <p:cNvPr id="19" name="text_805"/>
          <p:cNvSpPr txBox="1"/>
          <p:nvPr/>
        </p:nvSpPr>
        <p:spPr>
          <a:xfrm>
            <a:off x="6355080" y="3154680"/>
            <a:ext cx="1399032" cy="868680"/>
          </a:xfrm>
          <a:prstGeom prst="rect">
            <a:avLst/>
          </a:prstGeom>
          <a:noFill/>
          <a:ln/>
        </p:spPr>
        <p:txBody>
          <a:bodyPr wrap="square" lIns="0" tIns="0" rIns="0" bIns="0" rtlCol="0" anchor="t"/>
          <a:lstStyle/>
          <a:p>
            <a:pPr indent="0" marL="0">
              <a:buNone/>
            </a:pPr>
            <a:r>
              <a:rPr lang="en-US" sz="1200" dirty="0">
                <a:solidFill>
                  <a:schemeClr val="accent6"/>
                </a:solidFill>
              </a:rPr>
              <a:t>모듈, 값, 대상이 맞는지 보고 승인</a:t>
            </a:r>
            <a:endParaRPr lang="en-US" sz="1200" dirty="0"/>
          </a:p>
        </p:txBody>
      </p:sp>
      <p:sp>
        <p:nvSpPr>
          <p:cNvPr id="20" name="card_806"/>
          <p:cNvSpPr/>
          <p:nvPr/>
        </p:nvSpPr>
        <p:spPr>
          <a:xfrm>
            <a:off x="8046720" y="1600200"/>
            <a:ext cx="1719072" cy="2514600"/>
          </a:xfrm>
          <a:prstGeom prst="roundRect">
            <a:avLst>
              <a:gd name="adj" fmla="val 5319"/>
            </a:avLst>
          </a:prstGeom>
          <a:solidFill>
            <a:schemeClr val="bg2"/>
          </a:solidFill>
          <a:ln/>
        </p:spPr>
      </p:sp>
      <p:sp>
        <p:nvSpPr>
          <p:cNvPr id="21" name="badge_807"/>
          <p:cNvSpPr txBox="1"/>
          <p:nvPr/>
        </p:nvSpPr>
        <p:spPr>
          <a:xfrm>
            <a:off x="8229600" y="180136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_808"/>
          <p:cNvSpPr txBox="1"/>
          <p:nvPr/>
        </p:nvSpPr>
        <p:spPr>
          <a:xfrm>
            <a:off x="8229600" y="2468880"/>
            <a:ext cx="1399032" cy="685800"/>
          </a:xfrm>
          <a:prstGeom prst="rect">
            <a:avLst/>
          </a:prstGeom>
          <a:noFill/>
          <a:ln/>
        </p:spPr>
        <p:txBody>
          <a:bodyPr wrap="square" lIns="0" tIns="0" rIns="0" bIns="0" rtlCol="0" anchor="t"/>
          <a:lstStyle/>
          <a:p>
            <a:pPr indent="0" marL="0">
              <a:buNone/>
            </a:pPr>
            <a:r>
              <a:rPr lang="en-US" sz="1500" b="1" dirty="0">
                <a:solidFill>
                  <a:schemeClr val="tx1"/>
                </a:solidFill>
              </a:rPr>
              <a:t>결과 검토·저장</a:t>
            </a:r>
            <a:endParaRPr lang="en-US" sz="1500" dirty="0"/>
          </a:p>
        </p:txBody>
      </p:sp>
      <p:sp>
        <p:nvSpPr>
          <p:cNvPr id="23" name="text_809"/>
          <p:cNvSpPr txBox="1"/>
          <p:nvPr/>
        </p:nvSpPr>
        <p:spPr>
          <a:xfrm>
            <a:off x="8229600" y="3154680"/>
            <a:ext cx="1399032" cy="868680"/>
          </a:xfrm>
          <a:prstGeom prst="rect">
            <a:avLst/>
          </a:prstGeom>
          <a:noFill/>
          <a:ln/>
        </p:spPr>
        <p:txBody>
          <a:bodyPr wrap="square" lIns="0" tIns="0" rIns="0" bIns="0" rtlCol="0" anchor="t"/>
          <a:lstStyle/>
          <a:p>
            <a:pPr indent="0" marL="0">
              <a:buNone/>
            </a:pPr>
            <a:r>
              <a:rPr lang="en-US" sz="1200" dirty="0">
                <a:solidFill>
                  <a:schemeClr val="accent6"/>
                </a:solidFill>
              </a:rPr>
              <a:t>Commander에서 직접 열어 보고 저장</a:t>
            </a:r>
            <a:endParaRPr lang="en-US" sz="1200" dirty="0"/>
          </a:p>
        </p:txBody>
      </p:sp>
      <p:sp>
        <p:nvSpPr>
          <p:cNvPr id="24" name="card_810"/>
          <p:cNvSpPr/>
          <p:nvPr/>
        </p:nvSpPr>
        <p:spPr>
          <a:xfrm>
            <a:off x="9921240" y="1600200"/>
            <a:ext cx="1719072" cy="2514600"/>
          </a:xfrm>
          <a:prstGeom prst="roundRect">
            <a:avLst>
              <a:gd name="adj" fmla="val 5319"/>
            </a:avLst>
          </a:prstGeom>
          <a:solidFill>
            <a:schemeClr val="bg2"/>
          </a:solidFill>
          <a:ln/>
        </p:spPr>
      </p:sp>
      <p:sp>
        <p:nvSpPr>
          <p:cNvPr id="25" name="badge_811"/>
          <p:cNvSpPr txBox="1"/>
          <p:nvPr/>
        </p:nvSpPr>
        <p:spPr>
          <a:xfrm>
            <a:off x="10104120" y="180136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6" name="text_812"/>
          <p:cNvSpPr txBox="1"/>
          <p:nvPr/>
        </p:nvSpPr>
        <p:spPr>
          <a:xfrm>
            <a:off x="10104120" y="2468880"/>
            <a:ext cx="1399032" cy="685800"/>
          </a:xfrm>
          <a:prstGeom prst="rect">
            <a:avLst/>
          </a:prstGeom>
          <a:noFill/>
          <a:ln/>
        </p:spPr>
        <p:txBody>
          <a:bodyPr wrap="square" lIns="0" tIns="0" rIns="0" bIns="0" rtlCol="0" anchor="t"/>
          <a:lstStyle/>
          <a:p>
            <a:pPr indent="0" marL="0">
              <a:buNone/>
            </a:pPr>
            <a:r>
              <a:rPr lang="en-US" sz="1500" b="1" dirty="0">
                <a:solidFill>
                  <a:schemeClr val="tx1"/>
                </a:solidFill>
              </a:rPr>
              <a:t>팀 템플릿에 추가</a:t>
            </a:r>
            <a:endParaRPr lang="en-US" sz="1500" dirty="0"/>
          </a:p>
        </p:txBody>
      </p:sp>
      <p:sp>
        <p:nvSpPr>
          <p:cNvPr id="27" name="text_813"/>
          <p:cNvSpPr txBox="1"/>
          <p:nvPr/>
        </p:nvSpPr>
        <p:spPr>
          <a:xfrm>
            <a:off x="10104120" y="3154680"/>
            <a:ext cx="1399032" cy="868680"/>
          </a:xfrm>
          <a:prstGeom prst="rect">
            <a:avLst/>
          </a:prstGeom>
          <a:noFill/>
          <a:ln/>
        </p:spPr>
        <p:txBody>
          <a:bodyPr wrap="square" lIns="0" tIns="0" rIns="0" bIns="0" rtlCol="0" anchor="t"/>
          <a:lstStyle/>
          <a:p>
            <a:pPr indent="0" marL="0">
              <a:buNone/>
            </a:pPr>
            <a:r>
              <a:rPr lang="en-US" sz="1200" dirty="0">
                <a:solidFill>
                  <a:schemeClr val="accent6"/>
                </a:solidFill>
              </a:rPr>
              <a:t>잘 된 프롬프트는 공유해서 같이 고친다</a:t>
            </a:r>
            <a:endParaRPr lang="en-US" sz="1200" dirty="0"/>
          </a:p>
        </p:txBody>
      </p:sp>
      <p:sp>
        <p:nvSpPr>
          <p:cNvPr id="28" name="card_814"/>
          <p:cNvSpPr/>
          <p:nvPr/>
        </p:nvSpPr>
        <p:spPr>
          <a:xfrm>
            <a:off x="548640" y="4434840"/>
            <a:ext cx="11091672" cy="1508760"/>
          </a:xfrm>
          <a:prstGeom prst="roundRect">
            <a:avLst>
              <a:gd name="adj" fmla="val 6061"/>
            </a:avLst>
          </a:prstGeom>
          <a:solidFill>
            <a:schemeClr val="bg1"/>
          </a:solidFill>
          <a:ln w="19050">
            <a:solidFill>
              <a:schemeClr val="bg2"/>
            </a:solidFill>
            <a:prstDash val="solid"/>
          </a:ln>
        </p:spPr>
      </p:sp>
      <p:sp>
        <p:nvSpPr>
          <p:cNvPr id="29" name="iconbg_815"/>
          <p:cNvSpPr/>
          <p:nvPr/>
        </p:nvSpPr>
        <p:spPr>
          <a:xfrm>
            <a:off x="822960" y="4754880"/>
            <a:ext cx="731520" cy="731520"/>
          </a:xfrm>
          <a:prstGeom prst="ellipse">
            <a:avLst/>
          </a:prstGeom>
          <a:solidFill>
            <a:schemeClr val="accent1"/>
          </a:solidFill>
          <a:ln/>
        </p:spPr>
      </p:sp>
      <p:pic>
        <p:nvPicPr>
          <p:cNvPr id="30" name="icon_816" descr="preencoded.png">    </p:cNvPr>
          <p:cNvPicPr>
            <a:picLocks noChangeAspect="1"/>
          </p:cNvPicPr>
          <p:nvPr/>
        </p:nvPicPr>
        <p:blipFill>
          <a:blip r:embed="rId1"/>
          <a:stretch>
            <a:fillRect/>
          </a:stretch>
        </p:blipFill>
        <p:spPr>
          <a:xfrm>
            <a:off x="998525" y="4930445"/>
            <a:ext cx="380390" cy="380390"/>
          </a:xfrm>
          <a:prstGeom prst="rect">
            <a:avLst/>
          </a:prstGeom>
        </p:spPr>
      </p:pic>
      <p:sp>
        <p:nvSpPr>
          <p:cNvPr id="31" name="text_817"/>
          <p:cNvSpPr txBox="1"/>
          <p:nvPr/>
        </p:nvSpPr>
        <p:spPr>
          <a:xfrm>
            <a:off x="1783080" y="4572000"/>
            <a:ext cx="9646920" cy="1234440"/>
          </a:xfrm>
          <a:prstGeom prst="rect">
            <a:avLst/>
          </a:prstGeom>
          <a:noFill/>
          <a:ln/>
        </p:spPr>
        <p:txBody>
          <a:bodyPr wrap="square" lIns="0" tIns="0" rIns="0" bIns="0" rtlCol="0" anchor="ctr"/>
          <a:lstStyle/>
          <a:p>
            <a:pPr indent="0" marL="0">
              <a:buNone/>
            </a:pPr>
            <a:r>
              <a:rPr lang="en-US" sz="1400" b="1" dirty="0">
                <a:solidFill>
                  <a:schemeClr val="tx2"/>
                </a:solidFill>
              </a:rPr>
              <a:t>스킬팩과 템플릿의 역할 분담</a:t>
            </a:r>
            <a:endParaRPr lang="en-US" sz="1400" dirty="0"/>
          </a:p>
          <a:p>
            <a:pPr indent="0" marL="0">
              <a:buNone/>
            </a:pPr>
            <a:r>
              <a:rPr lang="en-US" sz="1400" dirty="0">
                <a:solidFill>
                  <a:schemeClr val="tx1"/>
                </a:solidFill>
              </a:rPr>
              <a:t>스킬팩을 설치하면 AI가 공식 워크플로 순서를 스스로 따른다. 템플릿은 그 워크플로에 필요한 정보(경로, 범위, 값, 확인 방식)를 빠짐없이 넘겨주는 역할이다.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ctr"/>
          <a:lstStyle/>
          <a:p>
            <a:pPr algn="l" indent="0" marL="0">
              <a:buNone/>
            </a:pPr>
            <a:r>
              <a:rPr lang="en-US" sz="3400" b="1" dirty="0">
                <a:solidFill>
                  <a:schemeClr val="bg1"/>
                </a:solidFill>
              </a:rPr>
              <a:t>오늘 정리</a:t>
            </a:r>
            <a:endParaRPr lang="en-US" sz="3400" dirty="0"/>
          </a:p>
        </p:txBody>
      </p:sp>
      <p:sp>
        <p:nvSpPr>
          <p:cNvPr id="3" name="badge_818"/>
          <p:cNvSpPr txBox="1"/>
          <p:nvPr/>
        </p:nvSpPr>
        <p:spPr>
          <a:xfrm>
            <a:off x="731520" y="164592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4" name="text_819"/>
          <p:cNvSpPr txBox="1"/>
          <p:nvPr/>
        </p:nvSpPr>
        <p:spPr>
          <a:xfrm>
            <a:off x="1508760" y="1600200"/>
            <a:ext cx="5852160" cy="438912"/>
          </a:xfrm>
          <a:prstGeom prst="rect">
            <a:avLst/>
          </a:prstGeom>
          <a:noFill/>
          <a:ln/>
        </p:spPr>
        <p:txBody>
          <a:bodyPr wrap="square" lIns="0" tIns="0" rIns="0" bIns="0" rtlCol="0" anchor="ctr"/>
          <a:lstStyle/>
          <a:p>
            <a:pPr indent="0" marL="0">
              <a:buNone/>
            </a:pPr>
            <a:r>
              <a:rPr lang="en-US" sz="1800" b="1" dirty="0">
                <a:solidFill>
                  <a:schemeClr val="bg1"/>
                </a:solidFill>
              </a:rPr>
              <a:t>MCP는 AI가 Commander를 다루게 해 주는 연결 규격</a:t>
            </a:r>
            <a:endParaRPr lang="en-US" sz="1800" dirty="0"/>
          </a:p>
        </p:txBody>
      </p:sp>
      <p:sp>
        <p:nvSpPr>
          <p:cNvPr id="5" name="text_820"/>
          <p:cNvSpPr txBox="1"/>
          <p:nvPr/>
        </p:nvSpPr>
        <p:spPr>
          <a:xfrm>
            <a:off x="1508760" y="2057400"/>
            <a:ext cx="5852160" cy="411480"/>
          </a:xfrm>
          <a:prstGeom prst="rect">
            <a:avLst/>
          </a:prstGeom>
          <a:noFill/>
          <a:ln/>
        </p:spPr>
        <p:txBody>
          <a:bodyPr wrap="square" lIns="0" tIns="0" rIns="0" bIns="0" rtlCol="0" anchor="t"/>
          <a:lstStyle/>
          <a:p>
            <a:pPr indent="0" marL="0">
              <a:buNone/>
            </a:pPr>
            <a:r>
              <a:rPr lang="en-US" sz="1300" dirty="0">
                <a:solidFill>
                  <a:schemeClr val="bg2"/>
                </a:solidFill>
              </a:rPr>
              <a:t>Commander 2026.1 Patch 1부터 애드인으로 들어 있다</a:t>
            </a:r>
            <a:endParaRPr lang="en-US" sz="1300" dirty="0"/>
          </a:p>
        </p:txBody>
      </p:sp>
      <p:sp>
        <p:nvSpPr>
          <p:cNvPr id="6" name="badge_821"/>
          <p:cNvSpPr txBox="1"/>
          <p:nvPr/>
        </p:nvSpPr>
        <p:spPr>
          <a:xfrm>
            <a:off x="731520" y="2724912"/>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7" name="text_822"/>
          <p:cNvSpPr txBox="1"/>
          <p:nvPr/>
        </p:nvSpPr>
        <p:spPr>
          <a:xfrm>
            <a:off x="1508760" y="2679192"/>
            <a:ext cx="5852160" cy="438912"/>
          </a:xfrm>
          <a:prstGeom prst="rect">
            <a:avLst/>
          </a:prstGeom>
          <a:noFill/>
          <a:ln/>
        </p:spPr>
        <p:txBody>
          <a:bodyPr wrap="square" lIns="0" tIns="0" rIns="0" bIns="0" rtlCol="0" anchor="ctr"/>
          <a:lstStyle/>
          <a:p>
            <a:pPr indent="0" marL="0">
              <a:buNone/>
            </a:pPr>
            <a:r>
              <a:rPr lang="en-US" sz="1800" b="1" dirty="0">
                <a:solidFill>
                  <a:schemeClr val="bg1"/>
                </a:solidFill>
              </a:rPr>
              <a:t>AI는 기존 모듈로 만들고, 사람은 계획과 결과를 본다</a:t>
            </a:r>
            <a:endParaRPr lang="en-US" sz="1800" dirty="0"/>
          </a:p>
        </p:txBody>
      </p:sp>
      <p:sp>
        <p:nvSpPr>
          <p:cNvPr id="8" name="text_823"/>
          <p:cNvSpPr txBox="1"/>
          <p:nvPr/>
        </p:nvSpPr>
        <p:spPr>
          <a:xfrm>
            <a:off x="1508760" y="3136392"/>
            <a:ext cx="5852160" cy="411480"/>
          </a:xfrm>
          <a:prstGeom prst="rect">
            <a:avLst/>
          </a:prstGeom>
          <a:noFill/>
          <a:ln/>
        </p:spPr>
        <p:txBody>
          <a:bodyPr wrap="square" lIns="0" tIns="0" rIns="0" bIns="0" rtlCol="0" anchor="t"/>
          <a:lstStyle/>
          <a:p>
            <a:pPr indent="0" marL="0">
              <a:buNone/>
            </a:pPr>
            <a:r>
              <a:rPr lang="en-US" sz="1300" dirty="0">
                <a:solidFill>
                  <a:schemeClr val="bg2"/>
                </a:solidFill>
              </a:rPr>
              <a:t>스캔, 비밀번호, 삭제, 결함 판단은 사람 몫</a:t>
            </a:r>
            <a:endParaRPr lang="en-US" sz="1300" dirty="0"/>
          </a:p>
        </p:txBody>
      </p:sp>
      <p:sp>
        <p:nvSpPr>
          <p:cNvPr id="9" name="badge_824"/>
          <p:cNvSpPr txBox="1"/>
          <p:nvPr/>
        </p:nvSpPr>
        <p:spPr>
          <a:xfrm>
            <a:off x="731520" y="3803904"/>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0" name="text_825"/>
          <p:cNvSpPr txBox="1"/>
          <p:nvPr/>
        </p:nvSpPr>
        <p:spPr>
          <a:xfrm>
            <a:off x="1508760" y="3758184"/>
            <a:ext cx="5852160" cy="438912"/>
          </a:xfrm>
          <a:prstGeom prst="rect">
            <a:avLst/>
          </a:prstGeom>
          <a:noFill/>
          <a:ln/>
        </p:spPr>
        <p:txBody>
          <a:bodyPr wrap="square" lIns="0" tIns="0" rIns="0" bIns="0" rtlCol="0" anchor="ctr"/>
          <a:lstStyle/>
          <a:p>
            <a:pPr indent="0" marL="0">
              <a:buNone/>
            </a:pPr>
            <a:r>
              <a:rPr lang="en-US" sz="1800" b="1" dirty="0">
                <a:solidFill>
                  <a:schemeClr val="bg1"/>
                </a:solidFill>
              </a:rPr>
              <a:t>템플릿으로 시작해서 우리 업무에 맞게 고친다</a:t>
            </a:r>
            <a:endParaRPr lang="en-US" sz="1800" dirty="0"/>
          </a:p>
        </p:txBody>
      </p:sp>
      <p:sp>
        <p:nvSpPr>
          <p:cNvPr id="11" name="text_826"/>
          <p:cNvSpPr txBox="1"/>
          <p:nvPr/>
        </p:nvSpPr>
        <p:spPr>
          <a:xfrm>
            <a:off x="1508760" y="4215384"/>
            <a:ext cx="5852160" cy="411480"/>
          </a:xfrm>
          <a:prstGeom prst="rect">
            <a:avLst/>
          </a:prstGeom>
          <a:noFill/>
          <a:ln/>
        </p:spPr>
        <p:txBody>
          <a:bodyPr wrap="square" lIns="0" tIns="0" rIns="0" bIns="0" rtlCol="0" anchor="t"/>
          <a:lstStyle/>
          <a:p>
            <a:pPr indent="0" marL="0">
              <a:buNone/>
            </a:pPr>
            <a:r>
              <a:rPr lang="en-US" sz="1300" dirty="0">
                <a:solidFill>
                  <a:schemeClr val="bg2"/>
                </a:solidFill>
              </a:rPr>
              <a:t>T00 머리말 + 공식 워크플로 18종 대응 템플릿</a:t>
            </a:r>
            <a:endParaRPr lang="en-US" sz="1300" dirty="0"/>
          </a:p>
        </p:txBody>
      </p:sp>
      <p:sp>
        <p:nvSpPr>
          <p:cNvPr id="12" name="next_827"/>
          <p:cNvSpPr/>
          <p:nvPr/>
        </p:nvSpPr>
        <p:spPr>
          <a:xfrm>
            <a:off x="7818120" y="1508760"/>
            <a:ext cx="3822192" cy="3246120"/>
          </a:xfrm>
          <a:prstGeom prst="roundRect">
            <a:avLst>
              <a:gd name="adj" fmla="val 2817"/>
            </a:avLst>
          </a:prstGeom>
          <a:solidFill>
            <a:schemeClr val="bg1">
              <a:alpha val="10000"/>
            </a:schemeClr>
          </a:solidFill>
          <a:ln/>
        </p:spPr>
      </p:sp>
      <p:sp>
        <p:nvSpPr>
          <p:cNvPr id="13" name="text_828"/>
          <p:cNvSpPr txBox="1"/>
          <p:nvPr/>
        </p:nvSpPr>
        <p:spPr>
          <a:xfrm>
            <a:off x="8092440" y="1691640"/>
            <a:ext cx="3291840" cy="411480"/>
          </a:xfrm>
          <a:prstGeom prst="rect">
            <a:avLst/>
          </a:prstGeom>
          <a:noFill/>
          <a:ln/>
        </p:spPr>
        <p:txBody>
          <a:bodyPr wrap="square" lIns="0" tIns="0" rIns="0" bIns="0" rtlCol="0" anchor="t"/>
          <a:lstStyle/>
          <a:p>
            <a:pPr indent="0" marL="0">
              <a:buNone/>
            </a:pPr>
            <a:r>
              <a:rPr lang="en-US" sz="1600" b="1" dirty="0">
                <a:solidFill>
                  <a:schemeClr val="accent2"/>
                </a:solidFill>
              </a:rPr>
              <a:t>다음 단계</a:t>
            </a:r>
            <a:endParaRPr lang="en-US" sz="1600" dirty="0"/>
          </a:p>
        </p:txBody>
      </p:sp>
      <p:sp>
        <p:nvSpPr>
          <p:cNvPr id="14" name="text_829"/>
          <p:cNvSpPr txBox="1"/>
          <p:nvPr/>
        </p:nvSpPr>
        <p:spPr>
          <a:xfrm>
            <a:off x="8092440" y="2194560"/>
            <a:ext cx="33375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사내 테스트 대상 앱의 모듈을 XScan으로 준비한다</a:t>
            </a:r>
            <a:endParaRPr lang="en-US" sz="1400" dirty="0"/>
          </a:p>
          <a:p>
            <a:pPr marL="342900" indent="-342900">
              <a:spcAft>
                <a:spcPts val="1000"/>
              </a:spcAft>
              <a:buSzPct val="100000"/>
              <a:buChar char="•"/>
            </a:pPr>
            <a:r>
              <a:rPr lang="en-US" sz="1400" dirty="0">
                <a:solidFill>
                  <a:schemeClr val="bg1"/>
                </a:solidFill>
              </a:rPr>
              <a:t>반복 업무 하나를 골라 템플릿을 적용해 본다</a:t>
            </a:r>
            <a:endParaRPr lang="en-US" sz="1400" dirty="0"/>
          </a:p>
          <a:p>
            <a:pPr marL="342900" indent="-342900">
              <a:spcAft>
                <a:spcPts val="1000"/>
              </a:spcAft>
              <a:buSzPct val="100000"/>
              <a:buChar char="•"/>
            </a:pPr>
            <a:r>
              <a:rPr lang="en-US" sz="1400" dirty="0">
                <a:solidFill>
                  <a:schemeClr val="bg1"/>
                </a:solidFill>
              </a:rPr>
              <a:t>잘 된 프롬프트를 팀 템플릿에 추가한다</a:t>
            </a:r>
            <a:endParaRPr lang="en-US" sz="1400" dirty="0"/>
          </a:p>
        </p:txBody>
      </p:sp>
      <p:sp>
        <p:nvSpPr>
          <p:cNvPr id="15" name="text_830"/>
          <p:cNvSpPr txBox="1"/>
          <p:nvPr/>
        </p:nvSpPr>
        <p:spPr>
          <a:xfrm>
            <a:off x="731520" y="5074920"/>
            <a:ext cx="3657600" cy="320040"/>
          </a:xfrm>
          <a:prstGeom prst="rect">
            <a:avLst/>
          </a:prstGeom>
          <a:noFill/>
          <a:ln/>
        </p:spPr>
        <p:txBody>
          <a:bodyPr wrap="square" lIns="0" tIns="0" rIns="0" bIns="0" rtlCol="0" anchor="t"/>
          <a:lstStyle/>
          <a:p>
            <a:pPr indent="0" marL="0">
              <a:buNone/>
            </a:pPr>
            <a:r>
              <a:rPr lang="en-US" sz="1200" b="1" dirty="0">
                <a:solidFill>
                  <a:schemeClr val="accent2"/>
                </a:solidFill>
              </a:rPr>
              <a:t>참고 자료</a:t>
            </a:r>
            <a:endParaRPr lang="en-US" sz="1200" dirty="0"/>
          </a:p>
        </p:txBody>
      </p:sp>
      <p:sp>
        <p:nvSpPr>
          <p:cNvPr id="16" name="text_831"/>
          <p:cNvSpPr txBox="1"/>
          <p:nvPr/>
        </p:nvSpPr>
        <p:spPr>
          <a:xfrm>
            <a:off x="731520" y="5394960"/>
            <a:ext cx="10881360" cy="1188720"/>
          </a:xfrm>
          <a:prstGeom prst="rect">
            <a:avLst/>
          </a:prstGeom>
          <a:noFill/>
          <a:ln/>
        </p:spPr>
        <p:txBody>
          <a:bodyPr wrap="square" lIns="0" tIns="0" rIns="0" bIns="0" rtlCol="0" anchor="t"/>
          <a:lstStyle/>
          <a:p>
            <a:pPr indent="0" marL="0">
              <a:buNone/>
            </a:pPr>
            <a:r>
              <a:rPr lang="en-US" sz="1050" dirty="0">
                <a:solidFill>
                  <a:schemeClr val="bg2"/>
                </a:solidFill>
              </a:rPr>
              <a:t>Tosca 2026.1 문서: Model Context Protocol integration  docs.tricentis.com/tosca-2026.1/en-us/content/mcp/overview.htm</a:t>
            </a:r>
            <a:endParaRPr lang="en-US" sz="1050" dirty="0"/>
          </a:p>
          <a:p>
            <a:pPr indent="0" marL="0">
              <a:buNone/>
            </a:pPr>
            <a:r>
              <a:rPr lang="en-US" sz="1050" dirty="0">
                <a:solidFill>
                  <a:schemeClr val="bg2"/>
                </a:solidFill>
              </a:rPr>
              <a:t>Tosca 2026.1 문서: Use Tosca MCP Server  docs.tricentis.com/tosca-2026.1/en-us/content/mcp/use_mcp_server.htm</a:t>
            </a:r>
            <a:endParaRPr lang="en-US" sz="1050" dirty="0"/>
          </a:p>
          <a:p>
            <a:pPr indent="0" marL="0">
              <a:buNone/>
            </a:pPr>
            <a:r>
              <a:rPr lang="en-US" sz="1050" dirty="0">
                <a:solidFill>
                  <a:schemeClr val="bg2"/>
                </a:solidFill>
              </a:rPr>
              <a:t>Tosca 2026.1 LTS 클라이언트 패치 노트  docs.tricentis.com/tosca-2026.1/en-us/content/resources/webhelp/patch_notes_testsuite.htm</a:t>
            </a:r>
            <a:endParaRPr lang="en-US" sz="1050" dirty="0"/>
          </a:p>
          <a:p>
            <a:pPr indent="0" marL="0">
              <a:buNone/>
            </a:pPr>
            <a:r>
              <a:rPr lang="en-US" sz="1050" dirty="0">
                <a:solidFill>
                  <a:schemeClr val="bg2"/>
                </a:solidFill>
              </a:rPr>
              <a:t>Tricentis mcp-skills (Commander MCP 스킬팩)  github.com/Tricentis/mcp-skills/tree/main/Tosca/Commander/MCP</a:t>
            </a:r>
            <a:endParaRPr lang="en-US" sz="1050" dirty="0"/>
          </a:p>
          <a:p>
            <a:pPr indent="0" marL="0">
              <a:buNone/>
            </a:pPr>
            <a:r>
              <a:rPr lang="en-US" sz="1050" dirty="0">
                <a:solidFill>
                  <a:schemeClr val="bg2"/>
                </a:solidFill>
              </a:rPr>
              <a:t>Model Context Protocol 소개  modelcontextprotocol.io</a:t>
            </a:r>
            <a:endParaRPr lang="en-US" sz="1050" dirty="0"/>
          </a:p>
        </p:txBody>
      </p:sp>
    </p:spTree>
  </p:cSld>
  <p:clrMapOvr>
    <a:masterClrMapping/>
  </p:clrMapOvr>
</p:sld>
</file>

<file path=ppt/theme/theme1.xml><?xml version="1.0" encoding="utf-8"?>
<a:theme xmlns:a="http://schemas.openxmlformats.org/drawingml/2006/main" name="Tosca MCP Training">
  <a:themeElements>
    <a:clrScheme name="Tosca MCP Training">
      <a:dk1>
        <a:srgbClr val="1E2B2F"/>
      </a:dk1>
      <a:lt1>
        <a:srgbClr val="FFFFFF"/>
      </a:lt1>
      <a:dk2>
        <a:srgbClr val="0F4C5C"/>
      </a:dk2>
      <a:lt2>
        <a:srgbClr val="EAF1F2"/>
      </a:lt2>
      <a:accent1>
        <a:srgbClr val="0F4C5C"/>
      </a:accent1>
      <a:accent2>
        <a:srgbClr val="E0A03A"/>
      </a:accent2>
      <a:accent3>
        <a:srgbClr val="5E9AA6"/>
      </a:accent3>
      <a:accent4>
        <a:srgbClr val="2B7D50"/>
      </a:accent4>
      <a:accent5>
        <a:srgbClr val="C4453C"/>
      </a:accent5>
      <a:accent6>
        <a:srgbClr val="56666B"/>
      </a:accent6>
      <a:hlink>
        <a:srgbClr val="0F4C5C"/>
      </a:hlink>
      <a:folHlink>
        <a:srgbClr val="5E9AA6"/>
      </a:folHlink>
    </a:clrScheme>
    <a:fontScheme name="Tosca MCP Training">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Tosca Commander MCP 입문</dc:title>
  <dc:subject>AI 어시스턴트로 테스트케이스 만들기</dc:subject>
  <dc:creator>QA 교육</dc:creator>
  <cp:lastModifiedBy>QA 교육</cp:lastModifiedBy>
  <cp:revision>1</cp:revision>
  <dcterms:created xsi:type="dcterms:W3CDTF">2026-10-26T06:18:38Z</dcterms:created>
  <dcterms:modified xsi:type="dcterms:W3CDTF">2026-10-26T06:18:38Z</dcterms:modified>
</cp:coreProperties>
</file>